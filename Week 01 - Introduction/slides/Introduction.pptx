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8" r:id="rId5"/>
    <p:sldId id="259" r:id="rId6"/>
    <p:sldId id="260" r:id="rId7"/>
    <p:sldId id="261" r:id="rId8"/>
    <p:sldId id="271" r:id="rId9"/>
    <p:sldId id="272" r:id="rId10"/>
    <p:sldId id="263"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 Sutton" userId="ff762cc7-8b85-4d5d-84fc-d80ed39daf4b" providerId="ADAL" clId="{216EF0E1-F6BB-412B-8C8C-2583ADE1C84A}"/>
    <pc:docChg chg="addSld delSld modSld">
      <pc:chgData name="Jack Sutton" userId="ff762cc7-8b85-4d5d-84fc-d80ed39daf4b" providerId="ADAL" clId="{216EF0E1-F6BB-412B-8C8C-2583ADE1C84A}" dt="2024-09-17T13:51:31.330" v="17" actId="20577"/>
      <pc:docMkLst>
        <pc:docMk/>
      </pc:docMkLst>
      <pc:sldChg chg="modSp mod">
        <pc:chgData name="Jack Sutton" userId="ff762cc7-8b85-4d5d-84fc-d80ed39daf4b" providerId="ADAL" clId="{216EF0E1-F6BB-412B-8C8C-2583ADE1C84A}" dt="2024-09-17T13:51:31.330" v="17" actId="20577"/>
        <pc:sldMkLst>
          <pc:docMk/>
          <pc:sldMk cId="311797600" sldId="259"/>
        </pc:sldMkLst>
      </pc:sldChg>
      <pc:sldChg chg="new del">
        <pc:chgData name="Jack Sutton" userId="ff762cc7-8b85-4d5d-84fc-d80ed39daf4b" providerId="ADAL" clId="{216EF0E1-F6BB-412B-8C8C-2583ADE1C84A}" dt="2024-09-17T13:50:44.738" v="1" actId="47"/>
        <pc:sldMkLst>
          <pc:docMk/>
          <pc:sldMk cId="2636729651" sldId="273"/>
        </pc:sldMkLst>
      </pc:sldChg>
    </pc:docChg>
  </pc:docChgLst>
  <pc:docChgLst>
    <pc:chgData name="Jack Sutton" userId="ff762cc7-8b85-4d5d-84fc-d80ed39daf4b" providerId="ADAL" clId="{41DC4BBC-C95D-4D94-A066-A7D77D8624D5}"/>
    <pc:docChg chg="modSld">
      <pc:chgData name="Jack Sutton" userId="ff762cc7-8b85-4d5d-84fc-d80ed39daf4b" providerId="ADAL" clId="{41DC4BBC-C95D-4D94-A066-A7D77D8624D5}" dt="2025-07-15T11:17:58.499" v="9" actId="20577"/>
      <pc:docMkLst>
        <pc:docMk/>
      </pc:docMkLst>
      <pc:sldChg chg="modSp mod">
        <pc:chgData name="Jack Sutton" userId="ff762cc7-8b85-4d5d-84fc-d80ed39daf4b" providerId="ADAL" clId="{41DC4BBC-C95D-4D94-A066-A7D77D8624D5}" dt="2025-07-15T11:17:58.499" v="9" actId="20577"/>
        <pc:sldMkLst>
          <pc:docMk/>
          <pc:sldMk cId="3657159811" sldId="257"/>
        </pc:sldMkLst>
        <pc:spChg chg="mod">
          <ac:chgData name="Jack Sutton" userId="ff762cc7-8b85-4d5d-84fc-d80ed39daf4b" providerId="ADAL" clId="{41DC4BBC-C95D-4D94-A066-A7D77D8624D5}" dt="2025-07-15T11:17:58.499" v="9" actId="20577"/>
          <ac:spMkLst>
            <pc:docMk/>
            <pc:sldMk cId="3657159811" sldId="257"/>
            <ac:spMk id="3" creationId="{A089AAFC-FE80-610A-04B9-55A02A30EF2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9BF81-6DA8-8E13-EDEB-0101EE75E7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B855A05-2149-35D1-CE0A-023A3E9992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BE80381-B36A-BCE9-E91F-97E3CD15AC10}"/>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6BCF3DF4-EDA7-294F-3E52-E84090A6F1B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A41FA77-E1B9-63ED-FC45-EE83D1034FCF}"/>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3372490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D390A-7832-1C83-D940-B8BB21A66BF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E88A1E0-AD05-77F3-6D96-AD3281F4B2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5C997DA-EA18-9C30-4A6A-9472ADA20F51}"/>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DBC80D61-790C-365B-5709-7B75C60BA0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C1C1A8A-1178-4B73-0FFE-10F3D7CF39C5}"/>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218400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C98D8-1469-B364-DA6F-542C4D6496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02DA1A1-335F-FDF1-E3D6-069271534C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DE7608-1DED-3889-0B79-9024A21F9825}"/>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793531CE-6B8F-AFB4-A688-9433D545CAB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47C96EE-57E0-FA6D-B42B-0AA05FD55413}"/>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1660738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6430-AECF-8404-DCB4-2CCB128229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26ABD1-B2D1-FCA0-0400-440069C9A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07FD56F-C1D7-C1DF-2945-DE3E542624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2592342-24B3-2B99-E69F-019AA87DB0C6}"/>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6" name="Footer Placeholder 5">
            <a:extLst>
              <a:ext uri="{FF2B5EF4-FFF2-40B4-BE49-F238E27FC236}">
                <a16:creationId xmlns:a16="http://schemas.microsoft.com/office/drawing/2014/main" id="{B4FB64A5-32A3-815D-AEAC-E510427AAB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A92705-AC11-3A40-FDFD-D6C102EE27ED}"/>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1194176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2FA24-FC0E-875F-4ED3-1E7A75E30F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166DBF1-FACB-0D62-386F-7CD0634CCE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79666A-AB49-6541-2151-2D9E3E38B2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6687766-3FB2-B593-A157-14FF03F77E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9D5E5F-D8E6-16F6-EDBB-FBDAABDD2A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B0D99DD-7316-570F-ECC2-E4F035720D04}"/>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8" name="Footer Placeholder 7">
            <a:extLst>
              <a:ext uri="{FF2B5EF4-FFF2-40B4-BE49-F238E27FC236}">
                <a16:creationId xmlns:a16="http://schemas.microsoft.com/office/drawing/2014/main" id="{200A6EC3-76A6-68D0-D032-26105A9E1B4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E137A21-A3DF-919D-11A4-2A2C8AF40E82}"/>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2306038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8EC8-A287-970E-722F-0860B608FED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3CB6098-847A-1B66-4905-013E5DC06493}"/>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4" name="Footer Placeholder 3">
            <a:extLst>
              <a:ext uri="{FF2B5EF4-FFF2-40B4-BE49-F238E27FC236}">
                <a16:creationId xmlns:a16="http://schemas.microsoft.com/office/drawing/2014/main" id="{4AB01370-0298-C2F9-CD40-C54B56A2B25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A2C95E6-8143-9988-61BA-2435BF6601C0}"/>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4139783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B78045-9D6B-BC92-BD48-B2CB3AB5A754}"/>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3" name="Footer Placeholder 2">
            <a:extLst>
              <a:ext uri="{FF2B5EF4-FFF2-40B4-BE49-F238E27FC236}">
                <a16:creationId xmlns:a16="http://schemas.microsoft.com/office/drawing/2014/main" id="{BDAE8DF2-B5A2-57C6-78DA-75D6E93A2CC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BBD65E4-34CB-5C9D-5333-693971922B37}"/>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3209635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8B28-D572-B2C1-4103-551FA0BD3F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1482705-EB14-0367-7DA3-C4A0A706E3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CA92D70-BC40-2EF7-6921-4B129E512D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32CE35-F9F4-FC27-E884-5D48566EB233}"/>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6" name="Footer Placeholder 5">
            <a:extLst>
              <a:ext uri="{FF2B5EF4-FFF2-40B4-BE49-F238E27FC236}">
                <a16:creationId xmlns:a16="http://schemas.microsoft.com/office/drawing/2014/main" id="{28B6CA95-8F45-4D62-DDEA-47B92ED00C2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FEAEBB-4D97-F108-5537-6D0C222063F4}"/>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2395380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4C799-C495-9D43-ED9B-6258703CE6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DD77FC4-0486-0BC8-C56A-D0BDCA97CA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40026DE-8412-4D6D-9247-F10BC14BE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AECBEE-E0C9-3A0C-D614-12459B35D06D}"/>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6" name="Footer Placeholder 5">
            <a:extLst>
              <a:ext uri="{FF2B5EF4-FFF2-40B4-BE49-F238E27FC236}">
                <a16:creationId xmlns:a16="http://schemas.microsoft.com/office/drawing/2014/main" id="{A621349A-A562-5401-2DC2-88305918B1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CE30A82-3276-43B7-D51F-BB58F05F9819}"/>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2633612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6140-5BEB-79FF-1B85-DCAA3141BE6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6CBF92A-17AC-145A-3E9F-8289473E3A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CB2918-E6A0-69AD-681D-1378E965E655}"/>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3FE75FF1-E2C5-726D-3052-FC0B74C770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9C39CE-5F4A-1D6B-7F6F-A0B0D533E59B}"/>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1710249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F131BB-3C55-EA08-5052-F28FA80521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DD977DC-54DB-9BE2-256F-5D262D57F7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A8EE116-DF75-9CF7-20A5-C8FECFCCB5D1}"/>
              </a:ext>
            </a:extLst>
          </p:cNvPr>
          <p:cNvSpPr>
            <a:spLocks noGrp="1"/>
          </p:cNvSpPr>
          <p:nvPr>
            <p:ph type="dt" sz="half" idx="10"/>
          </p:nvPr>
        </p:nvSpPr>
        <p:spPr/>
        <p:txBody>
          <a:body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282A42D3-E180-C199-5020-E1F88F25C2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772C03-1C45-6ED7-7477-93B7F9908972}"/>
              </a:ext>
            </a:extLst>
          </p:cNvPr>
          <p:cNvSpPr>
            <a:spLocks noGrp="1"/>
          </p:cNvSpPr>
          <p:nvPr>
            <p:ph type="sldNum" sz="quarter" idx="12"/>
          </p:nvPr>
        </p:nvSpPr>
        <p:spPr/>
        <p:txBody>
          <a:bodyPr/>
          <a:lstStyle/>
          <a:p>
            <a:fld id="{DB95EE71-6829-4670-9C74-9457FCF68991}" type="slidenum">
              <a:rPr lang="en-GB" smtClean="0"/>
              <a:t>‹#›</a:t>
            </a:fld>
            <a:endParaRPr lang="en-GB"/>
          </a:p>
        </p:txBody>
      </p:sp>
    </p:spTree>
    <p:extLst>
      <p:ext uri="{BB962C8B-B14F-4D97-AF65-F5344CB8AC3E}">
        <p14:creationId xmlns:p14="http://schemas.microsoft.com/office/powerpoint/2010/main" val="213849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9B571-4861-639A-D92C-11C45702DB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04A9F67-B5FF-F881-C951-DBB37D8480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89552B-394F-2FC1-A235-25371AFF6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544A50-E555-4513-A167-348ADC3A965A}" type="datetimeFigureOut">
              <a:rPr lang="en-GB" smtClean="0"/>
              <a:t>15/07/2025</a:t>
            </a:fld>
            <a:endParaRPr lang="en-GB"/>
          </a:p>
        </p:txBody>
      </p:sp>
      <p:sp>
        <p:nvSpPr>
          <p:cNvPr id="5" name="Footer Placeholder 4">
            <a:extLst>
              <a:ext uri="{FF2B5EF4-FFF2-40B4-BE49-F238E27FC236}">
                <a16:creationId xmlns:a16="http://schemas.microsoft.com/office/drawing/2014/main" id="{3DA604DD-DF85-A09E-A7E2-209403BC33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33F5067-46E4-FD20-AA6E-0C05E1FB3B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95EE71-6829-4670-9C74-9457FCF68991}" type="slidenum">
              <a:rPr lang="en-GB" smtClean="0"/>
              <a:t>‹#›</a:t>
            </a:fld>
            <a:endParaRPr lang="en-GB"/>
          </a:p>
        </p:txBody>
      </p:sp>
    </p:spTree>
    <p:extLst>
      <p:ext uri="{BB962C8B-B14F-4D97-AF65-F5344CB8AC3E}">
        <p14:creationId xmlns:p14="http://schemas.microsoft.com/office/powerpoint/2010/main" val="1432713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r-project.org/" TargetMode="External"/><Relationship Id="rId2" Type="http://schemas.openxmlformats.org/officeDocument/2006/relationships/hyperlink" Target="http://www.rstudio.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5DF4F-DB08-7124-C782-EF3C09C60938}"/>
              </a:ext>
            </a:extLst>
          </p:cNvPr>
          <p:cNvSpPr>
            <a:spLocks noGrp="1"/>
          </p:cNvSpPr>
          <p:nvPr>
            <p:ph type="ctrTitle"/>
          </p:nvPr>
        </p:nvSpPr>
        <p:spPr/>
        <p:txBody>
          <a:bodyPr>
            <a:normAutofit fontScale="90000"/>
          </a:bodyPr>
          <a:lstStyle/>
          <a:p>
            <a:r>
              <a:rPr lang="en-US" dirty="0">
                <a:latin typeface="Arial" panose="020B0604020202020204" pitchFamily="34" charset="0"/>
                <a:cs typeface="Arial" panose="020B0604020202020204" pitchFamily="34" charset="0"/>
              </a:rPr>
              <a:t>Introduction to Probability and Statistics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4CM521</a:t>
            </a:r>
            <a:endParaRPr lang="en-GB"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0E0B49C-E06B-03C3-EF49-346B6C8F25D9}"/>
              </a:ext>
            </a:extLst>
          </p:cNvPr>
          <p:cNvSpPr>
            <a:spLocks noGrp="1"/>
          </p:cNvSpPr>
          <p:nvPr>
            <p:ph type="subTitle" idx="1"/>
          </p:nvPr>
        </p:nvSpPr>
        <p:spPr>
          <a:xfrm>
            <a:off x="1524000" y="4010684"/>
            <a:ext cx="9144000" cy="1247115"/>
          </a:xfrm>
        </p:spPr>
        <p:txBody>
          <a:bodyPr>
            <a:normAutofit/>
          </a:bodyPr>
          <a:lstStyle/>
          <a:p>
            <a:r>
              <a:rPr lang="en-US" sz="5400" dirty="0">
                <a:latin typeface="Arial" panose="020B0604020202020204" pitchFamily="34" charset="0"/>
                <a:cs typeface="Arial" panose="020B0604020202020204" pitchFamily="34" charset="0"/>
              </a:rPr>
              <a:t>Introduction</a:t>
            </a:r>
            <a:endParaRPr lang="en-GB" sz="5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2127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BE4-B1CD-6496-F334-F261555700A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Contact Information</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089AAFC-FE80-610A-04B9-55A02A30EF28}"/>
              </a:ext>
            </a:extLst>
          </p:cNvPr>
          <p:cNvSpPr>
            <a:spLocks noGrp="1"/>
          </p:cNvSpPr>
          <p:nvPr>
            <p:ph idx="1"/>
          </p:nvPr>
        </p:nvSpPr>
        <p:spPr/>
        <p:txBody>
          <a:bodyPr/>
          <a:lstStyle/>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Lecturer: Dr Jack Sutton</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School of Computing and Mathematics</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Markeaton Street, Room MS104</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0"/>
              </a:spcBef>
              <a:spcAft>
                <a:spcPts val="800"/>
              </a:spcAft>
            </a:pPr>
            <a:r>
              <a:rPr lang="en-US" sz="1800" kern="100" dirty="0">
                <a:effectLst/>
                <a:latin typeface="Arial" panose="020B0604020202020204" pitchFamily="34" charset="0"/>
                <a:ea typeface="Calibri" panose="020F0502020204030204" pitchFamily="34" charset="0"/>
                <a:cs typeface="Arial" panose="020B0604020202020204" pitchFamily="34" charset="0"/>
              </a:rPr>
              <a:t>e-mail: j.sutton@derby.ac.uk</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buNone/>
            </a:pPr>
            <a:endParaRPr lang="en-GB" dirty="0"/>
          </a:p>
        </p:txBody>
      </p:sp>
    </p:spTree>
    <p:extLst>
      <p:ext uri="{BB962C8B-B14F-4D97-AF65-F5344CB8AC3E}">
        <p14:creationId xmlns:p14="http://schemas.microsoft.com/office/powerpoint/2010/main" val="3657159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6C01A-7707-228B-3BA8-99A46023E5C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Module Outline</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FAEE7B3-07AB-DDFE-EA53-EF43AA62265A}"/>
              </a:ext>
            </a:extLst>
          </p:cNvPr>
          <p:cNvSpPr>
            <a:spLocks noGrp="1"/>
          </p:cNvSpPr>
          <p:nvPr>
            <p:ph idx="1"/>
          </p:nvPr>
        </p:nvSpPr>
        <p:spPr/>
        <p:txBody>
          <a:bodyPr/>
          <a:lstStyle/>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This term will expose you to a range of common statistical methods.</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We are using </a:t>
            </a:r>
            <a:r>
              <a:rPr lang="en-US" sz="1800" b="1" i="0" u="none" strike="noStrike" baseline="0" dirty="0">
                <a:solidFill>
                  <a:srgbClr val="000000"/>
                </a:solidFill>
                <a:latin typeface="Arial" panose="020B0604020202020204" pitchFamily="34" charset="0"/>
              </a:rPr>
              <a:t>R </a:t>
            </a:r>
            <a:r>
              <a:rPr lang="en-US" sz="1800" b="0" i="0" u="none" strike="noStrike" baseline="0" dirty="0">
                <a:solidFill>
                  <a:srgbClr val="000000"/>
                </a:solidFill>
                <a:latin typeface="Arial" panose="020B0604020202020204" pitchFamily="34" charset="0"/>
              </a:rPr>
              <a:t>to perform analysis using a range of methods- understanding the underlying theory and being able to interpret </a:t>
            </a:r>
            <a:r>
              <a:rPr lang="en-US" sz="1800" b="1" i="0" u="none" strike="noStrike" baseline="0" dirty="0">
                <a:solidFill>
                  <a:srgbClr val="000000"/>
                </a:solidFill>
                <a:latin typeface="Arial" panose="020B0604020202020204" pitchFamily="34" charset="0"/>
              </a:rPr>
              <a:t>R </a:t>
            </a:r>
            <a:r>
              <a:rPr lang="en-US" sz="1800" b="0" i="0" u="none" strike="noStrike" baseline="0" dirty="0">
                <a:solidFill>
                  <a:srgbClr val="000000"/>
                </a:solidFill>
                <a:latin typeface="Arial" panose="020B0604020202020204" pitchFamily="34" charset="0"/>
              </a:rPr>
              <a:t>output are more important than being able to get a routine working.</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You are very strongly encouraged to take the time to see just how these functions work.</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There are worked solutions available for selected problems, but don’t just type in commands- make sure you understand (and experiment with) the logic of the various procedures. </a:t>
            </a:r>
            <a:endParaRPr lang="en-GB" dirty="0"/>
          </a:p>
        </p:txBody>
      </p:sp>
    </p:spTree>
    <p:extLst>
      <p:ext uri="{BB962C8B-B14F-4D97-AF65-F5344CB8AC3E}">
        <p14:creationId xmlns:p14="http://schemas.microsoft.com/office/powerpoint/2010/main" val="3599310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8EF4E-97DA-311C-78AB-A648425DD3DF}"/>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Topics</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466211-AE6A-D8AE-EA9C-53FF31F77EF3}"/>
              </a:ext>
            </a:extLst>
          </p:cNvPr>
          <p:cNvSpPr>
            <a:spLocks noGrp="1"/>
          </p:cNvSpPr>
          <p:nvPr>
            <p:ph idx="1"/>
          </p:nvPr>
        </p:nvSpPr>
        <p:spPr>
          <a:xfrm>
            <a:off x="838200" y="1825625"/>
            <a:ext cx="7733145" cy="4242666"/>
          </a:xfrm>
        </p:spPr>
        <p:txBody>
          <a:bodyPr>
            <a:normAutofit/>
          </a:bodyPr>
          <a:lstStyle/>
          <a:p>
            <a:pPr>
              <a:lnSpc>
                <a:spcPct val="100000"/>
              </a:lnSpc>
              <a:spcBef>
                <a:spcPts val="0"/>
              </a:spcBef>
              <a:spcAft>
                <a:spcPts val="800"/>
              </a:spcAft>
            </a:pPr>
            <a:r>
              <a:rPr lang="en-US" sz="1800" kern="100" dirty="0" err="1">
                <a:latin typeface="Arial" panose="020B0604020202020204" pitchFamily="34" charset="0"/>
                <a:cs typeface="Arial" panose="020B0604020202020204" pitchFamily="34" charset="0"/>
              </a:rPr>
              <a:t>Organising</a:t>
            </a:r>
            <a:r>
              <a:rPr lang="en-US" sz="1800" kern="100" dirty="0">
                <a:latin typeface="Arial" panose="020B0604020202020204" pitchFamily="34" charset="0"/>
                <a:cs typeface="Arial" panose="020B0604020202020204" pitchFamily="34" charset="0"/>
              </a:rPr>
              <a:t> and presenting data</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Descriptive statistics</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Sets and an introduction to probability</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Discrete and continuous random variables and their probability distributions</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Properties of random variables</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Discrete and continuous probability distributions</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Mean and variance of linear combinations of random variables</a:t>
            </a:r>
          </a:p>
          <a:p>
            <a:pPr>
              <a:lnSpc>
                <a:spcPct val="100000"/>
              </a:lnSpc>
              <a:spcBef>
                <a:spcPts val="0"/>
              </a:spcBef>
              <a:spcAft>
                <a:spcPts val="800"/>
              </a:spcAft>
            </a:pPr>
            <a:r>
              <a:rPr lang="en-US" sz="1800" kern="100" dirty="0">
                <a:latin typeface="Arial" panose="020B0604020202020204" pitchFamily="34" charset="0"/>
                <a:cs typeface="Arial" panose="020B0604020202020204" pitchFamily="34" charset="0"/>
              </a:rPr>
              <a:t>Moment generating functions (MGF)</a:t>
            </a:r>
            <a:endParaRPr lang="en-GB" sz="1800" b="0" i="0" u="none" strike="noStrike" baseline="0" dirty="0">
              <a:solidFill>
                <a:srgbClr val="000000"/>
              </a:solidFill>
              <a:latin typeface="Arial" panose="020B0604020202020204" pitchFamily="34" charset="0"/>
              <a:cs typeface="Arial" panose="020B0604020202020204" pitchFamily="34" charset="0"/>
            </a:endParaRPr>
          </a:p>
          <a:p>
            <a:pPr>
              <a:lnSpc>
                <a:spcPct val="100000"/>
              </a:lnSpc>
              <a:spcBef>
                <a:spcPts val="0"/>
              </a:spcBef>
              <a:spcAft>
                <a:spcPts val="800"/>
              </a:spcAft>
            </a:pPr>
            <a:r>
              <a:rPr lang="en-GB" sz="1800" b="0" i="0" u="none" strike="noStrike" baseline="0" dirty="0">
                <a:solidFill>
                  <a:srgbClr val="000000"/>
                </a:solidFill>
                <a:latin typeface="Arial" panose="020B0604020202020204" pitchFamily="34" charset="0"/>
                <a:cs typeface="Arial" panose="020B0604020202020204" pitchFamily="34" charset="0"/>
              </a:rPr>
              <a:t>Maximum Likelihood Estimation (MLE) </a:t>
            </a:r>
          </a:p>
          <a:p>
            <a:pPr>
              <a:lnSpc>
                <a:spcPct val="110000"/>
              </a:lnSpc>
            </a:pPr>
            <a:endParaRPr lang="en-US" sz="1800" kern="100" dirty="0">
              <a:latin typeface="Aptos" panose="020B0004020202020204" pitchFamily="34" charset="0"/>
            </a:endParaRPr>
          </a:p>
          <a:p>
            <a:pPr marL="0" indent="0">
              <a:buNone/>
            </a:pPr>
            <a:endParaRPr lang="en-GB" dirty="0"/>
          </a:p>
        </p:txBody>
      </p:sp>
      <p:sp>
        <p:nvSpPr>
          <p:cNvPr id="5" name="TextBox 4">
            <a:extLst>
              <a:ext uri="{FF2B5EF4-FFF2-40B4-BE49-F238E27FC236}">
                <a16:creationId xmlns:a16="http://schemas.microsoft.com/office/drawing/2014/main" id="{769ED126-40C3-40F3-D174-87C11CBA5EB4}"/>
              </a:ext>
            </a:extLst>
          </p:cNvPr>
          <p:cNvSpPr txBox="1"/>
          <p:nvPr/>
        </p:nvSpPr>
        <p:spPr>
          <a:xfrm>
            <a:off x="8571345" y="1027906"/>
            <a:ext cx="2111720" cy="4508927"/>
          </a:xfrm>
          <a:prstGeom prst="rect">
            <a:avLst/>
          </a:prstGeom>
          <a:noFill/>
        </p:spPr>
        <p:txBody>
          <a:bodyPr wrap="square">
            <a:spAutoFit/>
          </a:bodyPr>
          <a:lstStyle/>
          <a:p>
            <a:r>
              <a:rPr lang="en-GB" sz="28700" b="1" kern="0" dirty="0">
                <a:solidFill>
                  <a:srgbClr val="001AFF"/>
                </a:solidFill>
                <a:effectLst/>
                <a:latin typeface="Aptos" panose="020B0004020202020204" pitchFamily="34" charset="0"/>
                <a:ea typeface="Aptos" panose="020B0004020202020204" pitchFamily="34" charset="0"/>
                <a:cs typeface="CMSSBX10"/>
              </a:rPr>
              <a:t>R</a:t>
            </a:r>
            <a:endParaRPr lang="en-GB" sz="28700" b="1" dirty="0"/>
          </a:p>
        </p:txBody>
      </p:sp>
    </p:spTree>
    <p:extLst>
      <p:ext uri="{BB962C8B-B14F-4D97-AF65-F5344CB8AC3E}">
        <p14:creationId xmlns:p14="http://schemas.microsoft.com/office/powerpoint/2010/main" val="1408430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E0792-BC24-D960-49DF-CA96B3CEB325}"/>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Learning Outcomes</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C817AC2-AF73-2EA2-3CD1-56249EE2A454}"/>
              </a:ext>
            </a:extLst>
          </p:cNvPr>
          <p:cNvSpPr>
            <a:spLocks noGrp="1"/>
          </p:cNvSpPr>
          <p:nvPr>
            <p:ph idx="1"/>
          </p:nvPr>
        </p:nvSpPr>
        <p:spPr/>
        <p:txBody>
          <a:bodyPr/>
          <a:lstStyle/>
          <a:p>
            <a:pPr marL="342900" lvl="0" indent="-342900">
              <a:lnSpc>
                <a:spcPct val="100000"/>
              </a:lnSpc>
              <a:spcBef>
                <a:spcPts val="0"/>
              </a:spcBef>
              <a:spcAft>
                <a:spcPts val="800"/>
              </a:spcAft>
              <a:buFont typeface="Symbol" panose="05050102010706020507" pitchFamily="18" charset="2"/>
              <a:buChar char=""/>
            </a:pPr>
            <a:r>
              <a:rPr lang="en-US" sz="1800" b="0" i="0" u="none" strike="noStrike" baseline="0" dirty="0">
                <a:solidFill>
                  <a:srgbClr val="000000"/>
                </a:solidFill>
                <a:latin typeface="Arial" panose="020B0604020202020204" pitchFamily="34" charset="0"/>
              </a:rPr>
              <a:t>The key learning outcomes of this term are: </a:t>
            </a: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Apply probabilistic methods to solve real-world problems</a:t>
            </a: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Demonstrate knowledge and understanding of a range of fundamental concepts in probability theory and applications.</a:t>
            </a:r>
          </a:p>
        </p:txBody>
      </p:sp>
    </p:spTree>
    <p:extLst>
      <p:ext uri="{BB962C8B-B14F-4D97-AF65-F5344CB8AC3E}">
        <p14:creationId xmlns:p14="http://schemas.microsoft.com/office/powerpoint/2010/main" val="311797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45C77-D556-F389-00BD-7F716FE5496E}"/>
              </a:ext>
            </a:extLst>
          </p:cNvPr>
          <p:cNvSpPr>
            <a:spLocks noGrp="1"/>
          </p:cNvSpPr>
          <p:nvPr>
            <p:ph type="title"/>
          </p:nvPr>
        </p:nvSpPr>
        <p:spPr/>
        <p:txBody>
          <a:bodyPr/>
          <a:lstStyle/>
          <a:p>
            <a:r>
              <a:rPr lang="en-GB" dirty="0">
                <a:latin typeface="Aptos" panose="020B0004020202020204" pitchFamily="34" charset="0"/>
              </a:rPr>
              <a:t>Assessment Methods</a:t>
            </a:r>
          </a:p>
        </p:txBody>
      </p:sp>
      <p:sp>
        <p:nvSpPr>
          <p:cNvPr id="3" name="Content Placeholder 2">
            <a:extLst>
              <a:ext uri="{FF2B5EF4-FFF2-40B4-BE49-F238E27FC236}">
                <a16:creationId xmlns:a16="http://schemas.microsoft.com/office/drawing/2014/main" id="{D5ECBA70-99D2-8545-3B24-9C7BBAF29909}"/>
              </a:ext>
            </a:extLst>
          </p:cNvPr>
          <p:cNvSpPr>
            <a:spLocks noGrp="1"/>
          </p:cNvSpPr>
          <p:nvPr>
            <p:ph idx="1"/>
          </p:nvPr>
        </p:nvSpPr>
        <p:spPr/>
        <p:txBody>
          <a:bodyPr>
            <a:normAutofit/>
          </a:bodyPr>
          <a:lstStyle/>
          <a:p>
            <a:pPr>
              <a:lnSpc>
                <a:spcPct val="100000"/>
              </a:lnSpc>
              <a:spcBef>
                <a:spcPts val="0"/>
              </a:spcBef>
              <a:spcAft>
                <a:spcPts val="800"/>
              </a:spcAft>
            </a:pPr>
            <a:r>
              <a:rPr lang="en-US" sz="2000" kern="100" dirty="0">
                <a:effectLst/>
                <a:latin typeface="Aptos" panose="020B0004020202020204" pitchFamily="34" charset="0"/>
                <a:ea typeface="Calibri" panose="020F0502020204030204" pitchFamily="34" charset="0"/>
                <a:cs typeface="Times New Roman" panose="02020603050405020304" pitchFamily="18" charset="0"/>
              </a:rPr>
              <a:t>There will be two summative components which each carry 50% of the overall mark:</a:t>
            </a:r>
            <a:endParaRPr lang="en-GB" sz="2000" kern="100" dirty="0">
              <a:effectLst/>
              <a:latin typeface="Aptos" panose="020B0004020202020204" pitchFamily="34" charset="0"/>
              <a:ea typeface="Calibri" panose="020F0502020204030204" pitchFamily="34" charset="0"/>
              <a:cs typeface="Times New Roman" panose="02020603050405020304" pitchFamily="18" charset="0"/>
            </a:endParaRPr>
          </a:p>
          <a:p>
            <a:pPr lvl="1">
              <a:lnSpc>
                <a:spcPct val="100000"/>
              </a:lnSpc>
              <a:spcBef>
                <a:spcPts val="0"/>
              </a:spcBef>
              <a:spcAft>
                <a:spcPts val="800"/>
              </a:spcAft>
              <a:buFont typeface="Courier New" panose="02070309020205020404" pitchFamily="49" charset="0"/>
              <a:buChar char="o"/>
            </a:pPr>
            <a:r>
              <a:rPr lang="en-US" sz="2000" kern="100" dirty="0">
                <a:effectLst/>
                <a:latin typeface="Aptos" panose="020B0004020202020204" pitchFamily="34" charset="0"/>
                <a:ea typeface="Calibri" panose="020F0502020204030204" pitchFamily="34" charset="0"/>
                <a:cs typeface="Times New Roman" panose="02020603050405020304" pitchFamily="18" charset="0"/>
              </a:rPr>
              <a:t>Coursework</a:t>
            </a:r>
            <a:endParaRPr lang="en-GB" sz="2000" kern="100" dirty="0">
              <a:effectLst/>
              <a:latin typeface="Aptos" panose="020B0004020202020204" pitchFamily="34" charset="0"/>
              <a:ea typeface="Calibri" panose="020F0502020204030204" pitchFamily="34" charset="0"/>
              <a:cs typeface="Times New Roman" panose="02020603050405020304" pitchFamily="18" charset="0"/>
            </a:endParaRPr>
          </a:p>
          <a:p>
            <a:pPr lvl="1">
              <a:lnSpc>
                <a:spcPct val="100000"/>
              </a:lnSpc>
              <a:spcBef>
                <a:spcPts val="0"/>
              </a:spcBef>
              <a:spcAft>
                <a:spcPts val="800"/>
              </a:spcAft>
              <a:buFont typeface="Courier New" panose="02070309020205020404" pitchFamily="49" charset="0"/>
              <a:buChar char="o"/>
            </a:pPr>
            <a:r>
              <a:rPr lang="en-US" sz="2000" kern="100" dirty="0">
                <a:effectLst/>
                <a:latin typeface="Aptos" panose="020B0004020202020204" pitchFamily="34" charset="0"/>
                <a:ea typeface="Calibri" panose="020F0502020204030204" pitchFamily="34" charset="0"/>
                <a:cs typeface="Times New Roman" panose="02020603050405020304" pitchFamily="18" charset="0"/>
              </a:rPr>
              <a:t>Examination</a:t>
            </a:r>
            <a:endParaRPr lang="en-GB" sz="1800" b="0" i="0" u="none" strike="noStrike" baseline="0" dirty="0">
              <a:solidFill>
                <a:srgbClr val="000000"/>
              </a:solidFill>
              <a:latin typeface="Arial" panose="020B0604020202020204" pitchFamily="34" charset="0"/>
            </a:endParaRP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Your progress will be monitored throughout the term and formative feedback will be provided.</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Informal feedback will be given to you during the seminars, with references to worksheets, as a group and on an individual basis.</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Comments will be given on the coursework and exam which will be handed back to you.</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Please refer to the Introduction to Probability and Statistics Assessment Briefs for more detailed information about what is expected in each assessment.</a:t>
            </a:r>
          </a:p>
          <a:p>
            <a:pPr marL="0" indent="0">
              <a:lnSpc>
                <a:spcPct val="100000"/>
              </a:lnSpc>
              <a:spcBef>
                <a:spcPts val="0"/>
              </a:spcBef>
              <a:spcAft>
                <a:spcPts val="800"/>
              </a:spcAft>
              <a:buNone/>
            </a:pPr>
            <a:endParaRPr lang="en-US" sz="1800" b="0" i="0" u="none" strike="noStrike" baseline="0" dirty="0">
              <a:solidFill>
                <a:srgbClr val="000000"/>
              </a:solidFill>
              <a:latin typeface="Arial" panose="020B0604020202020204" pitchFamily="34" charset="0"/>
            </a:endParaRPr>
          </a:p>
          <a:p>
            <a:pPr marL="0" lvl="0" indent="0">
              <a:lnSpc>
                <a:spcPct val="100000"/>
              </a:lnSpc>
              <a:spcBef>
                <a:spcPts val="0"/>
              </a:spcBef>
              <a:spcAft>
                <a:spcPts val="800"/>
              </a:spcAft>
              <a:buNone/>
            </a:pPr>
            <a:endParaRPr lang="en-GB" sz="2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0000"/>
              </a:lnSpc>
              <a:spcBef>
                <a:spcPts val="0"/>
              </a:spcBef>
              <a:spcAft>
                <a:spcPts val="800"/>
              </a:spcAft>
              <a:buFont typeface="Courier New" panose="02070309020205020404" pitchFamily="49" charset="0"/>
              <a:buChar char="o"/>
            </a:pPr>
            <a:endParaRPr lang="en-GB" sz="2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6508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7501-56BF-7B42-1D4D-00DDED5D3E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Teaching and Learning</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CBFD1FB-42B5-3034-F777-D526D358EB7C}"/>
              </a:ext>
            </a:extLst>
          </p:cNvPr>
          <p:cNvSpPr>
            <a:spLocks noGrp="1"/>
          </p:cNvSpPr>
          <p:nvPr>
            <p:ph idx="1"/>
          </p:nvPr>
        </p:nvSpPr>
        <p:spPr/>
        <p:txBody>
          <a:bodyPr>
            <a:normAutofit/>
          </a:bodyPr>
          <a:lstStyle/>
          <a:p>
            <a:pPr marL="0" indent="0">
              <a:lnSpc>
                <a:spcPct val="100000"/>
              </a:lnSpc>
              <a:spcBef>
                <a:spcPts val="0"/>
              </a:spcBef>
              <a:spcAft>
                <a:spcPts val="800"/>
              </a:spcAft>
              <a:buNone/>
            </a:pPr>
            <a:r>
              <a:rPr lang="en-US" sz="1800" b="1" dirty="0">
                <a:effectLst/>
                <a:latin typeface="Arial" panose="020B0604020202020204" pitchFamily="34" charset="0"/>
                <a:ea typeface="Calibri" panose="020F0502020204030204" pitchFamily="34" charset="0"/>
                <a:cs typeface="Arial" panose="020B0604020202020204" pitchFamily="34" charset="0"/>
              </a:rPr>
              <a:t>Teaching Style</a:t>
            </a:r>
          </a:p>
          <a:p>
            <a:pPr marL="0" indent="0">
              <a:lnSpc>
                <a:spcPct val="100000"/>
              </a:lnSpc>
              <a:spcBef>
                <a:spcPts val="0"/>
              </a:spcBef>
              <a:spcAft>
                <a:spcPts val="800"/>
              </a:spcAft>
              <a:buNone/>
            </a:pPr>
            <a:r>
              <a:rPr lang="en-US" sz="1800" b="0" i="0" u="none" strike="noStrike" baseline="0" dirty="0">
                <a:solidFill>
                  <a:srgbClr val="000000"/>
                </a:solidFill>
                <a:latin typeface="Arial" panose="020B0604020202020204" pitchFamily="34" charset="0"/>
                <a:cs typeface="Arial" panose="020B0604020202020204" pitchFamily="34" charset="0"/>
              </a:rPr>
              <a:t>The lectures are designed to introduce new material.</a:t>
            </a:r>
          </a:p>
          <a:p>
            <a:pPr marL="0" indent="0">
              <a:lnSpc>
                <a:spcPct val="100000"/>
              </a:lnSpc>
              <a:spcBef>
                <a:spcPts val="0"/>
              </a:spcBef>
              <a:spcAft>
                <a:spcPts val="800"/>
              </a:spcAft>
              <a:buNone/>
            </a:pPr>
            <a:r>
              <a:rPr lang="en-US" sz="1800" b="0" i="0" u="none" strike="noStrike" baseline="0" dirty="0">
                <a:solidFill>
                  <a:srgbClr val="000000"/>
                </a:solidFill>
                <a:latin typeface="Arial" panose="020B0604020202020204" pitchFamily="34" charset="0"/>
                <a:cs typeface="Arial" panose="020B0604020202020204" pitchFamily="34" charset="0"/>
              </a:rPr>
              <a:t>The tutorials will be computer guided (although myself and possibly another lecturer will be in attendance) to make sure you are clear what you need to take from the sessions. </a:t>
            </a:r>
            <a:endParaRPr lang="en-GB" sz="1800" dirty="0">
              <a:latin typeface="Arial" panose="020B0604020202020204" pitchFamily="34" charset="0"/>
              <a:cs typeface="Arial" panose="020B0604020202020204" pitchFamily="34" charset="0"/>
            </a:endParaRPr>
          </a:p>
          <a:p>
            <a:pPr marL="0" indent="0">
              <a:lnSpc>
                <a:spcPct val="100000"/>
              </a:lnSpc>
              <a:spcBef>
                <a:spcPts val="0"/>
              </a:spcBef>
              <a:spcAft>
                <a:spcPts val="800"/>
              </a:spcAft>
              <a:buNone/>
            </a:pPr>
            <a:r>
              <a:rPr lang="en-GB" sz="1800" b="1" dirty="0">
                <a:latin typeface="Arial" panose="020B0604020202020204" pitchFamily="34" charset="0"/>
                <a:cs typeface="Arial" panose="020B0604020202020204" pitchFamily="34" charset="0"/>
              </a:rPr>
              <a:t>Self Study</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cs typeface="Arial" panose="020B0604020202020204" pitchFamily="34" charset="0"/>
              </a:rPr>
              <a:t>The advice given is that for every hour that you spend in classes, you should spend at least another hour working on this module in your own time.</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cs typeface="Arial" panose="020B0604020202020204" pitchFamily="34" charset="0"/>
              </a:rPr>
              <a:t>You will also need to spend a substantial amount of time working on coursework. </a:t>
            </a:r>
          </a:p>
          <a:p>
            <a:pPr>
              <a:lnSpc>
                <a:spcPct val="100000"/>
              </a:lnSpc>
              <a:spcBef>
                <a:spcPts val="0"/>
              </a:spcBef>
              <a:spcAft>
                <a:spcPts val="800"/>
              </a:spcAft>
            </a:pPr>
            <a:endParaRPr lang="en-US" sz="1800" b="0" i="0" u="none" strike="noStrike" baseline="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223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77501-56BF-7B42-1D4D-00DDED5D3E6A}"/>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Teaching and Learning</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CBFD1FB-42B5-3034-F777-D526D358EB7C}"/>
              </a:ext>
            </a:extLst>
          </p:cNvPr>
          <p:cNvSpPr>
            <a:spLocks noGrp="1"/>
          </p:cNvSpPr>
          <p:nvPr>
            <p:ph idx="1"/>
          </p:nvPr>
        </p:nvSpPr>
        <p:spPr/>
        <p:txBody>
          <a:bodyPr>
            <a:normAutofit/>
          </a:bodyPr>
          <a:lstStyle/>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Make sure you have a full set of notes and can answer the problems in the notes. Should you have to miss a class it is important that you catch up on what you miss from a friend. </a:t>
            </a:r>
            <a:endParaRPr lang="en-GB" sz="1800" b="0" i="0" u="none" strike="noStrike" baseline="0" dirty="0">
              <a:solidFill>
                <a:srgbClr val="000000"/>
              </a:solidFill>
              <a:latin typeface="Arial" panose="020B0604020202020204" pitchFamily="34" charset="0"/>
            </a:endParaRP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Read through the notes and make sure you understand them.</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Highlight anything which does not make sense to you and discuss it with a friend. </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You are also welcome to ask me about any part of the notes which you don't understand.</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Either catch me at the end of a lecture or during a tutorial class.</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You are also welcome to e-mail me or to come to find me in my office </a:t>
            </a:r>
          </a:p>
          <a:p>
            <a:pPr marL="457200" lvl="1" indent="0">
              <a:lnSpc>
                <a:spcPct val="100000"/>
              </a:lnSpc>
              <a:spcBef>
                <a:spcPts val="0"/>
              </a:spcBef>
              <a:spcAft>
                <a:spcPts val="800"/>
              </a:spcAft>
              <a:buNone/>
            </a:pPr>
            <a:endParaRPr lang="en-GB" sz="1900" b="0" i="0" u="none" strike="noStrik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2529315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C5B8-4D19-4FA2-A5BC-47AE99534FE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Teaching and Learning</a:t>
            </a:r>
            <a:endParaRPr lang="en-GB" dirty="0"/>
          </a:p>
        </p:txBody>
      </p:sp>
      <p:sp>
        <p:nvSpPr>
          <p:cNvPr id="3" name="Content Placeholder 2">
            <a:extLst>
              <a:ext uri="{FF2B5EF4-FFF2-40B4-BE49-F238E27FC236}">
                <a16:creationId xmlns:a16="http://schemas.microsoft.com/office/drawing/2014/main" id="{31B150CB-E664-AAC3-D20E-3B4CDF4FE174}"/>
              </a:ext>
            </a:extLst>
          </p:cNvPr>
          <p:cNvSpPr>
            <a:spLocks noGrp="1"/>
          </p:cNvSpPr>
          <p:nvPr>
            <p:ph idx="1"/>
          </p:nvPr>
        </p:nvSpPr>
        <p:spPr>
          <a:xfrm>
            <a:off x="838200" y="1557196"/>
            <a:ext cx="10515600" cy="4619767"/>
          </a:xfrm>
        </p:spPr>
        <p:txBody>
          <a:bodyPr>
            <a:noAutofit/>
          </a:bodyPr>
          <a:lstStyle/>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Do some supplementary reading.</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Have a look at corresponding chapters in the recommended books or have a glance through other books in the library. </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The methods and techniques taught on this module are such important topics that there are many great web-resources</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It is good to see how different people approach the same problem in different ways </a:t>
            </a:r>
            <a:endParaRPr lang="en-GB" sz="1800" b="0" i="0" u="none" strike="noStrike" baseline="0" dirty="0">
              <a:solidFill>
                <a:srgbClr val="000000"/>
              </a:solidFill>
              <a:latin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Also, you might find more interesting applications - let me know!</a:t>
            </a:r>
          </a:p>
          <a:p>
            <a:pPr>
              <a:lnSpc>
                <a:spcPct val="100000"/>
              </a:lnSpc>
              <a:spcBef>
                <a:spcPts val="0"/>
              </a:spcBef>
              <a:spcAft>
                <a:spcPts val="800"/>
              </a:spcAft>
            </a:pPr>
            <a:r>
              <a:rPr lang="en-US" sz="1800" b="0" i="0" u="none" strike="noStrike" baseline="0" dirty="0">
                <a:solidFill>
                  <a:srgbClr val="000000"/>
                </a:solidFill>
                <a:latin typeface="Arial" panose="020B0604020202020204" pitchFamily="34" charset="0"/>
              </a:rPr>
              <a:t>Do finish off any problems in the notes which you don't get time to complete in class.</a:t>
            </a: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After the first few weeks, these tutorials are designed to help consolidate your understanding of the material we cover in the lectures, so it is essential that you work through these exercises. </a:t>
            </a:r>
          </a:p>
          <a:p>
            <a:pPr lvl="1">
              <a:lnSpc>
                <a:spcPct val="100000"/>
              </a:lnSpc>
              <a:spcBef>
                <a:spcPts val="0"/>
              </a:spcBef>
              <a:spcAft>
                <a:spcPts val="800"/>
              </a:spcAft>
              <a:buFont typeface="Courier New" panose="02070309020205020404" pitchFamily="49" charset="0"/>
              <a:buChar char="o"/>
            </a:pPr>
            <a:r>
              <a:rPr lang="en-US" sz="1800" b="0" i="0" u="none" strike="noStrike" baseline="0" dirty="0">
                <a:solidFill>
                  <a:srgbClr val="000000"/>
                </a:solidFill>
                <a:latin typeface="Arial" panose="020B0604020202020204" pitchFamily="34" charset="0"/>
              </a:rPr>
              <a:t>By adopting a systematic approach, you will save yourself a great deal of time when you come to revise for the exam. </a:t>
            </a:r>
          </a:p>
          <a:p>
            <a:pPr>
              <a:lnSpc>
                <a:spcPct val="100000"/>
              </a:lnSpc>
            </a:pPr>
            <a:endParaRPr lang="en-GB" sz="1800" dirty="0"/>
          </a:p>
        </p:txBody>
      </p:sp>
    </p:spTree>
    <p:extLst>
      <p:ext uri="{BB962C8B-B14F-4D97-AF65-F5344CB8AC3E}">
        <p14:creationId xmlns:p14="http://schemas.microsoft.com/office/powerpoint/2010/main" val="1421073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3300-3110-D883-5A6F-0E6ECABECBB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Useful textbooks</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15948F0-9B9A-CE86-5D19-5C8FD3E9426D}"/>
              </a:ext>
            </a:extLst>
          </p:cNvPr>
          <p:cNvSpPr>
            <a:spLocks noGrp="1"/>
          </p:cNvSpPr>
          <p:nvPr>
            <p:ph idx="1"/>
          </p:nvPr>
        </p:nvSpPr>
        <p:spPr/>
        <p:txBody>
          <a:bodyPr/>
          <a:lstStyle/>
          <a:p>
            <a:pPr marL="342900" lvl="0" indent="-342900">
              <a:lnSpc>
                <a:spcPct val="100000"/>
              </a:lnSpc>
              <a:spcBef>
                <a:spcPts val="0"/>
              </a:spcBef>
              <a:spcAft>
                <a:spcPts val="800"/>
              </a:spcAft>
              <a:buFont typeface="Symbol" panose="05050102010706020507" pitchFamily="18" charset="2"/>
              <a:buChar char=""/>
            </a:pPr>
            <a:r>
              <a:rPr lang="en-US" sz="1800" kern="100" dirty="0">
                <a:effectLst/>
                <a:latin typeface="Arial" panose="020B0604020202020204" pitchFamily="34" charset="0"/>
                <a:ea typeface="Calibri" panose="020F0502020204030204" pitchFamily="34" charset="0"/>
                <a:cs typeface="Arial" panose="020B0604020202020204" pitchFamily="34" charset="0"/>
              </a:rPr>
              <a:t>Rees, D. G. (2001). </a:t>
            </a:r>
            <a:r>
              <a:rPr lang="en-US" sz="1800" b="1" kern="100" dirty="0">
                <a:effectLst/>
                <a:latin typeface="Arial" panose="020B0604020202020204" pitchFamily="34" charset="0"/>
                <a:ea typeface="Calibri" panose="020F0502020204030204" pitchFamily="34" charset="0"/>
                <a:cs typeface="Arial" panose="020B0604020202020204" pitchFamily="34" charset="0"/>
              </a:rPr>
              <a:t>Essential Statistics</a:t>
            </a:r>
            <a:r>
              <a:rPr lang="en-US" sz="1800" kern="100" dirty="0">
                <a:effectLst/>
                <a:latin typeface="Arial" panose="020B0604020202020204" pitchFamily="34" charset="0"/>
                <a:ea typeface="Calibri" panose="020F0502020204030204" pitchFamily="34" charset="0"/>
                <a:cs typeface="Arial" panose="020B0604020202020204" pitchFamily="34" charset="0"/>
              </a:rPr>
              <a:t> (4</a:t>
            </a:r>
            <a:r>
              <a:rPr lang="en-US" sz="1800" kern="100" baseline="30000" dirty="0">
                <a:effectLst/>
                <a:latin typeface="Arial" panose="020B0604020202020204" pitchFamily="34" charset="0"/>
                <a:ea typeface="Calibri" panose="020F0502020204030204" pitchFamily="34" charset="0"/>
                <a:cs typeface="Arial" panose="020B0604020202020204" pitchFamily="34" charset="0"/>
              </a:rPr>
              <a:t>th</a:t>
            </a:r>
            <a:r>
              <a:rPr lang="en-US" sz="1800" kern="100" dirty="0">
                <a:effectLst/>
                <a:latin typeface="Arial" panose="020B0604020202020204" pitchFamily="34" charset="0"/>
                <a:ea typeface="Calibri" panose="020F0502020204030204" pitchFamily="34" charset="0"/>
                <a:cs typeface="Arial" panose="020B0604020202020204" pitchFamily="34" charset="0"/>
              </a:rPr>
              <a:t> ed.), Chapman and Hall.</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0000"/>
              </a:lnSpc>
              <a:spcBef>
                <a:spcPts val="0"/>
              </a:spcBef>
              <a:spcAft>
                <a:spcPts val="800"/>
              </a:spcAft>
              <a:buFont typeface="Symbol" panose="05050102010706020507" pitchFamily="18" charset="2"/>
              <a:buChar char=""/>
            </a:pPr>
            <a:r>
              <a:rPr lang="en-US" sz="1800" kern="100" dirty="0">
                <a:effectLst/>
                <a:latin typeface="Arial" panose="020B0604020202020204" pitchFamily="34" charset="0"/>
                <a:ea typeface="Calibri" panose="020F0502020204030204" pitchFamily="34" charset="0"/>
                <a:cs typeface="Arial" panose="020B0604020202020204" pitchFamily="34" charset="0"/>
              </a:rPr>
              <a:t>Rizzo, L. M. (2019).</a:t>
            </a:r>
            <a:r>
              <a:rPr lang="en-US" sz="1800" b="1" kern="100" dirty="0">
                <a:effectLst/>
                <a:latin typeface="Arial" panose="020B0604020202020204" pitchFamily="34" charset="0"/>
                <a:ea typeface="Calibri" panose="020F0502020204030204" pitchFamily="34" charset="0"/>
                <a:cs typeface="Arial" panose="020B0604020202020204" pitchFamily="34" charset="0"/>
              </a:rPr>
              <a:t> Statistical Computing with R </a:t>
            </a:r>
            <a:r>
              <a:rPr lang="en-US" sz="1800" kern="100" dirty="0">
                <a:effectLst/>
                <a:latin typeface="Arial" panose="020B0604020202020204" pitchFamily="34" charset="0"/>
                <a:ea typeface="Calibri" panose="020F0502020204030204" pitchFamily="34" charset="0"/>
                <a:cs typeface="Arial" panose="020B0604020202020204" pitchFamily="34" charset="0"/>
              </a:rPr>
              <a:t>(2</a:t>
            </a:r>
            <a:r>
              <a:rPr lang="en-US" sz="1800" kern="100" baseline="30000" dirty="0">
                <a:effectLst/>
                <a:latin typeface="Arial" panose="020B0604020202020204" pitchFamily="34" charset="0"/>
                <a:ea typeface="Calibri" panose="020F0502020204030204" pitchFamily="34" charset="0"/>
                <a:cs typeface="Arial" panose="020B0604020202020204" pitchFamily="34" charset="0"/>
              </a:rPr>
              <a:t>nd</a:t>
            </a:r>
            <a:r>
              <a:rPr lang="en-US" sz="1800" kern="100" dirty="0">
                <a:effectLst/>
                <a:latin typeface="Arial" panose="020B0604020202020204" pitchFamily="34" charset="0"/>
                <a:ea typeface="Calibri" panose="020F0502020204030204" pitchFamily="34" charset="0"/>
                <a:cs typeface="Arial" panose="020B0604020202020204" pitchFamily="34" charset="0"/>
              </a:rPr>
              <a:t> ed.), CRC Press</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0000"/>
              </a:lnSpc>
              <a:spcBef>
                <a:spcPts val="0"/>
              </a:spcBef>
              <a:spcAft>
                <a:spcPts val="800"/>
              </a:spcAft>
              <a:buFont typeface="Symbol" panose="05050102010706020507" pitchFamily="18" charset="2"/>
              <a:buChar char=""/>
            </a:pPr>
            <a:r>
              <a:rPr lang="en-US" sz="1800" kern="100" dirty="0">
                <a:effectLst/>
                <a:latin typeface="Arial" panose="020B0604020202020204" pitchFamily="34" charset="0"/>
                <a:ea typeface="Calibri" panose="020F0502020204030204" pitchFamily="34" charset="0"/>
                <a:cs typeface="Arial" panose="020B0604020202020204" pitchFamily="34" charset="0"/>
              </a:rPr>
              <a:t>Blitzstein, J.K., &amp; Hwang, J. (2014). </a:t>
            </a:r>
            <a:r>
              <a:rPr lang="en-US" sz="1800" b="1" kern="100" dirty="0">
                <a:effectLst/>
                <a:latin typeface="Arial" panose="020B0604020202020204" pitchFamily="34" charset="0"/>
                <a:ea typeface="Calibri" panose="020F0502020204030204" pitchFamily="34" charset="0"/>
                <a:cs typeface="Arial" panose="020B0604020202020204" pitchFamily="34" charset="0"/>
              </a:rPr>
              <a:t>Introduction to Probability</a:t>
            </a:r>
            <a:r>
              <a:rPr lang="en-US" sz="1800" kern="100" dirty="0">
                <a:effectLst/>
                <a:latin typeface="Arial" panose="020B0604020202020204" pitchFamily="34" charset="0"/>
                <a:ea typeface="Calibri" panose="020F0502020204030204" pitchFamily="34" charset="0"/>
                <a:cs typeface="Arial" panose="020B0604020202020204" pitchFamily="34" charset="0"/>
              </a:rPr>
              <a:t> (1st ed.). Chapman and Hall/CRC.</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00000"/>
              </a:lnSpc>
              <a:spcBef>
                <a:spcPts val="0"/>
              </a:spcBef>
              <a:spcAft>
                <a:spcPts val="800"/>
              </a:spcAft>
              <a:buFont typeface="Symbol" panose="05050102010706020507" pitchFamily="18" charset="2"/>
              <a:buChar char=""/>
            </a:pPr>
            <a:r>
              <a:rPr lang="en-US" sz="1800" kern="100" dirty="0" err="1">
                <a:effectLst/>
                <a:latin typeface="Arial" panose="020B0604020202020204" pitchFamily="34" charset="0"/>
                <a:ea typeface="Calibri" panose="020F0502020204030204" pitchFamily="34" charset="0"/>
                <a:cs typeface="Arial" panose="020B0604020202020204" pitchFamily="34" charset="0"/>
              </a:rPr>
              <a:t>Mavrakakis</a:t>
            </a:r>
            <a:r>
              <a:rPr lang="en-US" sz="1800" kern="100" dirty="0">
                <a:effectLst/>
                <a:latin typeface="Arial" panose="020B0604020202020204" pitchFamily="34" charset="0"/>
                <a:ea typeface="Calibri" panose="020F0502020204030204" pitchFamily="34" charset="0"/>
                <a:cs typeface="Arial" panose="020B0604020202020204" pitchFamily="34" charset="0"/>
              </a:rPr>
              <a:t>, M.C., &amp; </a:t>
            </a:r>
            <a:r>
              <a:rPr lang="en-US" sz="1800" kern="100" dirty="0" err="1">
                <a:effectLst/>
                <a:latin typeface="Arial" panose="020B0604020202020204" pitchFamily="34" charset="0"/>
                <a:ea typeface="Calibri" panose="020F0502020204030204" pitchFamily="34" charset="0"/>
                <a:cs typeface="Arial" panose="020B0604020202020204" pitchFamily="34" charset="0"/>
              </a:rPr>
              <a:t>Penzer</a:t>
            </a:r>
            <a:r>
              <a:rPr lang="en-US" sz="1800" kern="100" dirty="0">
                <a:effectLst/>
                <a:latin typeface="Arial" panose="020B0604020202020204" pitchFamily="34" charset="0"/>
                <a:ea typeface="Calibri" panose="020F0502020204030204" pitchFamily="34" charset="0"/>
                <a:cs typeface="Arial" panose="020B0604020202020204" pitchFamily="34" charset="0"/>
              </a:rPr>
              <a:t>, J. (2021). </a:t>
            </a:r>
            <a:r>
              <a:rPr lang="en-US" sz="1800" b="1" kern="100" dirty="0">
                <a:effectLst/>
                <a:latin typeface="Arial" panose="020B0604020202020204" pitchFamily="34" charset="0"/>
                <a:ea typeface="Calibri" panose="020F0502020204030204" pitchFamily="34" charset="0"/>
                <a:cs typeface="Arial" panose="020B0604020202020204" pitchFamily="34" charset="0"/>
              </a:rPr>
              <a:t>Probability and Statistical Inference: From Basic Principles to Advanced Models</a:t>
            </a:r>
            <a:r>
              <a:rPr lang="en-US" sz="1800" kern="100" dirty="0">
                <a:effectLst/>
                <a:latin typeface="Arial" panose="020B0604020202020204" pitchFamily="34" charset="0"/>
                <a:ea typeface="Calibri" panose="020F0502020204030204" pitchFamily="34" charset="0"/>
                <a:cs typeface="Arial" panose="020B0604020202020204" pitchFamily="34" charset="0"/>
              </a:rPr>
              <a:t> (1st ed.). Chapman and Hall/CRC.</a:t>
            </a:r>
            <a:endParaRPr lang="en-GB" sz="1800" kern="100" dirty="0">
              <a:effectLst/>
              <a:latin typeface="Arial" panose="020B0604020202020204" pitchFamily="34" charset="0"/>
              <a:ea typeface="Calibri" panose="020F0502020204030204" pitchFamily="34" charset="0"/>
              <a:cs typeface="Arial" panose="020B0604020202020204" pitchFamily="34" charset="0"/>
            </a:endParaRPr>
          </a:p>
          <a:p>
            <a:pPr>
              <a:spcBef>
                <a:spcPts val="0"/>
              </a:spcBef>
              <a:spcAft>
                <a:spcPts val="800"/>
              </a:spcAft>
            </a:pPr>
            <a:endParaRPr lang="en-GB" dirty="0"/>
          </a:p>
        </p:txBody>
      </p:sp>
    </p:spTree>
    <p:extLst>
      <p:ext uri="{BB962C8B-B14F-4D97-AF65-F5344CB8AC3E}">
        <p14:creationId xmlns:p14="http://schemas.microsoft.com/office/powerpoint/2010/main" val="301688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F676-42B5-5006-6877-FDDDAFC6F3AF}"/>
              </a:ext>
            </a:extLst>
          </p:cNvPr>
          <p:cNvSpPr>
            <a:spLocks noGrp="1"/>
          </p:cNvSpPr>
          <p:nvPr>
            <p:ph type="title"/>
          </p:nvPr>
        </p:nvSpPr>
        <p:spPr/>
        <p:txBody>
          <a:bodyPr/>
          <a:lstStyle/>
          <a:p>
            <a:r>
              <a:rPr lang="en-GB" sz="4400" b="1" kern="0" dirty="0">
                <a:solidFill>
                  <a:srgbClr val="001AFF"/>
                </a:solidFill>
                <a:effectLst/>
                <a:latin typeface="Aptos" panose="020B0004020202020204" pitchFamily="34" charset="0"/>
                <a:ea typeface="Aptos" panose="020B0004020202020204" pitchFamily="34" charset="0"/>
                <a:cs typeface="CMSSBX10"/>
              </a:rPr>
              <a:t>R</a:t>
            </a:r>
            <a:endParaRPr lang="en-GB" dirty="0"/>
          </a:p>
        </p:txBody>
      </p:sp>
      <p:sp>
        <p:nvSpPr>
          <p:cNvPr id="3" name="Content Placeholder 2">
            <a:extLst>
              <a:ext uri="{FF2B5EF4-FFF2-40B4-BE49-F238E27FC236}">
                <a16:creationId xmlns:a16="http://schemas.microsoft.com/office/drawing/2014/main" id="{6E339265-9D2E-F98E-162E-378D6B1F9749}"/>
              </a:ext>
            </a:extLst>
          </p:cNvPr>
          <p:cNvSpPr>
            <a:spLocks noGrp="1"/>
          </p:cNvSpPr>
          <p:nvPr>
            <p:ph idx="1"/>
          </p:nvPr>
        </p:nvSpPr>
        <p:spPr/>
        <p:txBody>
          <a:bodyPr>
            <a:normAutofit/>
          </a:bodyPr>
          <a:lstStyle/>
          <a:p>
            <a:pPr>
              <a:lnSpc>
                <a:spcPct val="100000"/>
              </a:lnSpc>
              <a:spcBef>
                <a:spcPts val="0"/>
              </a:spcBef>
              <a:spcAft>
                <a:spcPts val="800"/>
              </a:spcAft>
            </a:pPr>
            <a:r>
              <a:rPr lang="en-GB" sz="1800" dirty="0">
                <a:effectLst/>
                <a:latin typeface="Arial" panose="020B0604020202020204" pitchFamily="34" charset="0"/>
                <a:ea typeface="Aptos" panose="020B0004020202020204" pitchFamily="34" charset="0"/>
                <a:cs typeface="Arial" panose="020B0604020202020204" pitchFamily="34" charset="0"/>
              </a:rPr>
              <a:t>In this module we use </a:t>
            </a:r>
            <a:r>
              <a:rPr lang="en-GB" sz="1800" kern="0" dirty="0">
                <a:solidFill>
                  <a:srgbClr val="001AFF"/>
                </a:solidFill>
                <a:effectLst/>
                <a:latin typeface="Arial" panose="020B0604020202020204" pitchFamily="34" charset="0"/>
                <a:ea typeface="Aptos" panose="020B0004020202020204" pitchFamily="34" charset="0"/>
                <a:cs typeface="Arial" panose="020B0604020202020204" pitchFamily="34" charset="0"/>
              </a:rPr>
              <a:t>R</a:t>
            </a:r>
            <a:r>
              <a:rPr lang="en-GB" sz="1800" dirty="0">
                <a:effectLst/>
                <a:latin typeface="Arial" panose="020B0604020202020204" pitchFamily="34" charset="0"/>
                <a:ea typeface="Aptos" panose="020B0004020202020204" pitchFamily="34" charset="0"/>
                <a:cs typeface="Arial" panose="020B0604020202020204" pitchFamily="34" charset="0"/>
              </a:rPr>
              <a:t>Studio which is a premier integrated development environment for </a:t>
            </a:r>
            <a:r>
              <a:rPr lang="en-GB" sz="1800" kern="0" dirty="0">
                <a:solidFill>
                  <a:srgbClr val="001AFF"/>
                </a:solidFill>
                <a:effectLst/>
                <a:latin typeface="Arial" panose="020B0604020202020204" pitchFamily="34" charset="0"/>
                <a:ea typeface="Aptos" panose="020B0004020202020204" pitchFamily="34" charset="0"/>
                <a:cs typeface="Arial" panose="020B0604020202020204" pitchFamily="34" charset="0"/>
              </a:rPr>
              <a:t>R</a:t>
            </a:r>
            <a:r>
              <a:rPr lang="en-GB" sz="1800" dirty="0">
                <a:effectLst/>
                <a:latin typeface="Arial" panose="020B0604020202020204" pitchFamily="34" charset="0"/>
                <a:ea typeface="Aptos" panose="020B0004020202020204" pitchFamily="34" charset="0"/>
                <a:cs typeface="Arial" panose="020B0604020202020204" pitchFamily="34" charset="0"/>
              </a:rPr>
              <a:t>.</a:t>
            </a:r>
          </a:p>
          <a:p>
            <a:pPr>
              <a:lnSpc>
                <a:spcPct val="100000"/>
              </a:lnSpc>
              <a:spcBef>
                <a:spcPts val="0"/>
              </a:spcBef>
              <a:spcAft>
                <a:spcPts val="800"/>
              </a:spcAft>
            </a:pPr>
            <a:r>
              <a:rPr lang="en-GB" sz="1800" dirty="0">
                <a:effectLst/>
                <a:latin typeface="Arial" panose="020B0604020202020204" pitchFamily="34" charset="0"/>
                <a:ea typeface="Aptos" panose="020B0004020202020204" pitchFamily="34" charset="0"/>
                <a:cs typeface="Arial" panose="020B0604020202020204" pitchFamily="34" charset="0"/>
              </a:rPr>
              <a:t>It is available in open source and commercial editions and runs on the desktop (Windows, Mac, and Linux) or over the web with RStudio Server.</a:t>
            </a:r>
            <a:endParaRPr lang="en-GB" sz="1800" dirty="0">
              <a:latin typeface="Arial" panose="020B0604020202020204" pitchFamily="34" charset="0"/>
              <a:ea typeface="Aptos" panose="020B0004020202020204" pitchFamily="34" charset="0"/>
              <a:cs typeface="Arial" panose="020B0604020202020204" pitchFamily="34" charset="0"/>
            </a:endParaRPr>
          </a:p>
          <a:p>
            <a:pPr>
              <a:lnSpc>
                <a:spcPct val="100000"/>
              </a:lnSpc>
              <a:spcBef>
                <a:spcPts val="0"/>
              </a:spcBef>
              <a:spcAft>
                <a:spcPts val="800"/>
              </a:spcAft>
            </a:pPr>
            <a:r>
              <a:rPr lang="en-GB" sz="1800" dirty="0">
                <a:effectLst/>
                <a:latin typeface="Arial" panose="020B0604020202020204" pitchFamily="34" charset="0"/>
                <a:ea typeface="Aptos" panose="020B0004020202020204" pitchFamily="34" charset="0"/>
                <a:cs typeface="Arial" panose="020B0604020202020204" pitchFamily="34" charset="0"/>
              </a:rPr>
              <a:t>You can find more information by visiting the following websites:</a:t>
            </a:r>
          </a:p>
          <a:p>
            <a:pPr lvl="1">
              <a:lnSpc>
                <a:spcPct val="100000"/>
              </a:lnSpc>
              <a:spcBef>
                <a:spcPts val="0"/>
              </a:spcBef>
              <a:spcAft>
                <a:spcPts val="800"/>
              </a:spcAft>
              <a:buFont typeface="Courier New" panose="02070309020205020404" pitchFamily="49" charset="0"/>
              <a:buChar char="o"/>
            </a:pPr>
            <a:r>
              <a:rPr lang="en-GB" sz="1800" u="sng" kern="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2"/>
              </a:rPr>
              <a:t>http://www.rstudio.com/</a:t>
            </a:r>
            <a:endParaRPr lang="en-GB" sz="1800" kern="100" dirty="0">
              <a:effectLst/>
              <a:latin typeface="Arial" panose="020B0604020202020204" pitchFamily="34" charset="0"/>
              <a:ea typeface="Aptos" panose="020B0004020202020204" pitchFamily="34" charset="0"/>
              <a:cs typeface="Arial" panose="020B0604020202020204" pitchFamily="34" charset="0"/>
            </a:endParaRPr>
          </a:p>
          <a:p>
            <a:pPr lvl="1">
              <a:lnSpc>
                <a:spcPct val="100000"/>
              </a:lnSpc>
              <a:spcBef>
                <a:spcPts val="0"/>
              </a:spcBef>
              <a:spcAft>
                <a:spcPts val="800"/>
              </a:spcAft>
              <a:buFont typeface="Courier New" panose="02070309020205020404" pitchFamily="49" charset="0"/>
              <a:buChar char="o"/>
            </a:pPr>
            <a:r>
              <a:rPr lang="en-GB" sz="1800" u="sng" kern="0" dirty="0">
                <a:solidFill>
                  <a:srgbClr val="467886"/>
                </a:solidFill>
                <a:effectLst/>
                <a:latin typeface="Arial" panose="020B0604020202020204" pitchFamily="34" charset="0"/>
                <a:ea typeface="Aptos" panose="020B0004020202020204" pitchFamily="34" charset="0"/>
                <a:cs typeface="Arial" panose="020B0604020202020204" pitchFamily="34" charset="0"/>
                <a:hlinkClick r:id="rId3"/>
              </a:rPr>
              <a:t>http://www.r-project.org/</a:t>
            </a:r>
            <a:endParaRPr lang="en-GB" sz="1800" kern="100" dirty="0">
              <a:effectLst/>
              <a:latin typeface="Arial" panose="020B0604020202020204" pitchFamily="34" charset="0"/>
              <a:ea typeface="Aptos" panose="020B0004020202020204" pitchFamily="34" charset="0"/>
              <a:cs typeface="Arial" panose="020B0604020202020204" pitchFamily="34" charset="0"/>
            </a:endParaRPr>
          </a:p>
          <a:p>
            <a:pPr>
              <a:lnSpc>
                <a:spcPct val="100000"/>
              </a:lnSpc>
              <a:spcBef>
                <a:spcPts val="0"/>
              </a:spcBef>
              <a:spcAft>
                <a:spcPts val="800"/>
              </a:spcAft>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3551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9AB2B-1FE6-5900-6D45-F84D036AD1E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047" y="191179"/>
            <a:ext cx="11663733" cy="5709104"/>
          </a:xfrm>
          <a:prstGeom prst="rect">
            <a:avLst/>
          </a:prstGeom>
          <a:noFill/>
          <a:ln>
            <a:noFill/>
          </a:ln>
        </p:spPr>
      </p:pic>
    </p:spTree>
    <p:extLst>
      <p:ext uri="{BB962C8B-B14F-4D97-AF65-F5344CB8AC3E}">
        <p14:creationId xmlns:p14="http://schemas.microsoft.com/office/powerpoint/2010/main" val="2740945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1EFE-3664-33DD-D9AA-C9ED0F08CBE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Tutorial</a:t>
            </a:r>
            <a:endParaRPr lang="en-GB"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8977E1C-CEE2-3972-DA3B-4D6E1B0DD9B2}"/>
              </a:ext>
            </a:extLst>
          </p:cNvPr>
          <p:cNvSpPr>
            <a:spLocks noGrp="1"/>
          </p:cNvSpPr>
          <p:nvPr>
            <p:ph idx="1"/>
          </p:nvPr>
        </p:nvSpPr>
        <p:spPr/>
        <p:txBody>
          <a:bodyPr>
            <a:normAutofit/>
          </a:bodyPr>
          <a:lstStyle/>
          <a:p>
            <a:r>
              <a:rPr lang="en-US" sz="1800" dirty="0">
                <a:latin typeface="Arial" panose="020B0604020202020204" pitchFamily="34" charset="0"/>
                <a:cs typeface="Arial" panose="020B0604020202020204" pitchFamily="34" charset="0"/>
              </a:rPr>
              <a:t>Introduction to </a:t>
            </a:r>
            <a:r>
              <a:rPr lang="en-US" sz="1800" b="1" dirty="0">
                <a:latin typeface="Arial" panose="020B0604020202020204" pitchFamily="34" charset="0"/>
                <a:cs typeface="Arial" panose="020B0604020202020204" pitchFamily="34" charset="0"/>
              </a:rPr>
              <a:t>R</a:t>
            </a:r>
          </a:p>
          <a:p>
            <a:r>
              <a:rPr lang="en-US" sz="1800" dirty="0">
                <a:latin typeface="Arial" panose="020B0604020202020204" pitchFamily="34" charset="0"/>
                <a:cs typeface="Arial" panose="020B0604020202020204" pitchFamily="34" charset="0"/>
              </a:rPr>
              <a:t>Learn simple command</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2257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869</Words>
  <Application>Microsoft Office PowerPoint</Application>
  <PresentationFormat>Widescreen</PresentationFormat>
  <Paragraphs>73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Calibri Light</vt:lpstr>
      <vt:lpstr>Courier New</vt:lpstr>
      <vt:lpstr>Symbol</vt:lpstr>
      <vt:lpstr>Office Theme</vt:lpstr>
      <vt:lpstr>Introduction to Probability and Statistics 4CM521</vt:lpstr>
      <vt:lpstr>Contact Information</vt:lpstr>
      <vt:lpstr>Module Outline</vt:lpstr>
      <vt:lpstr>Topics</vt:lpstr>
      <vt:lpstr>Learning Outcomes</vt:lpstr>
      <vt:lpstr>Assessment Methods</vt:lpstr>
      <vt:lpstr>Teaching and Learning</vt:lpstr>
      <vt:lpstr>Teaching and Learning</vt:lpstr>
      <vt:lpstr>Teaching and Learning</vt:lpstr>
      <vt:lpstr>Useful textbooks</vt:lpstr>
      <vt:lpstr>R</vt:lpstr>
      <vt:lpstr>PowerPoint Presentation</vt:lpstr>
      <vt:lpstr>Tutorial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Jack Sutton</dc:creator>
  <cp:lastModifiedBy>Jack Sutton</cp:lastModifiedBy>
  <cp:revision>2</cp:revision>
  <dcterms:created xsi:type="dcterms:W3CDTF">2024-02-01T10:14:43Z</dcterms:created>
  <dcterms:modified xsi:type="dcterms:W3CDTF">2025-07-15T11:18:07Z</dcterms:modified>
</cp:coreProperties>
</file>