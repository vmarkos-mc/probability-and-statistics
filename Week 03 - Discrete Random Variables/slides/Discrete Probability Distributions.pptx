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1" r:id="rId3"/>
    <p:sldId id="257" r:id="rId4"/>
    <p:sldId id="258" r:id="rId5"/>
    <p:sldId id="259" r:id="rId6"/>
    <p:sldId id="260" r:id="rId7"/>
    <p:sldId id="261" r:id="rId8"/>
    <p:sldId id="262" r:id="rId9"/>
    <p:sldId id="263" r:id="rId10"/>
    <p:sldId id="264" r:id="rId11"/>
    <p:sldId id="265" r:id="rId12"/>
    <p:sldId id="266" r:id="rId13"/>
    <p:sldId id="292" r:id="rId14"/>
    <p:sldId id="267" r:id="rId15"/>
    <p:sldId id="293" r:id="rId16"/>
    <p:sldId id="268" r:id="rId17"/>
    <p:sldId id="294" r:id="rId18"/>
    <p:sldId id="271" r:id="rId19"/>
    <p:sldId id="269" r:id="rId20"/>
    <p:sldId id="272" r:id="rId21"/>
    <p:sldId id="273" r:id="rId22"/>
    <p:sldId id="274" r:id="rId23"/>
    <p:sldId id="275" r:id="rId24"/>
    <p:sldId id="276" r:id="rId25"/>
    <p:sldId id="277" r:id="rId26"/>
    <p:sldId id="279" r:id="rId27"/>
    <p:sldId id="280" r:id="rId28"/>
    <p:sldId id="295" r:id="rId29"/>
    <p:sldId id="281" r:id="rId30"/>
    <p:sldId id="282" r:id="rId31"/>
    <p:sldId id="283" r:id="rId32"/>
    <p:sldId id="284" r:id="rId33"/>
    <p:sldId id="285" r:id="rId34"/>
    <p:sldId id="286" r:id="rId35"/>
    <p:sldId id="287" r:id="rId36"/>
    <p:sldId id="288" r:id="rId37"/>
    <p:sldId id="290"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C4A552-07CD-4B22-9CBB-8D1DCBF498FC}" v="5" dt="2025-02-17T09:59:30.7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72" autoAdjust="0"/>
    <p:restoredTop sz="94660"/>
  </p:normalViewPr>
  <p:slideViewPr>
    <p:cSldViewPr snapToGrid="0">
      <p:cViewPr varScale="1">
        <p:scale>
          <a:sx n="59" d="100"/>
          <a:sy n="59" d="100"/>
        </p:scale>
        <p:origin x="9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Sutton" userId="ff762cc7-8b85-4d5d-84fc-d80ed39daf4b" providerId="ADAL" clId="{48C4A552-07CD-4B22-9CBB-8D1DCBF498FC}"/>
    <pc:docChg chg="undo custSel modSld">
      <pc:chgData name="Jack Sutton" userId="ff762cc7-8b85-4d5d-84fc-d80ed39daf4b" providerId="ADAL" clId="{48C4A552-07CD-4B22-9CBB-8D1DCBF498FC}" dt="2025-02-17T09:59:30.792" v="106" actId="20577"/>
      <pc:docMkLst>
        <pc:docMk/>
      </pc:docMkLst>
      <pc:sldChg chg="modSp mod">
        <pc:chgData name="Jack Sutton" userId="ff762cc7-8b85-4d5d-84fc-d80ed39daf4b" providerId="ADAL" clId="{48C4A552-07CD-4B22-9CBB-8D1DCBF498FC}" dt="2025-02-13T17:00:32.715" v="102" actId="20577"/>
        <pc:sldMkLst>
          <pc:docMk/>
          <pc:sldMk cId="4146216057" sldId="256"/>
        </pc:sldMkLst>
        <pc:spChg chg="mod">
          <ac:chgData name="Jack Sutton" userId="ff762cc7-8b85-4d5d-84fc-d80ed39daf4b" providerId="ADAL" clId="{48C4A552-07CD-4B22-9CBB-8D1DCBF498FC}" dt="2025-02-13T17:00:32.715" v="102" actId="20577"/>
          <ac:spMkLst>
            <pc:docMk/>
            <pc:sldMk cId="4146216057" sldId="256"/>
            <ac:spMk id="3" creationId="{771AD81C-CA4B-58F8-B51E-29E6F52D263B}"/>
          </ac:spMkLst>
        </pc:spChg>
      </pc:sldChg>
      <pc:sldChg chg="modSp mod">
        <pc:chgData name="Jack Sutton" userId="ff762cc7-8b85-4d5d-84fc-d80ed39daf4b" providerId="ADAL" clId="{48C4A552-07CD-4B22-9CBB-8D1DCBF498FC}" dt="2025-02-07T15:31:21.025" v="7" actId="1076"/>
        <pc:sldMkLst>
          <pc:docMk/>
          <pc:sldMk cId="3891076740" sldId="271"/>
        </pc:sldMkLst>
        <pc:picChg chg="mod">
          <ac:chgData name="Jack Sutton" userId="ff762cc7-8b85-4d5d-84fc-d80ed39daf4b" providerId="ADAL" clId="{48C4A552-07CD-4B22-9CBB-8D1DCBF498FC}" dt="2025-02-07T15:31:21.025" v="7" actId="1076"/>
          <ac:picMkLst>
            <pc:docMk/>
            <pc:sldMk cId="3891076740" sldId="271"/>
            <ac:picMk id="4" creationId="{3C3CD18E-AB0E-1436-AA74-2998E57958F4}"/>
          </ac:picMkLst>
        </pc:picChg>
      </pc:sldChg>
      <pc:sldChg chg="modSp mod">
        <pc:chgData name="Jack Sutton" userId="ff762cc7-8b85-4d5d-84fc-d80ed39daf4b" providerId="ADAL" clId="{48C4A552-07CD-4B22-9CBB-8D1DCBF498FC}" dt="2025-02-07T15:30:36.730" v="2" actId="27636"/>
        <pc:sldMkLst>
          <pc:docMk/>
          <pc:sldMk cId="3130573434" sldId="276"/>
        </pc:sldMkLst>
        <pc:spChg chg="mod">
          <ac:chgData name="Jack Sutton" userId="ff762cc7-8b85-4d5d-84fc-d80ed39daf4b" providerId="ADAL" clId="{48C4A552-07CD-4B22-9CBB-8D1DCBF498FC}" dt="2025-02-07T15:30:36.730" v="2" actId="27636"/>
          <ac:spMkLst>
            <pc:docMk/>
            <pc:sldMk cId="3130573434" sldId="276"/>
            <ac:spMk id="3" creationId="{888D95E1-2647-FB6B-1E38-B746F9C98AA8}"/>
          </ac:spMkLst>
        </pc:spChg>
      </pc:sldChg>
      <pc:sldChg chg="modSp mod">
        <pc:chgData name="Jack Sutton" userId="ff762cc7-8b85-4d5d-84fc-d80ed39daf4b" providerId="ADAL" clId="{48C4A552-07CD-4B22-9CBB-8D1DCBF498FC}" dt="2025-02-17T09:53:41.188" v="103"/>
        <pc:sldMkLst>
          <pc:docMk/>
          <pc:sldMk cId="2341035966" sldId="277"/>
        </pc:sldMkLst>
        <pc:spChg chg="mod">
          <ac:chgData name="Jack Sutton" userId="ff762cc7-8b85-4d5d-84fc-d80ed39daf4b" providerId="ADAL" clId="{48C4A552-07CD-4B22-9CBB-8D1DCBF498FC}" dt="2025-02-17T09:53:41.188" v="103"/>
          <ac:spMkLst>
            <pc:docMk/>
            <pc:sldMk cId="2341035966" sldId="277"/>
            <ac:spMk id="5" creationId="{9EAE61E4-CF09-38F7-40D3-12AEE78BF180}"/>
          </ac:spMkLst>
        </pc:spChg>
      </pc:sldChg>
      <pc:sldChg chg="modSp mod">
        <pc:chgData name="Jack Sutton" userId="ff762cc7-8b85-4d5d-84fc-d80ed39daf4b" providerId="ADAL" clId="{48C4A552-07CD-4B22-9CBB-8D1DCBF498FC}" dt="2025-02-07T15:30:36.901" v="3" actId="27636"/>
        <pc:sldMkLst>
          <pc:docMk/>
          <pc:sldMk cId="3114702603" sldId="280"/>
        </pc:sldMkLst>
        <pc:spChg chg="mod">
          <ac:chgData name="Jack Sutton" userId="ff762cc7-8b85-4d5d-84fc-d80ed39daf4b" providerId="ADAL" clId="{48C4A552-07CD-4B22-9CBB-8D1DCBF498FC}" dt="2025-02-07T15:30:36.901" v="3" actId="27636"/>
          <ac:spMkLst>
            <pc:docMk/>
            <pc:sldMk cId="3114702603" sldId="280"/>
            <ac:spMk id="3" creationId="{A34A144C-A10C-8691-C9D1-D6BAC7CD91F7}"/>
          </ac:spMkLst>
        </pc:spChg>
      </pc:sldChg>
      <pc:sldChg chg="modSp">
        <pc:chgData name="Jack Sutton" userId="ff762cc7-8b85-4d5d-84fc-d80ed39daf4b" providerId="ADAL" clId="{48C4A552-07CD-4B22-9CBB-8D1DCBF498FC}" dt="2025-02-17T09:59:30.792" v="106" actId="20577"/>
        <pc:sldMkLst>
          <pc:docMk/>
          <pc:sldMk cId="4107245546" sldId="285"/>
        </pc:sldMkLst>
        <pc:spChg chg="mod">
          <ac:chgData name="Jack Sutton" userId="ff762cc7-8b85-4d5d-84fc-d80ed39daf4b" providerId="ADAL" clId="{48C4A552-07CD-4B22-9CBB-8D1DCBF498FC}" dt="2025-02-17T09:59:30.792" v="106" actId="20577"/>
          <ac:spMkLst>
            <pc:docMk/>
            <pc:sldMk cId="4107245546" sldId="285"/>
            <ac:spMk id="3" creationId="{EAEE1F57-76BD-89A9-5167-28702EA36E05}"/>
          </ac:spMkLst>
        </pc:spChg>
      </pc:sldChg>
      <pc:sldChg chg="modSp mod">
        <pc:chgData name="Jack Sutton" userId="ff762cc7-8b85-4d5d-84fc-d80ed39daf4b" providerId="ADAL" clId="{48C4A552-07CD-4B22-9CBB-8D1DCBF498FC}" dt="2025-02-07T15:30:11.432" v="1" actId="948"/>
        <pc:sldMkLst>
          <pc:docMk/>
          <pc:sldMk cId="3071382469" sldId="291"/>
        </pc:sldMkLst>
        <pc:spChg chg="mod">
          <ac:chgData name="Jack Sutton" userId="ff762cc7-8b85-4d5d-84fc-d80ed39daf4b" providerId="ADAL" clId="{48C4A552-07CD-4B22-9CBB-8D1DCBF498FC}" dt="2025-02-07T15:30:11.432" v="1" actId="948"/>
          <ac:spMkLst>
            <pc:docMk/>
            <pc:sldMk cId="3071382469" sldId="291"/>
            <ac:spMk id="3" creationId="{4B26986F-7BD4-5C9D-B93F-760531E3FCB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6D35-EA0F-EB39-64DE-D8AE774097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E75923D-DFD6-C0D6-DDD3-880E019F3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C93DCBB-62AF-B9CE-30C1-3C4F64B67005}"/>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16555FCF-3B7E-D3A3-6A38-03A3432E01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0A5EF2-0AEF-3E5D-B366-5E2299D5E580}"/>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332147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BBD5-CAB9-4940-3E8E-20CFED0A1129}"/>
              </a:ext>
            </a:extLst>
          </p:cNvPr>
          <p:cNvSpPr>
            <a:spLocks noGrp="1"/>
          </p:cNvSpPr>
          <p:nvPr>
            <p:ph type="title"/>
          </p:nvPr>
        </p:nvSpPr>
        <p:spPr/>
        <p:txBody>
          <a:bodyPr>
            <a:normAutofit/>
          </a:bodyPr>
          <a:lstStyle>
            <a:lvl1pPr>
              <a:defRPr sz="3600">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B319739-8246-EDA5-6099-FDEC2C85D20E}"/>
              </a:ext>
            </a:extLst>
          </p:cNvPr>
          <p:cNvSpPr>
            <a:spLocks noGrp="1"/>
          </p:cNvSpPr>
          <p:nvPr>
            <p:ph idx="1"/>
          </p:nvPr>
        </p:nvSpPr>
        <p:spPr/>
        <p:txBody>
          <a:bodyPr>
            <a:normAutofit/>
          </a:bodyPr>
          <a:lstStyle>
            <a:lvl1pPr>
              <a:spcBef>
                <a:spcPts val="0"/>
              </a:spcBef>
              <a:spcAft>
                <a:spcPts val="600"/>
              </a:spcAft>
              <a:defRPr sz="1800">
                <a:latin typeface="Arial" panose="020B0604020202020204" pitchFamily="34" charset="0"/>
                <a:cs typeface="Arial" panose="020B0604020202020204" pitchFamily="34" charset="0"/>
              </a:defRPr>
            </a:lvl1pPr>
            <a:lvl2pPr>
              <a:spcBef>
                <a:spcPts val="0"/>
              </a:spcBef>
              <a:spcAft>
                <a:spcPts val="600"/>
              </a:spcAft>
              <a:defRPr sz="1800">
                <a:latin typeface="Arial" panose="020B0604020202020204" pitchFamily="34" charset="0"/>
                <a:cs typeface="Arial" panose="020B0604020202020204" pitchFamily="34" charset="0"/>
              </a:defRPr>
            </a:lvl2pPr>
            <a:lvl3pPr>
              <a:spcBef>
                <a:spcPts val="0"/>
              </a:spcBef>
              <a:spcAft>
                <a:spcPts val="600"/>
              </a:spcAft>
              <a:defRPr sz="1800">
                <a:latin typeface="Arial" panose="020B0604020202020204" pitchFamily="34" charset="0"/>
                <a:cs typeface="Arial" panose="020B0604020202020204" pitchFamily="34" charset="0"/>
              </a:defRPr>
            </a:lvl3pPr>
            <a:lvl4pPr>
              <a:spcBef>
                <a:spcPts val="0"/>
              </a:spcBef>
              <a:spcAft>
                <a:spcPts val="600"/>
              </a:spcAft>
              <a:defRPr sz="1800">
                <a:latin typeface="Arial" panose="020B0604020202020204" pitchFamily="34" charset="0"/>
                <a:cs typeface="Arial" panose="020B0604020202020204" pitchFamily="34" charset="0"/>
              </a:defRPr>
            </a:lvl4pPr>
            <a:lvl5pPr>
              <a:spcBef>
                <a:spcPts val="0"/>
              </a:spcBef>
              <a:spcAft>
                <a:spcPts val="600"/>
              </a:spcAft>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1FA84AE-702E-B7D4-D0AB-AB12F2D0FCAF}"/>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685651F8-FB98-B662-1B2D-4CC974ED390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BBD5C1-DFEA-39BF-5E34-0109370A8DEE}"/>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935613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483FE-18D9-A8CA-B29D-3607B469E9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8444B56-89F3-03E4-50DC-3D965E2749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148B28-32B9-21F3-5118-76C73F3980E6}"/>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66C44EA4-0AB6-A953-8D88-84D9E8200A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B4C163-A259-F1AE-36A8-A3CA029BB138}"/>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872694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AD1F-573A-69FB-4A8E-FA21078DEB70}"/>
              </a:ext>
            </a:extLst>
          </p:cNvPr>
          <p:cNvSpPr>
            <a:spLocks noGrp="1"/>
          </p:cNvSpPr>
          <p:nvPr>
            <p:ph type="title"/>
          </p:nvPr>
        </p:nvSpPr>
        <p:spPr/>
        <p:txBody>
          <a:bodyPr>
            <a:normAutofit/>
          </a:bodyPr>
          <a:lstStyle>
            <a:lvl1pPr>
              <a:defRPr sz="3600">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EBF3481-B5BB-7983-B7DD-77C6881E46DE}"/>
              </a:ext>
            </a:extLst>
          </p:cNvPr>
          <p:cNvSpPr>
            <a:spLocks noGrp="1"/>
          </p:cNvSpPr>
          <p:nvPr>
            <p:ph sz="half" idx="1"/>
          </p:nvPr>
        </p:nvSpPr>
        <p:spPr>
          <a:xfrm>
            <a:off x="838200" y="1825625"/>
            <a:ext cx="5181600" cy="4351338"/>
          </a:xfrm>
        </p:spPr>
        <p:txBody>
          <a:bodyPr>
            <a:normAutofit/>
          </a:bodyPr>
          <a:lstStyle>
            <a:lvl1pPr>
              <a:spcBef>
                <a:spcPts val="0"/>
              </a:spcBef>
              <a:spcAft>
                <a:spcPts val="600"/>
              </a:spcAft>
              <a:defRPr sz="1800">
                <a:latin typeface="Arial" panose="020B0604020202020204" pitchFamily="34" charset="0"/>
                <a:cs typeface="Arial" panose="020B0604020202020204" pitchFamily="34" charset="0"/>
              </a:defRPr>
            </a:lvl1pPr>
            <a:lvl2pPr>
              <a:spcBef>
                <a:spcPts val="0"/>
              </a:spcBef>
              <a:spcAft>
                <a:spcPts val="600"/>
              </a:spcAft>
              <a:defRPr sz="1800">
                <a:latin typeface="Arial" panose="020B0604020202020204" pitchFamily="34" charset="0"/>
                <a:cs typeface="Arial" panose="020B0604020202020204" pitchFamily="34" charset="0"/>
              </a:defRPr>
            </a:lvl2pPr>
            <a:lvl3pPr>
              <a:spcBef>
                <a:spcPts val="0"/>
              </a:spcBef>
              <a:spcAft>
                <a:spcPts val="600"/>
              </a:spcAft>
              <a:defRPr sz="1800">
                <a:latin typeface="Arial" panose="020B0604020202020204" pitchFamily="34" charset="0"/>
                <a:cs typeface="Arial" panose="020B0604020202020204" pitchFamily="34" charset="0"/>
              </a:defRPr>
            </a:lvl3pPr>
            <a:lvl4pPr>
              <a:spcBef>
                <a:spcPts val="0"/>
              </a:spcBef>
              <a:spcAft>
                <a:spcPts val="600"/>
              </a:spcAft>
              <a:defRPr sz="1800">
                <a:latin typeface="Arial" panose="020B0604020202020204" pitchFamily="34" charset="0"/>
                <a:cs typeface="Arial" panose="020B0604020202020204" pitchFamily="34" charset="0"/>
              </a:defRPr>
            </a:lvl4pPr>
            <a:lvl5pPr>
              <a:spcBef>
                <a:spcPts val="0"/>
              </a:spcBef>
              <a:spcAft>
                <a:spcPts val="600"/>
              </a:spcAft>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3D86F4A-7873-AD92-7C85-6364F55ED793}"/>
              </a:ext>
            </a:extLst>
          </p:cNvPr>
          <p:cNvSpPr>
            <a:spLocks noGrp="1"/>
          </p:cNvSpPr>
          <p:nvPr>
            <p:ph sz="half" idx="2"/>
          </p:nvPr>
        </p:nvSpPr>
        <p:spPr>
          <a:xfrm>
            <a:off x="6172200" y="1825625"/>
            <a:ext cx="5181600" cy="4351338"/>
          </a:xfrm>
        </p:spPr>
        <p:txBody>
          <a:bodyPr>
            <a:normAutofit/>
          </a:bodyPr>
          <a:lstStyle>
            <a:lvl1pPr>
              <a:spcBef>
                <a:spcPts val="0"/>
              </a:spcBef>
              <a:spcAft>
                <a:spcPts val="600"/>
              </a:spcAft>
              <a:defRPr sz="1800">
                <a:latin typeface="Arial" panose="020B0604020202020204" pitchFamily="34" charset="0"/>
                <a:cs typeface="Arial" panose="020B0604020202020204" pitchFamily="34" charset="0"/>
              </a:defRPr>
            </a:lvl1pPr>
            <a:lvl2pPr>
              <a:spcBef>
                <a:spcPts val="0"/>
              </a:spcBef>
              <a:spcAft>
                <a:spcPts val="600"/>
              </a:spcAft>
              <a:defRPr sz="1800">
                <a:latin typeface="Arial" panose="020B0604020202020204" pitchFamily="34" charset="0"/>
                <a:cs typeface="Arial" panose="020B0604020202020204" pitchFamily="34" charset="0"/>
              </a:defRPr>
            </a:lvl2pPr>
            <a:lvl3pPr>
              <a:spcBef>
                <a:spcPts val="0"/>
              </a:spcBef>
              <a:spcAft>
                <a:spcPts val="600"/>
              </a:spcAft>
              <a:defRPr sz="1800">
                <a:latin typeface="Arial" panose="020B0604020202020204" pitchFamily="34" charset="0"/>
                <a:cs typeface="Arial" panose="020B0604020202020204" pitchFamily="34" charset="0"/>
              </a:defRPr>
            </a:lvl3pPr>
            <a:lvl4pPr>
              <a:spcBef>
                <a:spcPts val="0"/>
              </a:spcBef>
              <a:spcAft>
                <a:spcPts val="600"/>
              </a:spcAft>
              <a:defRPr sz="1800">
                <a:latin typeface="Arial" panose="020B0604020202020204" pitchFamily="34" charset="0"/>
                <a:cs typeface="Arial" panose="020B0604020202020204" pitchFamily="34" charset="0"/>
              </a:defRPr>
            </a:lvl4pPr>
            <a:lvl5pPr>
              <a:spcBef>
                <a:spcPts val="0"/>
              </a:spcBef>
              <a:spcAft>
                <a:spcPts val="600"/>
              </a:spcAft>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04EE6B2-EF98-0872-187A-08C85F66ED02}"/>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6" name="Footer Placeholder 5">
            <a:extLst>
              <a:ext uri="{FF2B5EF4-FFF2-40B4-BE49-F238E27FC236}">
                <a16:creationId xmlns:a16="http://schemas.microsoft.com/office/drawing/2014/main" id="{37D5EE14-E878-02A8-93F9-7D73AF3718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E29F82-CFAD-D3ED-B6E1-CA569B1C063F}"/>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348079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64E9-C50C-E934-258A-017E7F14D46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687F5A-1224-E041-39CB-34300FD98D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53CAB7-2B32-80BA-783B-CC357EBB6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9B94457-7C4A-D731-B0F8-AECE48B5B2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5CD695-07A4-EE44-C12A-9719044CAC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E677DF1-D0FA-136D-73FD-30C0BAF3FAA7}"/>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8" name="Footer Placeholder 7">
            <a:extLst>
              <a:ext uri="{FF2B5EF4-FFF2-40B4-BE49-F238E27FC236}">
                <a16:creationId xmlns:a16="http://schemas.microsoft.com/office/drawing/2014/main" id="{2271AF91-5B3B-266C-D141-9EAE9F96000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1C00643-9059-5C21-0617-27A748E92E50}"/>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2702183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E313-AADD-87D0-2302-3392EA7A654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91907B6-86E8-7C95-5F69-420ECA9076C0}"/>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4" name="Footer Placeholder 3">
            <a:extLst>
              <a:ext uri="{FF2B5EF4-FFF2-40B4-BE49-F238E27FC236}">
                <a16:creationId xmlns:a16="http://schemas.microsoft.com/office/drawing/2014/main" id="{1B7FB3A4-F840-3E9F-B937-927E4B26228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28238F7-704C-0B55-1203-5DF86CF24997}"/>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1641390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7AC06-377C-B559-6A10-758E5057CDEB}"/>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3" name="Footer Placeholder 2">
            <a:extLst>
              <a:ext uri="{FF2B5EF4-FFF2-40B4-BE49-F238E27FC236}">
                <a16:creationId xmlns:a16="http://schemas.microsoft.com/office/drawing/2014/main" id="{502D453C-534F-9695-D08F-81CC7FA2E37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903F0DE-E458-AD01-34DB-B839A410D5AA}"/>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2273682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BCCEB-F647-7D36-E1ED-B603AB18B7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D7C6993-1F64-8736-35EC-16DA1F6977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B46C747-629E-8EC4-BD0B-A80878806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9CE35-6B84-0438-B12D-764CF60A6E25}"/>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6" name="Footer Placeholder 5">
            <a:extLst>
              <a:ext uri="{FF2B5EF4-FFF2-40B4-BE49-F238E27FC236}">
                <a16:creationId xmlns:a16="http://schemas.microsoft.com/office/drawing/2014/main" id="{26845407-7798-5B10-E3D5-3EEF62BE1A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A77841-EA66-7EB8-D436-FEABD44517F8}"/>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378310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F05D-8CBA-0A67-C95B-A532F4FEA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256754-F1C3-37FC-63A8-FDD4A30667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64D2477-2E92-DC82-65FE-3AE6830A28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DE4634-505D-1F50-87D8-55D49A73B874}"/>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6" name="Footer Placeholder 5">
            <a:extLst>
              <a:ext uri="{FF2B5EF4-FFF2-40B4-BE49-F238E27FC236}">
                <a16:creationId xmlns:a16="http://schemas.microsoft.com/office/drawing/2014/main" id="{9E59B63D-4AE8-DD47-1A5D-A18BB7121D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61F8F83-7FC9-BC74-2B7F-B4C302FC77BD}"/>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266668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87CE-1B1A-E92E-9E1C-0B3B1A2E9A5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B7F34F-CA9C-50D8-2948-423CD01B12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8067FE-71A7-E0B3-363A-CB3C20321E72}"/>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5AF93DAC-1B71-46EB-CBCE-F948BC7979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642578-23EB-BCF7-4EDA-5BB4FA30DC78}"/>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4144349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89C6B3-9122-F434-14B8-C01DAAC4FF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CE003A1-3EB6-46E0-AC86-3C3CC3941C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9B38E6-63DB-8063-EB46-091C8CE305E1}"/>
              </a:ext>
            </a:extLst>
          </p:cNvPr>
          <p:cNvSpPr>
            <a:spLocks noGrp="1"/>
          </p:cNvSpPr>
          <p:nvPr>
            <p:ph type="dt" sz="half" idx="10"/>
          </p:nvPr>
        </p:nvSpPr>
        <p:spPr/>
        <p:txBody>
          <a:body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36903AAB-21A4-C1E0-0423-5BFACCC822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7A82DE-BC2C-B2AC-AB00-06E95AF832A7}"/>
              </a:ext>
            </a:extLst>
          </p:cNvPr>
          <p:cNvSpPr>
            <a:spLocks noGrp="1"/>
          </p:cNvSpPr>
          <p:nvPr>
            <p:ph type="sldNum" sz="quarter" idx="12"/>
          </p:nvPr>
        </p:nvSpPr>
        <p:spPr/>
        <p:txBody>
          <a:bodyPr/>
          <a:lstStyle/>
          <a:p>
            <a:fld id="{C7DF46FF-E306-45C9-A1FA-466F21B566F2}" type="slidenum">
              <a:rPr lang="en-GB" smtClean="0"/>
              <a:t>‹#›</a:t>
            </a:fld>
            <a:endParaRPr lang="en-GB"/>
          </a:p>
        </p:txBody>
      </p:sp>
    </p:spTree>
    <p:extLst>
      <p:ext uri="{BB962C8B-B14F-4D97-AF65-F5344CB8AC3E}">
        <p14:creationId xmlns:p14="http://schemas.microsoft.com/office/powerpoint/2010/main" val="1650029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D33EC3-8FA2-B36A-DB58-E8E8F26AAB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7270D2C-E1E1-20EB-5EA3-BA154796C8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F3A385-B137-81A4-5658-EC97A63EA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34517F-5F2D-402E-A04E-59297B475850}" type="datetimeFigureOut">
              <a:rPr lang="en-GB" smtClean="0"/>
              <a:t>17/02/2025</a:t>
            </a:fld>
            <a:endParaRPr lang="en-GB"/>
          </a:p>
        </p:txBody>
      </p:sp>
      <p:sp>
        <p:nvSpPr>
          <p:cNvPr id="5" name="Footer Placeholder 4">
            <a:extLst>
              <a:ext uri="{FF2B5EF4-FFF2-40B4-BE49-F238E27FC236}">
                <a16:creationId xmlns:a16="http://schemas.microsoft.com/office/drawing/2014/main" id="{6C95B5D6-C12D-21D8-9E5D-F6EC2685E3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9C1E05C-64BB-DBF0-C4CA-988CE6CBF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DF46FF-E306-45C9-A1FA-466F21B566F2}" type="slidenum">
              <a:rPr lang="en-GB" smtClean="0"/>
              <a:t>‹#›</a:t>
            </a:fld>
            <a:endParaRPr lang="en-GB"/>
          </a:p>
        </p:txBody>
      </p:sp>
    </p:spTree>
    <p:extLst>
      <p:ext uri="{BB962C8B-B14F-4D97-AF65-F5344CB8AC3E}">
        <p14:creationId xmlns:p14="http://schemas.microsoft.com/office/powerpoint/2010/main" val="335957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3B1F6-98E2-6C8C-5D76-9E9DE801DE87}"/>
              </a:ext>
            </a:extLst>
          </p:cNvPr>
          <p:cNvSpPr>
            <a:spLocks noGrp="1"/>
          </p:cNvSpPr>
          <p:nvPr>
            <p:ph type="ctrTitle"/>
          </p:nvPr>
        </p:nvSpPr>
        <p:spPr/>
        <p:txBody>
          <a:bodyPr>
            <a:normAutofit fontScale="90000"/>
          </a:bodyPr>
          <a:lstStyle/>
          <a:p>
            <a:r>
              <a:rPr lang="en-US" dirty="0">
                <a:latin typeface="Arial" panose="020B0604020202020204" pitchFamily="34" charset="0"/>
                <a:cs typeface="Arial" panose="020B0604020202020204" pitchFamily="34" charset="0"/>
              </a:rPr>
              <a:t>Introduction to Probability and Statistics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4CM521</a:t>
            </a:r>
            <a:endParaRPr lang="en-GB" dirty="0"/>
          </a:p>
        </p:txBody>
      </p:sp>
      <p:sp>
        <p:nvSpPr>
          <p:cNvPr id="3" name="Subtitle 2">
            <a:extLst>
              <a:ext uri="{FF2B5EF4-FFF2-40B4-BE49-F238E27FC236}">
                <a16:creationId xmlns:a16="http://schemas.microsoft.com/office/drawing/2014/main" id="{771AD81C-CA4B-58F8-B51E-29E6F52D263B}"/>
              </a:ext>
            </a:extLst>
          </p:cNvPr>
          <p:cNvSpPr>
            <a:spLocks noGrp="1"/>
          </p:cNvSpPr>
          <p:nvPr>
            <p:ph type="subTitle" idx="1"/>
          </p:nvPr>
        </p:nvSpPr>
        <p:spPr/>
        <p:txBody>
          <a:bodyPr>
            <a:normAutofit/>
          </a:bodyPr>
          <a:lstStyle/>
          <a:p>
            <a:r>
              <a:rPr lang="en-US" sz="5400" dirty="0">
                <a:latin typeface="Arial" panose="020B0604020202020204" pitchFamily="34" charset="0"/>
                <a:cs typeface="Arial" panose="020B0604020202020204" pitchFamily="34" charset="0"/>
              </a:rPr>
              <a:t>Discrete Probability Distributions</a:t>
            </a:r>
            <a:endParaRPr lang="en-GB"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6216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3C47-F18C-1096-72C3-BDCB2F480709}"/>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4B26986F-7BD4-5C9D-B93F-760531E3FCB7}"/>
              </a:ext>
            </a:extLst>
          </p:cNvPr>
          <p:cNvSpPr>
            <a:spLocks noGrp="1"/>
          </p:cNvSpPr>
          <p:nvPr>
            <p:ph idx="1"/>
          </p:nvPr>
        </p:nvSpPr>
        <p:spPr/>
        <p:txBody>
          <a:bodyPr/>
          <a:lstStyle/>
          <a:p>
            <a:pPr marL="0" indent="0">
              <a:spcBef>
                <a:spcPts val="0"/>
              </a:spcBef>
              <a:spcAft>
                <a:spcPts val="600"/>
              </a:spcAft>
              <a:buNone/>
            </a:pPr>
            <a:r>
              <a:rPr lang="en-US" sz="1800" b="0" i="0" u="none" strike="noStrike" baseline="0" dirty="0">
                <a:solidFill>
                  <a:srgbClr val="000000"/>
                </a:solidFill>
                <a:latin typeface="Arial" panose="020B0604020202020204" pitchFamily="34" charset="0"/>
              </a:rPr>
              <a:t>At the end of this section, you must be able to: </a:t>
            </a:r>
          </a:p>
          <a:p>
            <a:pPr>
              <a:spcBef>
                <a:spcPts val="0"/>
              </a:spcBef>
              <a:spcAft>
                <a:spcPts val="600"/>
              </a:spcAft>
            </a:pPr>
            <a:r>
              <a:rPr lang="en-US" dirty="0">
                <a:solidFill>
                  <a:srgbClr val="000000"/>
                </a:solidFill>
              </a:rPr>
              <a:t>T</a:t>
            </a:r>
            <a:r>
              <a:rPr lang="en-US" sz="1800" b="0" i="0" u="none" strike="noStrike" baseline="0" dirty="0">
                <a:solidFill>
                  <a:srgbClr val="000000"/>
                </a:solidFill>
                <a:latin typeface="Arial" panose="020B0604020202020204" pitchFamily="34" charset="0"/>
              </a:rPr>
              <a:t>o grasp the fundamental concepts of discrete probability distributions, including the definition of random variables, probability mass functions (PMFs), and cumulative distribution functions (CDFs). </a:t>
            </a:r>
          </a:p>
          <a:p>
            <a:pPr>
              <a:spcBef>
                <a:spcPts val="0"/>
              </a:spcBef>
              <a:spcAft>
                <a:spcPts val="600"/>
              </a:spcAft>
            </a:pPr>
            <a:r>
              <a:rPr lang="en-US" sz="1800" b="0" i="0" u="none" strike="noStrike" baseline="0" dirty="0">
                <a:solidFill>
                  <a:srgbClr val="000000"/>
                </a:solidFill>
                <a:latin typeface="Arial" panose="020B0604020202020204" pitchFamily="34" charset="0"/>
              </a:rPr>
              <a:t>To apply probability formulas to solve problems involving discrete probability distributions, such as calculating expected values, variances, and standard deviations. </a:t>
            </a:r>
          </a:p>
          <a:p>
            <a:pPr>
              <a:spcBef>
                <a:spcPts val="0"/>
              </a:spcBef>
              <a:spcAft>
                <a:spcPts val="600"/>
              </a:spcAft>
            </a:pPr>
            <a:r>
              <a:rPr lang="en-US" dirty="0">
                <a:solidFill>
                  <a:srgbClr val="000000"/>
                </a:solidFill>
              </a:rPr>
              <a:t>T</a:t>
            </a:r>
            <a:r>
              <a:rPr lang="en-US" sz="1800" b="0" i="0" u="none" strike="noStrike" baseline="0" dirty="0">
                <a:solidFill>
                  <a:srgbClr val="000000"/>
                </a:solidFill>
                <a:latin typeface="Arial" panose="020B0604020202020204" pitchFamily="34" charset="0"/>
              </a:rPr>
              <a:t>o interpret the results of probability distributions in real-world contexts </a:t>
            </a:r>
          </a:p>
          <a:p>
            <a:pPr marL="0" indent="0">
              <a:spcBef>
                <a:spcPts val="0"/>
              </a:spcBef>
              <a:spcAft>
                <a:spcPts val="600"/>
              </a:spcAft>
              <a:buNone/>
            </a:pPr>
            <a:endParaRPr lang="en-GB" sz="1800" b="0" i="0" u="none" strike="noStrik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3071382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48848-AA3B-7E22-93D6-9D456925248A}"/>
              </a:ext>
            </a:extLst>
          </p:cNvPr>
          <p:cNvSpPr>
            <a:spLocks noGrp="1"/>
          </p:cNvSpPr>
          <p:nvPr>
            <p:ph type="title"/>
          </p:nvPr>
        </p:nvSpPr>
        <p:spPr/>
        <p:txBody>
          <a:bodyPr/>
          <a:lstStyle/>
          <a:p>
            <a:r>
              <a:rPr lang="en-US" dirty="0"/>
              <a:t>Introduction</a:t>
            </a:r>
            <a:endParaRPr lang="en-GB" dirty="0"/>
          </a:p>
        </p:txBody>
      </p:sp>
      <p:sp>
        <p:nvSpPr>
          <p:cNvPr id="3" name="Content Placeholder 2">
            <a:extLst>
              <a:ext uri="{FF2B5EF4-FFF2-40B4-BE49-F238E27FC236}">
                <a16:creationId xmlns:a16="http://schemas.microsoft.com/office/drawing/2014/main" id="{1D3A97ED-2B06-449C-1F1C-13725F729356}"/>
              </a:ext>
            </a:extLst>
          </p:cNvPr>
          <p:cNvSpPr>
            <a:spLocks noGrp="1"/>
          </p:cNvSpPr>
          <p:nvPr>
            <p:ph idx="1"/>
          </p:nvPr>
        </p:nvSpPr>
        <p:spPr/>
        <p:txBody>
          <a:bodyPr/>
          <a:lstStyle/>
          <a:p>
            <a:r>
              <a:rPr lang="en-US" dirty="0"/>
              <a:t>Often the observations generated by different statistical experiments have the same general type of behavior.</a:t>
            </a:r>
          </a:p>
          <a:p>
            <a:r>
              <a:rPr lang="en-US" dirty="0"/>
              <a:t>In fact, one needs just a handful of important probability distributions to describe many of the discrete random variables encountered in practice.</a:t>
            </a:r>
          </a:p>
          <a:p>
            <a:r>
              <a:rPr lang="en-US" dirty="0"/>
              <a:t>We are going to study some of them…</a:t>
            </a:r>
            <a:endParaRPr lang="en-GB" dirty="0"/>
          </a:p>
        </p:txBody>
      </p:sp>
    </p:spTree>
    <p:extLst>
      <p:ext uri="{BB962C8B-B14F-4D97-AF65-F5344CB8AC3E}">
        <p14:creationId xmlns:p14="http://schemas.microsoft.com/office/powerpoint/2010/main" val="1865812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561B-3C0A-3992-6BF0-7EE4F172EDCB}"/>
              </a:ext>
            </a:extLst>
          </p:cNvPr>
          <p:cNvSpPr>
            <a:spLocks noGrp="1"/>
          </p:cNvSpPr>
          <p:nvPr>
            <p:ph type="title"/>
          </p:nvPr>
        </p:nvSpPr>
        <p:spPr/>
        <p:txBody>
          <a:bodyPr/>
          <a:lstStyle/>
          <a:p>
            <a:r>
              <a:rPr lang="en-US" dirty="0"/>
              <a:t>Discrete Uniform Distribution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2D1376-8473-A82B-814C-B574A97D2033}"/>
                  </a:ext>
                </a:extLst>
              </p:cNvPr>
              <p:cNvSpPr>
                <a:spLocks noGrp="1"/>
              </p:cNvSpPr>
              <p:nvPr>
                <p:ph idx="1"/>
              </p:nvPr>
            </p:nvSpPr>
            <p:spPr/>
            <p:txBody>
              <a:bodyPr/>
              <a:lstStyle/>
              <a:p>
                <a:pPr marL="0" indent="0">
                  <a:lnSpc>
                    <a:spcPct val="100000"/>
                  </a:lnSpc>
                  <a:spcAft>
                    <a:spcPts val="800"/>
                  </a:spcAft>
                  <a:buNone/>
                </a:pPr>
                <a14:m>
                  <m:oMath xmlns:m="http://schemas.openxmlformats.org/officeDocument/2006/math">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𝔻𝔽</m:t>
                    </m:r>
                  </m:oMath>
                </a14:m>
                <a:r>
                  <a:rPr lang="en-US" kern="100" dirty="0">
                    <a:effectLst/>
                    <a:ea typeface="Calibri" panose="020F0502020204030204" pitchFamily="34" charset="0"/>
                  </a:rPr>
                  <a:t>: If the random variable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oMath>
                </a14:m>
                <a:r>
                  <a:rPr lang="en-US" kern="100" dirty="0">
                    <a:effectLst/>
                    <a:ea typeface="Calibri" panose="020F0502020204030204" pitchFamily="34" charset="0"/>
                  </a:rPr>
                  <a:t> assumes the values </a:t>
                </a:r>
                <a14:m>
                  <m:oMath xmlns:m="http://schemas.openxmlformats.org/officeDocument/2006/math">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𝑁</m:t>
                        </m:r>
                      </m:sub>
                    </m:sSub>
                  </m:oMath>
                </a14:m>
                <a:r>
                  <a:rPr lang="en-US" kern="100" dirty="0">
                    <a:effectLst/>
                    <a:ea typeface="Times New Roman" panose="02020603050405020304" pitchFamily="18" charset="0"/>
                  </a:rPr>
                  <a:t> with equal probabilities, then the discrete uniform distribution is given by:</a:t>
                </a:r>
                <a:endParaRPr lang="en-GB" kern="100" dirty="0">
                  <a:effectLst/>
                  <a:ea typeface="Calibri" panose="020F0502020204030204" pitchFamily="34" charset="0"/>
                </a:endParaRPr>
              </a:p>
              <a:p>
                <a:pPr marL="0" indent="0">
                  <a:lnSpc>
                    <a:spcPct val="10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num>
                        <m:den>
                          <m:r>
                            <a:rPr lang="en-US" i="1" kern="100">
                              <a:effectLst/>
                              <a:latin typeface="Cambria Math" panose="02040503050406030204" pitchFamily="18" charset="0"/>
                              <a:ea typeface="Calibri" panose="020F0502020204030204" pitchFamily="34" charset="0"/>
                              <a:cs typeface="Times New Roman" panose="02020603050405020304" pitchFamily="18" charset="0"/>
                            </a:rPr>
                            <m:t>𝑁</m:t>
                          </m:r>
                        </m:den>
                      </m:f>
                    </m:oMath>
                  </m:oMathPara>
                </a14:m>
                <a:endParaRPr lang="en-GB" kern="100" dirty="0">
                  <a:effectLst/>
                  <a:ea typeface="Calibri" panose="020F0502020204030204" pitchFamily="34" charset="0"/>
                </a:endParaRPr>
              </a:p>
              <a:p>
                <a:pPr marL="0" indent="0">
                  <a:lnSpc>
                    <a:spcPct val="100000"/>
                  </a:lnSpc>
                  <a:spcAft>
                    <a:spcPts val="800"/>
                  </a:spcAft>
                  <a:buNone/>
                </a:pPr>
                <a:r>
                  <a:rPr lang="en-US" kern="100" dirty="0">
                    <a:effectLst/>
                    <a:ea typeface="Times New Roman" panose="02020603050405020304" pitchFamily="18" charset="0"/>
                  </a:rPr>
                  <a:t>where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m:t>
                        </m:r>
                      </m:sub>
                    </m:sSub>
                  </m:oMath>
                </a14:m>
                <a:r>
                  <a:rPr lang="en-US" kern="100" dirty="0">
                    <a:effectLst/>
                    <a:ea typeface="Times New Roman" panose="02020603050405020304" pitchFamily="18" charset="0"/>
                  </a:rPr>
                  <a:t>. Usually, the following notation is used to indicate that the uniform distribution depends on parameter </a:t>
                </a:r>
                <a14:m>
                  <m:oMath xmlns:m="http://schemas.openxmlformats.org/officeDocument/2006/math">
                    <m:r>
                      <m:rPr>
                        <m:sty m:val="p"/>
                      </m:rPr>
                      <a:rPr lang="en-GB" b="0" i="0" kern="100" smtClean="0">
                        <a:effectLst/>
                        <a:latin typeface="Cambria Math" panose="02040503050406030204" pitchFamily="18" charset="0"/>
                        <a:ea typeface="Times New Roman" panose="02020603050405020304" pitchFamily="18" charset="0"/>
                        <a:cs typeface="Times New Roman" panose="02020603050405020304" pitchFamily="18" charset="0"/>
                      </a:rPr>
                      <m:t>N</m:t>
                    </m:r>
                    <m:r>
                      <a:rPr lang="en-GB" b="0" i="0" kern="10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𝑈</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m:t>
                        </m:r>
                      </m:e>
                    </m:d>
                  </m:oMath>
                </a14:m>
                <a:r>
                  <a:rPr lang="en-US" kern="100" dirty="0">
                    <a:effectLst/>
                    <a:ea typeface="Times New Roman" panose="02020603050405020304" pitchFamily="18" charset="0"/>
                  </a:rPr>
                  <a:t>.</a:t>
                </a:r>
                <a:endParaRPr lang="en-GB"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172D1376-8473-A82B-814C-B574A97D2033}"/>
                  </a:ext>
                </a:extLst>
              </p:cNvPr>
              <p:cNvSpPr>
                <a:spLocks noGrp="1" noRot="1" noChangeAspect="1" noMove="1" noResize="1" noEditPoints="1" noAdjustHandles="1" noChangeArrowheads="1" noChangeShapeType="1" noTextEdit="1"/>
              </p:cNvSpPr>
              <p:nvPr>
                <p:ph idx="1"/>
              </p:nvPr>
            </p:nvSpPr>
            <p:spPr>
              <a:blipFill>
                <a:blip r:embed="rId2"/>
                <a:stretch>
                  <a:fillRect l="-522" t="-700"/>
                </a:stretch>
              </a:blipFill>
            </p:spPr>
            <p:txBody>
              <a:bodyPr/>
              <a:lstStyle/>
              <a:p>
                <a:r>
                  <a:rPr lang="en-GB">
                    <a:noFill/>
                  </a:rPr>
                  <a:t> </a:t>
                </a:r>
              </a:p>
            </p:txBody>
          </p:sp>
        </mc:Fallback>
      </mc:AlternateContent>
    </p:spTree>
    <p:extLst>
      <p:ext uri="{BB962C8B-B14F-4D97-AF65-F5344CB8AC3E}">
        <p14:creationId xmlns:p14="http://schemas.microsoft.com/office/powerpoint/2010/main" val="3326352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E180-805D-34D2-83A0-F0E289982C7B}"/>
              </a:ext>
            </a:extLst>
          </p:cNvPr>
          <p:cNvSpPr>
            <a:spLocks noGrp="1"/>
          </p:cNvSpPr>
          <p:nvPr>
            <p:ph type="title"/>
          </p:nvPr>
        </p:nvSpPr>
        <p:spPr/>
        <p:txBody>
          <a:bodyPr/>
          <a:lstStyle/>
          <a:p>
            <a:r>
              <a:rPr lang="en-US" dirty="0"/>
              <a:t>Statistical properties of the discrete uniform distribution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5ECC34-7D7F-B93B-F779-FCAF987536E0}"/>
                  </a:ext>
                </a:extLst>
              </p:cNvPr>
              <p:cNvSpPr>
                <a:spLocks noGrp="1"/>
              </p:cNvSpPr>
              <p:nvPr>
                <p:ph idx="1"/>
              </p:nvPr>
            </p:nvSpPr>
            <p:spPr/>
            <p:txBody>
              <a:bodyPr>
                <a:normAutofit/>
              </a:bodyPr>
              <a:lstStyle/>
              <a:p>
                <a:pPr marL="0" indent="0">
                  <a:lnSpc>
                    <a:spcPct val="120000"/>
                  </a:lnSpc>
                  <a:spcAft>
                    <a:spcPts val="800"/>
                  </a:spcAft>
                  <a:buNone/>
                </a:pPr>
                <a:r>
                  <a:rPr lang="en-US" kern="100" dirty="0">
                    <a:effectLst/>
                    <a:ea typeface="Times New Roman" panose="02020603050405020304" pitchFamily="18" charset="0"/>
                  </a:rPr>
                  <a:t>The mean of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𝑈</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m:t>
                        </m:r>
                      </m:e>
                    </m:d>
                  </m:oMath>
                </a14:m>
                <a:r>
                  <a:rPr lang="en-US" kern="100" dirty="0">
                    <a:effectLst/>
                    <a:ea typeface="Times New Roman" panose="02020603050405020304" pitchFamily="18" charset="0"/>
                  </a:rPr>
                  <a:t> is:</a:t>
                </a:r>
                <a:endParaRPr lang="en-GB" kern="100" dirty="0">
                  <a:effectLst/>
                  <a:ea typeface="Calibri" panose="020F0502020204030204" pitchFamily="34" charset="0"/>
                </a:endParaRPr>
              </a:p>
              <a:p>
                <a:pPr marL="0" indent="0">
                  <a:lnSpc>
                    <a:spcPct val="12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𝜇</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num>
                        <m:den>
                          <m:r>
                            <a:rPr lang="en-US" i="1" kern="100">
                              <a:effectLst/>
                              <a:latin typeface="Cambria Math" panose="02040503050406030204" pitchFamily="18" charset="0"/>
                              <a:ea typeface="Calibri" panose="020F0502020204030204" pitchFamily="34" charset="0"/>
                              <a:cs typeface="Times New Roman" panose="02020603050405020304" pitchFamily="18" charset="0"/>
                            </a:rPr>
                            <m:t>𝑁</m:t>
                          </m:r>
                        </m:den>
                      </m:f>
                      <m:nary>
                        <m:naryPr>
                          <m:chr m:val="∑"/>
                          <m:limLoc m:val="undOv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𝑁</m:t>
                          </m:r>
                        </m:sup>
                        <m:e>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sub>
                          </m:sSub>
                        </m:e>
                      </m:nary>
                    </m:oMath>
                  </m:oMathPara>
                </a14:m>
                <a:endParaRPr lang="en-GB" kern="100" dirty="0">
                  <a:effectLst/>
                  <a:ea typeface="Calibri" panose="020F0502020204030204" pitchFamily="34" charset="0"/>
                </a:endParaRPr>
              </a:p>
              <a:p>
                <a:pPr marL="0" indent="0">
                  <a:lnSpc>
                    <a:spcPct val="120000"/>
                  </a:lnSpc>
                  <a:spcAft>
                    <a:spcPts val="800"/>
                  </a:spcAft>
                  <a:buNone/>
                </a:pPr>
                <a:r>
                  <a:rPr lang="en-US" kern="100" dirty="0">
                    <a:effectLst/>
                    <a:ea typeface="Times New Roman" panose="02020603050405020304" pitchFamily="18" charset="0"/>
                  </a:rPr>
                  <a:t>The variance of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𝑈</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m:t>
                        </m:r>
                      </m:e>
                    </m:d>
                  </m:oMath>
                </a14:m>
                <a:r>
                  <a:rPr lang="en-US" kern="100" dirty="0">
                    <a:effectLst/>
                    <a:ea typeface="Times New Roman" panose="02020603050405020304" pitchFamily="18" charset="0"/>
                  </a:rPr>
                  <a:t> is: </a:t>
                </a:r>
                <a:endParaRPr lang="en-GB" kern="100" dirty="0">
                  <a:effectLst/>
                  <a:ea typeface="Calibri" panose="020F0502020204030204" pitchFamily="34" charset="0"/>
                </a:endParaRPr>
              </a:p>
              <a:p>
                <a:pPr marL="0" indent="0">
                  <a:lnSpc>
                    <a:spcPct val="120000"/>
                  </a:lnSpc>
                  <a:spcAft>
                    <a:spcPts val="800"/>
                  </a:spcAft>
                  <a:buNone/>
                </a:pPr>
                <a14:m>
                  <m:oMathPara xmlns:m="http://schemas.openxmlformats.org/officeDocument/2006/math">
                    <m:oMathParaPr>
                      <m:jc m:val="centerGroup"/>
                    </m:oMathParaPr>
                    <m:oMath xmlns:m="http://schemas.openxmlformats.org/officeDocument/2006/math">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𝜎</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m:t>
                          </m:r>
                        </m:den>
                      </m:f>
                      <m:nary>
                        <m:naryPr>
                          <m:chr m:val="∑"/>
                          <m:limLoc m:val="undOv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𝑁</m:t>
                          </m:r>
                        </m:sup>
                        <m:e>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𝑖</m:t>
                              </m:r>
                            </m:sub>
                          </m:sSub>
                        </m:e>
                      </m:nary>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𝜇</m:t>
                      </m:r>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GB"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7B5ECC34-7D7F-B93B-F779-FCAF987536E0}"/>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GB">
                    <a:noFill/>
                  </a:rPr>
                  <a:t> </a:t>
                </a:r>
              </a:p>
            </p:txBody>
          </p:sp>
        </mc:Fallback>
      </mc:AlternateContent>
    </p:spTree>
    <p:extLst>
      <p:ext uri="{BB962C8B-B14F-4D97-AF65-F5344CB8AC3E}">
        <p14:creationId xmlns:p14="http://schemas.microsoft.com/office/powerpoint/2010/main" val="1810336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5BD5AA-6CD9-10C5-6F60-C5FF6D8B1D81}"/>
              </a:ext>
            </a:extLst>
          </p:cNvPr>
          <p:cNvSpPr>
            <a:spLocks noGrp="1"/>
          </p:cNvSpPr>
          <p:nvPr>
            <p:ph idx="1"/>
          </p:nvPr>
        </p:nvSpPr>
        <p:spPr>
          <a:xfrm>
            <a:off x="838200" y="1472184"/>
            <a:ext cx="10515600" cy="1417319"/>
          </a:xfrm>
        </p:spPr>
        <p:txBody>
          <a:bodyPr>
            <a:normAutofit/>
          </a:bodyPr>
          <a:lstStyle/>
          <a:p>
            <a:pPr marL="0" indent="0">
              <a:lnSpc>
                <a:spcPct val="100000"/>
              </a:lnSpc>
              <a:buNone/>
            </a:pPr>
            <a:r>
              <a:rPr lang="en-US" b="1" kern="100" dirty="0">
                <a:effectLst/>
                <a:ea typeface="Times New Roman" panose="02020603050405020304" pitchFamily="18" charset="0"/>
              </a:rPr>
              <a:t>Example 7.1. </a:t>
            </a:r>
            <a:r>
              <a:rPr lang="en-US" kern="100" dirty="0">
                <a:effectLst/>
                <a:ea typeface="Calibri" panose="020F0502020204030204" pitchFamily="34" charset="0"/>
              </a:rPr>
              <a:t>A classic example of a discrete uniform distribution is rolling a fair six-sided die. In this case there are six possible outcomes: 1, 2, 3, 4, 5 and 6. Each outcome has a probability of 1/6 of occurring when the die is rolled. The probability of getting any particular number on the die is the same for all numbers. See below the probability distribution table for rolling a fair six-sided die:</a:t>
            </a:r>
            <a:endParaRPr lang="en-GB" kern="100" dirty="0">
              <a:effectLst/>
              <a:ea typeface="Calibri" panose="020F0502020204030204" pitchFamily="34" charset="0"/>
            </a:endParaRPr>
          </a:p>
          <a:p>
            <a:pPr marL="0" indent="0">
              <a:buNone/>
            </a:pPr>
            <a:endParaRPr lang="en-GB" dirty="0"/>
          </a:p>
        </p:txBody>
      </p:sp>
      <p:graphicFrame>
        <p:nvGraphicFramePr>
          <p:cNvPr id="9" name="Table 8">
            <a:extLst>
              <a:ext uri="{FF2B5EF4-FFF2-40B4-BE49-F238E27FC236}">
                <a16:creationId xmlns:a16="http://schemas.microsoft.com/office/drawing/2014/main" id="{BCB6E42D-2A09-9C6B-C559-26C409F05BCA}"/>
              </a:ext>
            </a:extLst>
          </p:cNvPr>
          <p:cNvGraphicFramePr>
            <a:graphicFrameLocks noGrp="1"/>
          </p:cNvGraphicFramePr>
          <p:nvPr>
            <p:extLst>
              <p:ext uri="{D42A27DB-BD31-4B8C-83A1-F6EECF244321}">
                <p14:modId xmlns:p14="http://schemas.microsoft.com/office/powerpoint/2010/main" val="2882142346"/>
              </p:ext>
            </p:extLst>
          </p:nvPr>
        </p:nvGraphicFramePr>
        <p:xfrm>
          <a:off x="3953486" y="3081162"/>
          <a:ext cx="3297706" cy="3109329"/>
        </p:xfrm>
        <a:graphic>
          <a:graphicData uri="http://schemas.openxmlformats.org/drawingml/2006/table">
            <a:tbl>
              <a:tblPr firstRow="1" firstCol="1" bandRow="1">
                <a:tableStyleId>{073A0DAA-6AF3-43AB-8588-CEC1D06C72B9}</a:tableStyleId>
              </a:tblPr>
              <a:tblGrid>
                <a:gridCol w="1648853">
                  <a:extLst>
                    <a:ext uri="{9D8B030D-6E8A-4147-A177-3AD203B41FA5}">
                      <a16:colId xmlns:a16="http://schemas.microsoft.com/office/drawing/2014/main" val="3784792432"/>
                    </a:ext>
                  </a:extLst>
                </a:gridCol>
                <a:gridCol w="1648853">
                  <a:extLst>
                    <a:ext uri="{9D8B030D-6E8A-4147-A177-3AD203B41FA5}">
                      <a16:colId xmlns:a16="http://schemas.microsoft.com/office/drawing/2014/main" val="3426901295"/>
                    </a:ext>
                  </a:extLst>
                </a:gridCol>
              </a:tblGrid>
              <a:tr h="309351">
                <a:tc>
                  <a:txBody>
                    <a:bodyPr/>
                    <a:lstStyle/>
                    <a:p>
                      <a:pPr algn="ctr">
                        <a:lnSpc>
                          <a:spcPct val="100000"/>
                        </a:lnSpc>
                        <a:spcAft>
                          <a:spcPts val="800"/>
                        </a:spcAft>
                      </a:pPr>
                      <a:r>
                        <a:rPr lang="en-US" sz="1800" kern="100">
                          <a:solidFill>
                            <a:schemeClr val="tx1"/>
                          </a:solidFill>
                          <a:effectLst/>
                          <a:latin typeface="Arial" panose="020B0604020202020204" pitchFamily="34" charset="0"/>
                          <a:cs typeface="Arial" panose="020B0604020202020204" pitchFamily="34" charset="0"/>
                        </a:rPr>
                        <a:t>Outcome</a:t>
                      </a:r>
                      <a:endParaRPr lang="en-GB" sz="1800" kern="1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Probability</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1667753"/>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a:t>
                      </a:r>
                      <a:endParaRPr lang="en-GB" sz="1800" kern="100" dirty="0">
                        <a:solidFill>
                          <a:schemeClr val="tx1"/>
                        </a:solidFill>
                        <a:effectLst/>
                        <a:latin typeface="Arial" panose="020B060402020202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1/6</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5929752"/>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2</a:t>
                      </a: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1/6</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9203118"/>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3</a:t>
                      </a:r>
                      <a:endParaRPr lang="en-GB" sz="1800" kern="100" dirty="0">
                        <a:solidFill>
                          <a:schemeClr val="tx1"/>
                        </a:solidFill>
                        <a:effectLst/>
                        <a:latin typeface="Arial" panose="020B060402020202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1/6</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7385700"/>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4</a:t>
                      </a:r>
                      <a:endParaRPr lang="en-GB" sz="1800" kern="100" dirty="0">
                        <a:solidFill>
                          <a:schemeClr val="tx1"/>
                        </a:solidFill>
                        <a:effectLst/>
                        <a:latin typeface="Arial" panose="020B060402020202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1/6</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1640334"/>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5</a:t>
                      </a:r>
                      <a:endParaRPr lang="en-GB" sz="1800" kern="100" dirty="0">
                        <a:solidFill>
                          <a:schemeClr val="tx1"/>
                        </a:solidFill>
                        <a:effectLst/>
                        <a:latin typeface="Arial" panose="020B060402020202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a:solidFill>
                            <a:schemeClr val="tx1"/>
                          </a:solidFill>
                          <a:effectLst/>
                          <a:latin typeface="Arial" panose="020B0604020202020204" pitchFamily="34" charset="0"/>
                          <a:cs typeface="Arial" panose="020B0604020202020204" pitchFamily="34" charset="0"/>
                        </a:rPr>
                        <a:t>1/6</a:t>
                      </a:r>
                      <a:endParaRPr lang="en-GB" sz="1800" kern="1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934928"/>
                  </a:ext>
                </a:extLst>
              </a:tr>
              <a:tr h="466663">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6</a:t>
                      </a: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spcAft>
                          <a:spcPts val="800"/>
                        </a:spcAft>
                      </a:pPr>
                      <a:r>
                        <a:rPr lang="en-US" sz="1800" kern="100" dirty="0">
                          <a:solidFill>
                            <a:schemeClr val="tx1"/>
                          </a:solidFill>
                          <a:effectLst/>
                          <a:latin typeface="Arial" panose="020B0604020202020204" pitchFamily="34" charset="0"/>
                          <a:cs typeface="Arial" panose="020B0604020202020204" pitchFamily="34" charset="0"/>
                        </a:rPr>
                        <a:t>1/6</a:t>
                      </a:r>
                      <a:endParaRPr lang="en-GB" sz="180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3391115"/>
                  </a:ext>
                </a:extLst>
              </a:tr>
            </a:tbl>
          </a:graphicData>
        </a:graphic>
      </p:graphicFrame>
      <p:sp>
        <p:nvSpPr>
          <p:cNvPr id="2" name="Title 1">
            <a:extLst>
              <a:ext uri="{FF2B5EF4-FFF2-40B4-BE49-F238E27FC236}">
                <a16:creationId xmlns:a16="http://schemas.microsoft.com/office/drawing/2014/main" id="{939175B9-2C1E-16A7-8930-38C1E924A624}"/>
              </a:ext>
            </a:extLst>
          </p:cNvPr>
          <p:cNvSpPr>
            <a:spLocks noGrp="1"/>
          </p:cNvSpPr>
          <p:nvPr>
            <p:ph type="title"/>
          </p:nvPr>
        </p:nvSpPr>
        <p:spPr>
          <a:xfrm>
            <a:off x="838200" y="365125"/>
            <a:ext cx="10515600" cy="1325563"/>
          </a:xfrm>
        </p:spPr>
        <p:txBody>
          <a:bodyPr/>
          <a:lstStyle/>
          <a:p>
            <a:r>
              <a:rPr lang="en-US" dirty="0"/>
              <a:t>Example 7.1</a:t>
            </a:r>
            <a:endParaRPr lang="en-GB" dirty="0"/>
          </a:p>
        </p:txBody>
      </p:sp>
    </p:spTree>
    <p:extLst>
      <p:ext uri="{BB962C8B-B14F-4D97-AF65-F5344CB8AC3E}">
        <p14:creationId xmlns:p14="http://schemas.microsoft.com/office/powerpoint/2010/main" val="236028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B71841-0B12-21F6-EBFC-EFFCAFB02BC1}"/>
              </a:ext>
            </a:extLst>
          </p:cNvPr>
          <p:cNvSpPr>
            <a:spLocks noGrp="1"/>
          </p:cNvSpPr>
          <p:nvPr>
            <p:ph idx="1"/>
          </p:nvPr>
        </p:nvSpPr>
        <p:spPr>
          <a:xfrm>
            <a:off x="838200" y="1445097"/>
            <a:ext cx="10515600" cy="868335"/>
          </a:xfrm>
        </p:spPr>
        <p:txBody>
          <a:bodyPr/>
          <a:lstStyle/>
          <a:p>
            <a:pPr marL="0" indent="0">
              <a:buNone/>
            </a:pPr>
            <a:r>
              <a:rPr lang="en-US" kern="100" dirty="0">
                <a:effectLst/>
                <a:ea typeface="Calibri" panose="020F0502020204030204" pitchFamily="34" charset="0"/>
                <a:cs typeface="Times New Roman" panose="02020603050405020304" pitchFamily="18" charset="0"/>
              </a:rPr>
              <a:t>The plot of this is given </a:t>
            </a:r>
            <a:r>
              <a:rPr lang="en-US" kern="100" dirty="0">
                <a:ea typeface="Calibri" panose="020F0502020204030204" pitchFamily="34" charset="0"/>
                <a:cs typeface="Times New Roman" panose="02020603050405020304" pitchFamily="18" charset="0"/>
              </a:rPr>
              <a:t>below</a:t>
            </a:r>
            <a:r>
              <a:rPr lang="en-US" kern="100" dirty="0">
                <a:effectLst/>
                <a:ea typeface="Calibri" panose="020F0502020204030204" pitchFamily="34" charset="0"/>
                <a:cs typeface="Times New Roman" panose="02020603050405020304" pitchFamily="18" charset="0"/>
              </a:rPr>
              <a:t>. The equal bar lengths shows that each outcome has equal probabilities.</a:t>
            </a:r>
            <a:endParaRPr lang="en-GB" kern="100" dirty="0">
              <a:effectLst/>
              <a:ea typeface="Calibri" panose="020F0502020204030204" pitchFamily="34" charset="0"/>
              <a:cs typeface="Times New Roman" panose="02020603050405020304" pitchFamily="18" charset="0"/>
            </a:endParaRPr>
          </a:p>
          <a:p>
            <a:pPr marL="0" indent="0">
              <a:buNone/>
            </a:pPr>
            <a:endParaRPr lang="en-GB" dirty="0"/>
          </a:p>
        </p:txBody>
      </p:sp>
      <p:pic>
        <p:nvPicPr>
          <p:cNvPr id="4" name="Picture 3" descr="A graph showing a number of blue rectangular objects&#10;&#10;Description automatically generated with medium confidence">
            <a:extLst>
              <a:ext uri="{FF2B5EF4-FFF2-40B4-BE49-F238E27FC236}">
                <a16:creationId xmlns:a16="http://schemas.microsoft.com/office/drawing/2014/main" id="{206754C4-5533-DDB8-1E9B-AE8BE502EB96}"/>
              </a:ext>
            </a:extLst>
          </p:cNvPr>
          <p:cNvPicPr>
            <a:picLocks noChangeAspect="1"/>
          </p:cNvPicPr>
          <p:nvPr/>
        </p:nvPicPr>
        <p:blipFill>
          <a:blip r:embed="rId2"/>
          <a:stretch>
            <a:fillRect/>
          </a:stretch>
        </p:blipFill>
        <p:spPr>
          <a:xfrm>
            <a:off x="2166271" y="2313432"/>
            <a:ext cx="6873389" cy="3866186"/>
          </a:xfrm>
          <a:prstGeom prst="rect">
            <a:avLst/>
          </a:prstGeom>
        </p:spPr>
      </p:pic>
      <p:sp>
        <p:nvSpPr>
          <p:cNvPr id="5" name="Title 1">
            <a:extLst>
              <a:ext uri="{FF2B5EF4-FFF2-40B4-BE49-F238E27FC236}">
                <a16:creationId xmlns:a16="http://schemas.microsoft.com/office/drawing/2014/main" id="{393E478C-A913-56A5-3164-49488F7B0541}"/>
              </a:ext>
            </a:extLst>
          </p:cNvPr>
          <p:cNvSpPr>
            <a:spLocks noGrp="1"/>
          </p:cNvSpPr>
          <p:nvPr>
            <p:ph type="title"/>
          </p:nvPr>
        </p:nvSpPr>
        <p:spPr>
          <a:xfrm>
            <a:off x="838200" y="365125"/>
            <a:ext cx="10515600" cy="1325563"/>
          </a:xfrm>
        </p:spPr>
        <p:txBody>
          <a:bodyPr/>
          <a:lstStyle/>
          <a:p>
            <a:r>
              <a:rPr lang="en-US" dirty="0"/>
              <a:t>Example 7.1 (continued)</a:t>
            </a:r>
            <a:endParaRPr lang="en-GB" dirty="0"/>
          </a:p>
        </p:txBody>
      </p:sp>
    </p:spTree>
    <p:extLst>
      <p:ext uri="{BB962C8B-B14F-4D97-AF65-F5344CB8AC3E}">
        <p14:creationId xmlns:p14="http://schemas.microsoft.com/office/powerpoint/2010/main" val="3911510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6CA71-CF48-8E0C-8226-32A2925C95A2}"/>
              </a:ext>
            </a:extLst>
          </p:cNvPr>
          <p:cNvSpPr>
            <a:spLocks noGrp="1"/>
          </p:cNvSpPr>
          <p:nvPr>
            <p:ph type="title"/>
          </p:nvPr>
        </p:nvSpPr>
        <p:spPr/>
        <p:txBody>
          <a:bodyPr/>
          <a:lstStyle/>
          <a:p>
            <a:r>
              <a:rPr lang="en-US" dirty="0"/>
              <a:t>Binomial Distribution</a:t>
            </a:r>
            <a:endParaRPr lang="en-GB" dirty="0"/>
          </a:p>
        </p:txBody>
      </p:sp>
      <p:sp>
        <p:nvSpPr>
          <p:cNvPr id="3" name="Content Placeholder 2">
            <a:extLst>
              <a:ext uri="{FF2B5EF4-FFF2-40B4-BE49-F238E27FC236}">
                <a16:creationId xmlns:a16="http://schemas.microsoft.com/office/drawing/2014/main" id="{AA21D6F1-36FC-BF4B-2BF0-E403A4D2A411}"/>
              </a:ext>
            </a:extLst>
          </p:cNvPr>
          <p:cNvSpPr>
            <a:spLocks noGrp="1"/>
          </p:cNvSpPr>
          <p:nvPr>
            <p:ph idx="1"/>
          </p:nvPr>
        </p:nvSpPr>
        <p:spPr/>
        <p:txBody>
          <a:bodyPr>
            <a:normAutofit/>
          </a:bodyPr>
          <a:lstStyle/>
          <a:p>
            <a:r>
              <a:rPr lang="en-US" kern="100" dirty="0">
                <a:effectLst/>
                <a:ea typeface="Calibri" panose="020F0502020204030204" pitchFamily="34" charset="0"/>
              </a:rPr>
              <a:t>An experiment often consists of repeated trials, each with two possible outcomes that may be labelled as “success” and “failure”. This process is referred to as Bernoulli process and each trial is called a Bernoulli trial.</a:t>
            </a:r>
            <a:endParaRPr lang="en-GB" kern="100" dirty="0">
              <a:effectLst/>
              <a:ea typeface="Calibri" panose="020F0502020204030204" pitchFamily="34" charset="0"/>
            </a:endParaRPr>
          </a:p>
          <a:p>
            <a:r>
              <a:rPr lang="en-US" dirty="0">
                <a:effectLst/>
                <a:ea typeface="Calibri" panose="020F0502020204030204" pitchFamily="34" charset="0"/>
              </a:rPr>
              <a:t>Strictly speaking, </a:t>
            </a:r>
            <a:r>
              <a:rPr lang="en-GB" dirty="0">
                <a:effectLst/>
                <a:ea typeface="Calibri" panose="020F0502020204030204" pitchFamily="34" charset="0"/>
              </a:rPr>
              <a:t>the Bernoulli process must possess the following properties:</a:t>
            </a:r>
          </a:p>
          <a:p>
            <a:pPr lvl="1">
              <a:lnSpc>
                <a:spcPct val="200000"/>
              </a:lnSpc>
              <a:buFont typeface="Courier New" panose="02070309020205020404" pitchFamily="49" charset="0"/>
              <a:buChar char="o"/>
            </a:pPr>
            <a:r>
              <a:rPr lang="en-GB" dirty="0">
                <a:solidFill>
                  <a:srgbClr val="000000"/>
                </a:solidFill>
                <a:effectLst/>
                <a:ea typeface="Calibri" panose="020F0502020204030204" pitchFamily="34" charset="0"/>
              </a:rPr>
              <a:t>the experiment consists of </a:t>
            </a:r>
            <a:r>
              <a:rPr lang="en-GB" i="1" dirty="0">
                <a:solidFill>
                  <a:srgbClr val="000000"/>
                </a:solidFill>
                <a:effectLst/>
                <a:ea typeface="Calibri" panose="020F0502020204030204" pitchFamily="34" charset="0"/>
              </a:rPr>
              <a:t>n </a:t>
            </a:r>
            <a:r>
              <a:rPr lang="en-GB" dirty="0">
                <a:solidFill>
                  <a:srgbClr val="000000"/>
                </a:solidFill>
                <a:effectLst/>
                <a:ea typeface="Calibri" panose="020F0502020204030204" pitchFamily="34" charset="0"/>
              </a:rPr>
              <a:t>repeated trials; </a:t>
            </a:r>
          </a:p>
          <a:p>
            <a:pPr lvl="1">
              <a:lnSpc>
                <a:spcPct val="200000"/>
              </a:lnSpc>
              <a:buFont typeface="Courier New" panose="02070309020205020404" pitchFamily="49" charset="0"/>
              <a:buChar char="o"/>
            </a:pPr>
            <a:r>
              <a:rPr lang="en-GB" dirty="0">
                <a:solidFill>
                  <a:srgbClr val="000000"/>
                </a:solidFill>
                <a:effectLst/>
                <a:ea typeface="Calibri" panose="020F0502020204030204" pitchFamily="34" charset="0"/>
              </a:rPr>
              <a:t>each trial results in an outcome that may be classified as a success or a failure; </a:t>
            </a:r>
          </a:p>
          <a:p>
            <a:pPr lvl="1">
              <a:lnSpc>
                <a:spcPct val="200000"/>
              </a:lnSpc>
              <a:buFont typeface="Courier New" panose="02070309020205020404" pitchFamily="49" charset="0"/>
              <a:buChar char="o"/>
            </a:pPr>
            <a:r>
              <a:rPr lang="en-GB" dirty="0">
                <a:solidFill>
                  <a:srgbClr val="000000"/>
                </a:solidFill>
                <a:effectLst/>
                <a:ea typeface="Calibri" panose="020F0502020204030204" pitchFamily="34" charset="0"/>
              </a:rPr>
              <a:t>the probability of success, </a:t>
            </a:r>
            <a:r>
              <a:rPr lang="en-GB" i="1" dirty="0">
                <a:solidFill>
                  <a:srgbClr val="000000"/>
                </a:solidFill>
                <a:effectLst/>
                <a:ea typeface="Calibri" panose="020F0502020204030204" pitchFamily="34" charset="0"/>
              </a:rPr>
              <a:t>p</a:t>
            </a:r>
            <a:r>
              <a:rPr lang="en-GB" dirty="0">
                <a:solidFill>
                  <a:srgbClr val="000000"/>
                </a:solidFill>
                <a:effectLst/>
                <a:ea typeface="Calibri" panose="020F0502020204030204" pitchFamily="34" charset="0"/>
              </a:rPr>
              <a:t>, remains constant from trial to trial; </a:t>
            </a:r>
          </a:p>
          <a:p>
            <a:pPr lvl="1">
              <a:lnSpc>
                <a:spcPct val="200000"/>
              </a:lnSpc>
              <a:buFont typeface="Courier New" panose="02070309020205020404" pitchFamily="49" charset="0"/>
              <a:buChar char="o"/>
            </a:pPr>
            <a:r>
              <a:rPr lang="en-GB" dirty="0">
                <a:solidFill>
                  <a:srgbClr val="000000"/>
                </a:solidFill>
                <a:effectLst/>
                <a:ea typeface="Calibri" panose="020F0502020204030204" pitchFamily="34" charset="0"/>
              </a:rPr>
              <a:t>the repeated trials are independent. </a:t>
            </a:r>
          </a:p>
          <a:p>
            <a:endParaRPr lang="en-GB" dirty="0"/>
          </a:p>
        </p:txBody>
      </p:sp>
    </p:spTree>
    <p:extLst>
      <p:ext uri="{BB962C8B-B14F-4D97-AF65-F5344CB8AC3E}">
        <p14:creationId xmlns:p14="http://schemas.microsoft.com/office/powerpoint/2010/main" val="3783459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95A52-35BB-8549-1775-F1E9AD008A4B}"/>
              </a:ext>
            </a:extLst>
          </p:cNvPr>
          <p:cNvSpPr>
            <a:spLocks noGrp="1"/>
          </p:cNvSpPr>
          <p:nvPr>
            <p:ph type="title"/>
          </p:nvPr>
        </p:nvSpPr>
        <p:spPr/>
        <p:txBody>
          <a:bodyPr/>
          <a:lstStyle/>
          <a:p>
            <a:r>
              <a:rPr lang="en-US" dirty="0"/>
              <a:t>Definition of the Bernoulli trial</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9E3974-0061-87BF-827D-6A5C4392EA03}"/>
                  </a:ext>
                </a:extLst>
              </p:cNvPr>
              <p:cNvSpPr>
                <a:spLocks noGrp="1"/>
              </p:cNvSpPr>
              <p:nvPr>
                <p:ph idx="1"/>
              </p:nvPr>
            </p:nvSpPr>
            <p:spPr/>
            <p:txBody>
              <a:bodyPr>
                <a:normAutofit/>
              </a:bodyPr>
              <a:lstStyle/>
              <a:p>
                <a:pPr marL="0" indent="0">
                  <a:lnSpc>
                    <a:spcPct val="200000"/>
                  </a:lnSpc>
                  <a:buNone/>
                </a:pPr>
                <a14:m>
                  <m:oMath xmlns:m="http://schemas.openxmlformats.org/officeDocument/2006/math">
                    <m:r>
                      <a:rPr lang="en-US" i="1" smtClean="0">
                        <a:solidFill>
                          <a:srgbClr val="000000"/>
                        </a:solidFill>
                        <a:effectLst/>
                        <a:latin typeface="Cambria Math" panose="02040503050406030204" pitchFamily="18" charset="0"/>
                        <a:ea typeface="Calibri" panose="020F0502020204030204" pitchFamily="34" charset="0"/>
                      </a:rPr>
                      <m:t>𝔻𝔽</m:t>
                    </m:r>
                  </m:oMath>
                </a14:m>
                <a:r>
                  <a:rPr lang="en-GB" dirty="0">
                    <a:solidFill>
                      <a:srgbClr val="000000"/>
                    </a:solidFill>
                    <a:effectLst/>
                    <a:ea typeface="Calibri" panose="020F0502020204030204" pitchFamily="34" charset="0"/>
                  </a:rPr>
                  <a:t>: If a Bernoulli trial can result in a success with probability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𝑝</m:t>
                    </m:r>
                  </m:oMath>
                </a14:m>
                <a:r>
                  <a:rPr lang="en-GB" dirty="0">
                    <a:solidFill>
                      <a:srgbClr val="000000"/>
                    </a:solidFill>
                    <a:effectLst/>
                    <a:ea typeface="Calibri" panose="020F0502020204030204" pitchFamily="34" charset="0"/>
                  </a:rPr>
                  <a:t> and a failure with probability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𝑞</m:t>
                    </m:r>
                    <m:r>
                      <a:rPr lang="en-GB" i="1">
                        <a:solidFill>
                          <a:srgbClr val="000000"/>
                        </a:solidFill>
                        <a:effectLst/>
                        <a:latin typeface="Cambria Math" panose="02040503050406030204" pitchFamily="18" charset="0"/>
                        <a:ea typeface="Calibri" panose="020F0502020204030204" pitchFamily="34" charset="0"/>
                      </a:rPr>
                      <m:t>=1−</m:t>
                    </m:r>
                    <m:r>
                      <a:rPr lang="en-GB" i="1">
                        <a:solidFill>
                          <a:srgbClr val="000000"/>
                        </a:solidFill>
                        <a:effectLst/>
                        <a:latin typeface="Cambria Math" panose="02040503050406030204" pitchFamily="18" charset="0"/>
                        <a:ea typeface="Calibri" panose="020F0502020204030204" pitchFamily="34" charset="0"/>
                      </a:rPr>
                      <m:t>𝑝</m:t>
                    </m:r>
                  </m:oMath>
                </a14:m>
                <a:r>
                  <a:rPr lang="en-GB" dirty="0">
                    <a:solidFill>
                      <a:srgbClr val="000000"/>
                    </a:solidFill>
                    <a:effectLst/>
                    <a:ea typeface="Calibri" panose="020F0502020204030204" pitchFamily="34" charset="0"/>
                  </a:rPr>
                  <a:t> then the </a:t>
                </a:r>
                <a:r>
                  <a:rPr lang="en-GB" dirty="0" err="1">
                    <a:solidFill>
                      <a:srgbClr val="000000"/>
                    </a:solidFill>
                    <a:effectLst/>
                    <a:ea typeface="Calibri" panose="020F0502020204030204" pitchFamily="34" charset="0"/>
                  </a:rPr>
                  <a:t>p.d.f</a:t>
                </a:r>
                <a:r>
                  <a:rPr lang="en-GB" dirty="0">
                    <a:solidFill>
                      <a:srgbClr val="000000"/>
                    </a:solidFill>
                    <a:effectLst/>
                    <a:ea typeface="Calibri" panose="020F0502020204030204" pitchFamily="34" charset="0"/>
                  </a:rPr>
                  <a:t> of the binomial random variable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𝑋</m:t>
                    </m:r>
                  </m:oMath>
                </a14:m>
                <a:r>
                  <a:rPr lang="en-GB" dirty="0">
                    <a:solidFill>
                      <a:srgbClr val="000000"/>
                    </a:solidFill>
                    <a:effectLst/>
                    <a:ea typeface="Calibri" panose="020F0502020204030204" pitchFamily="34" charset="0"/>
                  </a:rPr>
                  <a:t>, the number of successes in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𝑛</m:t>
                    </m:r>
                  </m:oMath>
                </a14:m>
                <a:r>
                  <a:rPr lang="en-GB" dirty="0">
                    <a:solidFill>
                      <a:srgbClr val="000000"/>
                    </a:solidFill>
                    <a:effectLst/>
                    <a:ea typeface="Calibri" panose="020F0502020204030204" pitchFamily="34" charset="0"/>
                  </a:rPr>
                  <a:t> independent trials, is:</a:t>
                </a:r>
              </a:p>
              <a:p>
                <a:pPr marL="0" indent="0">
                  <a:lnSpc>
                    <a:spcPct val="200000"/>
                  </a:lnSpc>
                  <a:buNone/>
                </a:pPr>
                <a14:m>
                  <m:oMathPara xmlns:m="http://schemas.openxmlformats.org/officeDocument/2006/math">
                    <m:oMathParaPr>
                      <m:jc m:val="centerGroup"/>
                    </m:oMathParaPr>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𝑏</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𝑥</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𝑝</m:t>
                          </m:r>
                        </m:e>
                      </m:d>
                      <m:r>
                        <a:rPr lang="en-GB" i="1">
                          <a:solidFill>
                            <a:srgbClr val="000000"/>
                          </a:solidFill>
                          <a:effectLst/>
                          <a:latin typeface="Cambria Math" panose="02040503050406030204" pitchFamily="18" charset="0"/>
                          <a:ea typeface="Calibri" panose="020F0502020204030204" pitchFamily="34" charset="0"/>
                        </a:rPr>
                        <m:t>=</m:t>
                      </m:r>
                      <m:d>
                        <m:dPr>
                          <m:ctrlPr>
                            <a:rPr lang="en-GB" i="1">
                              <a:solidFill>
                                <a:srgbClr val="000000"/>
                              </a:solidFill>
                              <a:effectLst/>
                              <a:latin typeface="Cambria Math" panose="02040503050406030204" pitchFamily="18" charset="0"/>
                              <a:ea typeface="Calibri" panose="020F0502020204030204" pitchFamily="34" charset="0"/>
                            </a:rPr>
                          </m:ctrlPr>
                        </m:dPr>
                        <m:e>
                          <m:f>
                            <m:fPr>
                              <m:type m:val="noBar"/>
                              <m:ctrlPr>
                                <a:rPr lang="en-GB" i="1">
                                  <a:solidFill>
                                    <a:srgbClr val="000000"/>
                                  </a:solidFill>
                                  <a:effectLst/>
                                  <a:latin typeface="Cambria Math" panose="02040503050406030204" pitchFamily="18" charset="0"/>
                                  <a:ea typeface="Calibri" panose="020F0502020204030204" pitchFamily="34" charset="0"/>
                                </a:rPr>
                              </m:ctrlPr>
                            </m:fPr>
                            <m:num>
                              <m:r>
                                <a:rPr lang="en-GB" i="1">
                                  <a:solidFill>
                                    <a:srgbClr val="000000"/>
                                  </a:solidFill>
                                  <a:effectLst/>
                                  <a:latin typeface="Cambria Math" panose="02040503050406030204" pitchFamily="18" charset="0"/>
                                  <a:ea typeface="Calibri" panose="020F0502020204030204" pitchFamily="34" charset="0"/>
                                </a:rPr>
                                <m:t>𝑛</m:t>
                              </m:r>
                            </m:num>
                            <m:den>
                              <m:r>
                                <a:rPr lang="en-GB" i="1">
                                  <a:solidFill>
                                    <a:srgbClr val="000000"/>
                                  </a:solidFill>
                                  <a:effectLst/>
                                  <a:latin typeface="Cambria Math" panose="02040503050406030204" pitchFamily="18" charset="0"/>
                                  <a:ea typeface="Calibri" panose="020F0502020204030204" pitchFamily="34" charset="0"/>
                                </a:rPr>
                                <m:t>𝑥</m:t>
                              </m:r>
                            </m:den>
                          </m:f>
                        </m:e>
                      </m:d>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𝑝</m:t>
                          </m:r>
                        </m:e>
                        <m:sup>
                          <m:r>
                            <a:rPr lang="en-GB" i="1">
                              <a:solidFill>
                                <a:srgbClr val="000000"/>
                              </a:solidFill>
                              <a:effectLst/>
                              <a:latin typeface="Cambria Math" panose="02040503050406030204" pitchFamily="18" charset="0"/>
                              <a:ea typeface="Calibri" panose="020F0502020204030204" pitchFamily="34" charset="0"/>
                            </a:rPr>
                            <m:t>𝑥</m:t>
                          </m:r>
                        </m:sup>
                      </m:sSup>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𝑞</m:t>
                          </m:r>
                        </m:e>
                        <m:sup>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𝑥</m:t>
                          </m:r>
                        </m:sup>
                      </m:sSup>
                    </m:oMath>
                  </m:oMathPara>
                </a14:m>
                <a:endParaRPr lang="en-GB" dirty="0"/>
              </a:p>
              <a:p>
                <a:pPr marL="0" indent="0">
                  <a:buNone/>
                </a:pPr>
                <a:r>
                  <a:rPr lang="en-GB" dirty="0">
                    <a:solidFill>
                      <a:srgbClr val="000000"/>
                    </a:solidFill>
                    <a:effectLst/>
                    <a:ea typeface="Times New Roman" panose="02020603050405020304" pitchFamily="18" charset="0"/>
                  </a:rPr>
                  <a:t>where </a:t>
                </a:r>
                <a14:m>
                  <m:oMath xmlns:m="http://schemas.openxmlformats.org/officeDocument/2006/math">
                    <m:r>
                      <a:rPr lang="en-GB" i="1">
                        <a:solidFill>
                          <a:srgbClr val="000000"/>
                        </a:solidFill>
                        <a:effectLst/>
                        <a:latin typeface="Cambria Math" panose="02040503050406030204" pitchFamily="18" charset="0"/>
                        <a:ea typeface="Times New Roman" panose="02020603050405020304" pitchFamily="18" charset="0"/>
                      </a:rPr>
                      <m:t>𝑥</m:t>
                    </m:r>
                    <m:r>
                      <a:rPr lang="en-GB" i="1">
                        <a:solidFill>
                          <a:srgbClr val="000000"/>
                        </a:solidFill>
                        <a:effectLst/>
                        <a:latin typeface="Cambria Math" panose="02040503050406030204" pitchFamily="18" charset="0"/>
                        <a:ea typeface="Times New Roman" panose="02020603050405020304" pitchFamily="18" charset="0"/>
                      </a:rPr>
                      <m:t>=0,1,2,…,</m:t>
                    </m:r>
                    <m:r>
                      <a:rPr lang="en-GB" i="1">
                        <a:solidFill>
                          <a:srgbClr val="000000"/>
                        </a:solidFill>
                        <a:effectLst/>
                        <a:latin typeface="Cambria Math" panose="02040503050406030204" pitchFamily="18" charset="0"/>
                        <a:ea typeface="Times New Roman" panose="02020603050405020304" pitchFamily="18" charset="0"/>
                      </a:rPr>
                      <m:t>𝑛</m:t>
                    </m:r>
                  </m:oMath>
                </a14:m>
                <a:endParaRPr lang="en-GB" dirty="0">
                  <a:solidFill>
                    <a:srgbClr val="000000"/>
                  </a:solidFill>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7A9E3974-0061-87BF-827D-6A5C4392EA03}"/>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GB">
                    <a:noFill/>
                  </a:rPr>
                  <a:t> </a:t>
                </a:r>
              </a:p>
            </p:txBody>
          </p:sp>
        </mc:Fallback>
      </mc:AlternateContent>
    </p:spTree>
    <p:extLst>
      <p:ext uri="{BB962C8B-B14F-4D97-AF65-F5344CB8AC3E}">
        <p14:creationId xmlns:p14="http://schemas.microsoft.com/office/powerpoint/2010/main" val="397163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79FB-870E-898B-E0F9-E257B63D66AF}"/>
              </a:ext>
            </a:extLst>
          </p:cNvPr>
          <p:cNvSpPr>
            <a:spLocks noGrp="1"/>
          </p:cNvSpPr>
          <p:nvPr>
            <p:ph type="title"/>
          </p:nvPr>
        </p:nvSpPr>
        <p:spPr/>
        <p:txBody>
          <a:bodyPr/>
          <a:lstStyle/>
          <a:p>
            <a:r>
              <a:rPr lang="en-US" dirty="0"/>
              <a:t>Statistical properties of the Bernoulli trial</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FC0919-D772-91A7-D403-5FF7E334C2DA}"/>
                  </a:ext>
                </a:extLst>
              </p:cNvPr>
              <p:cNvSpPr>
                <a:spLocks noGrp="1"/>
              </p:cNvSpPr>
              <p:nvPr>
                <p:ph idx="1"/>
              </p:nvPr>
            </p:nvSpPr>
            <p:spPr/>
            <p:txBody>
              <a:bodyPr/>
              <a:lstStyle/>
              <a:p>
                <a:pPr marL="0" indent="0">
                  <a:buNone/>
                </a:pPr>
                <a:r>
                  <a:rPr lang="en-GB" dirty="0">
                    <a:solidFill>
                      <a:srgbClr val="000000"/>
                    </a:solidFill>
                    <a:effectLst/>
                    <a:ea typeface="Calibri" panose="020F0502020204030204" pitchFamily="34" charset="0"/>
                  </a:rPr>
                  <a:t>The mean of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𝑏</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𝑥</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𝑝</m:t>
                        </m:r>
                      </m:e>
                    </m:d>
                  </m:oMath>
                </a14:m>
                <a:r>
                  <a:rPr lang="en-GB" dirty="0">
                    <a:solidFill>
                      <a:srgbClr val="000000"/>
                    </a:solidFill>
                    <a:effectLst/>
                    <a:ea typeface="Times New Roman" panose="02020603050405020304" pitchFamily="18" charset="0"/>
                  </a:rPr>
                  <a:t> is:</a:t>
                </a:r>
                <a:endParaRPr lang="en-GB" dirty="0">
                  <a:solidFill>
                    <a:srgbClr val="000000"/>
                  </a:solidFill>
                  <a:effectLst/>
                  <a:ea typeface="Calibri" panose="020F0502020204030204" pitchFamily="34" charset="0"/>
                </a:endParaRPr>
              </a:p>
              <a:p>
                <a:pPr marL="0" indent="0">
                  <a:buNone/>
                </a:pPr>
                <a:r>
                  <a:rPr lang="en-GB" dirty="0">
                    <a:solidFill>
                      <a:srgbClr val="000000"/>
                    </a:solidFill>
                    <a:effectLst/>
                    <a:ea typeface="Times New Roman" panose="02020603050405020304" pitchFamily="18" charset="0"/>
                  </a:rPr>
                  <a:t> </a:t>
                </a:r>
                <a:endParaRPr lang="en-GB" dirty="0">
                  <a:solidFill>
                    <a:srgbClr val="000000"/>
                  </a:solidFill>
                  <a:effectLst/>
                  <a:ea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𝜇</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𝑛𝑝</m:t>
                      </m:r>
                    </m:oMath>
                  </m:oMathPara>
                </a14:m>
                <a:endParaRPr lang="en-GB" dirty="0">
                  <a:solidFill>
                    <a:srgbClr val="000000"/>
                  </a:solidFill>
                  <a:effectLst/>
                  <a:ea typeface="Calibri" panose="020F0502020204030204" pitchFamily="34" charset="0"/>
                </a:endParaRPr>
              </a:p>
              <a:p>
                <a:endParaRPr lang="en-GB" dirty="0">
                  <a:solidFill>
                    <a:srgbClr val="000000"/>
                  </a:solidFill>
                  <a:effectLst/>
                  <a:ea typeface="Calibri" panose="020F0502020204030204" pitchFamily="34" charset="0"/>
                </a:endParaRPr>
              </a:p>
              <a:p>
                <a:pPr marL="0" indent="0">
                  <a:buNone/>
                </a:pPr>
                <a:r>
                  <a:rPr lang="en-GB" dirty="0">
                    <a:solidFill>
                      <a:srgbClr val="000000"/>
                    </a:solidFill>
                    <a:effectLst/>
                    <a:ea typeface="Calibri" panose="020F0502020204030204" pitchFamily="34" charset="0"/>
                  </a:rPr>
                  <a:t>The variance of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𝑏</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𝑥</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𝑝</m:t>
                        </m:r>
                      </m:e>
                    </m:d>
                  </m:oMath>
                </a14:m>
                <a:r>
                  <a:rPr lang="en-GB" dirty="0">
                    <a:solidFill>
                      <a:srgbClr val="000000"/>
                    </a:solidFill>
                    <a:effectLst/>
                    <a:ea typeface="Times New Roman" panose="02020603050405020304" pitchFamily="18" charset="0"/>
                  </a:rPr>
                  <a:t> is:</a:t>
                </a:r>
                <a:endParaRPr lang="en-GB" dirty="0">
                  <a:solidFill>
                    <a:srgbClr val="000000"/>
                  </a:solidFill>
                  <a:effectLst/>
                  <a:ea typeface="Calibri" panose="020F0502020204030204" pitchFamily="34" charset="0"/>
                </a:endParaRPr>
              </a:p>
              <a:p>
                <a:endParaRPr lang="en-GB" dirty="0">
                  <a:solidFill>
                    <a:srgbClr val="000000"/>
                  </a:solidFill>
                  <a:effectLst/>
                  <a:ea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𝜎</m:t>
                          </m:r>
                        </m:e>
                        <m:sup>
                          <m:r>
                            <a:rPr lang="en-GB" i="1">
                              <a:solidFill>
                                <a:srgbClr val="000000"/>
                              </a:solidFill>
                              <a:effectLst/>
                              <a:latin typeface="Cambria Math" panose="02040503050406030204" pitchFamily="18" charset="0"/>
                              <a:ea typeface="Calibri" panose="020F0502020204030204" pitchFamily="34" charset="0"/>
                            </a:rPr>
                            <m:t>2</m:t>
                          </m:r>
                        </m:sup>
                      </m:sSup>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𝑛𝑝</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1−</m:t>
                          </m:r>
                          <m:r>
                            <a:rPr lang="en-GB" i="1">
                              <a:solidFill>
                                <a:srgbClr val="000000"/>
                              </a:solidFill>
                              <a:effectLst/>
                              <a:latin typeface="Cambria Math" panose="02040503050406030204" pitchFamily="18" charset="0"/>
                              <a:ea typeface="Calibri" panose="020F0502020204030204" pitchFamily="34" charset="0"/>
                            </a:rPr>
                            <m:t>𝑝</m:t>
                          </m:r>
                        </m:e>
                      </m:d>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𝑛𝑝𝑞</m:t>
                      </m:r>
                    </m:oMath>
                  </m:oMathPara>
                </a14:m>
                <a:endParaRPr lang="en-GB" dirty="0">
                  <a:solidFill>
                    <a:srgbClr val="000000"/>
                  </a:solidFill>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96FC0919-D772-91A7-D403-5FF7E334C2DA}"/>
                  </a:ext>
                </a:extLst>
              </p:cNvPr>
              <p:cNvSpPr>
                <a:spLocks noGrp="1" noRot="1" noChangeAspect="1" noMove="1" noResize="1" noEditPoints="1" noAdjustHandles="1" noChangeArrowheads="1" noChangeShapeType="1" noTextEdit="1"/>
              </p:cNvSpPr>
              <p:nvPr>
                <p:ph idx="1"/>
              </p:nvPr>
            </p:nvSpPr>
            <p:spPr>
              <a:blipFill>
                <a:blip r:embed="rId2"/>
                <a:stretch>
                  <a:fillRect l="-522" t="-1261"/>
                </a:stretch>
              </a:blipFill>
            </p:spPr>
            <p:txBody>
              <a:bodyPr/>
              <a:lstStyle/>
              <a:p>
                <a:r>
                  <a:rPr lang="en-GB">
                    <a:noFill/>
                  </a:rPr>
                  <a:t> </a:t>
                </a:r>
              </a:p>
            </p:txBody>
          </p:sp>
        </mc:Fallback>
      </mc:AlternateContent>
    </p:spTree>
    <p:extLst>
      <p:ext uri="{BB962C8B-B14F-4D97-AF65-F5344CB8AC3E}">
        <p14:creationId xmlns:p14="http://schemas.microsoft.com/office/powerpoint/2010/main" val="1009175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A2469-627F-7F41-0AF2-EABD6D5FB499}"/>
              </a:ext>
            </a:extLst>
          </p:cNvPr>
          <p:cNvSpPr>
            <a:spLocks noGrp="1"/>
          </p:cNvSpPr>
          <p:nvPr>
            <p:ph idx="1"/>
          </p:nvPr>
        </p:nvSpPr>
        <p:spPr>
          <a:xfrm>
            <a:off x="838200" y="1690689"/>
            <a:ext cx="10515600" cy="4486274"/>
          </a:xfrm>
        </p:spPr>
        <p:txBody>
          <a:bodyPr/>
          <a:lstStyle/>
          <a:p>
            <a:pPr marL="0" indent="0">
              <a:lnSpc>
                <a:spcPct val="100000"/>
              </a:lnSpc>
              <a:buNone/>
            </a:pPr>
            <a:r>
              <a:rPr lang="en-GB" dirty="0">
                <a:solidFill>
                  <a:srgbClr val="000000"/>
                </a:solidFill>
                <a:effectLst/>
                <a:latin typeface="Aptos" panose="020B0004020202020204" pitchFamily="34" charset="0"/>
                <a:ea typeface="Calibri" panose="020F0502020204030204" pitchFamily="34" charset="0"/>
              </a:rPr>
              <a:t>The probability that a patient recover from a rare blood disease is 0.4. If 15 people are known to contract this disease, what is the probability that</a:t>
            </a:r>
            <a:endParaRPr lang="en-GB" dirty="0">
              <a:solidFill>
                <a:srgbClr val="000000"/>
              </a:solidFill>
              <a:effectLst/>
              <a:latin typeface="Times New Roman" panose="02020603050405020304" pitchFamily="18" charset="0"/>
              <a:ea typeface="Calibri" panose="020F0502020204030204" pitchFamily="34" charset="0"/>
            </a:endParaRPr>
          </a:p>
          <a:p>
            <a:pPr marL="342900" lvl="0" indent="-342900">
              <a:lnSpc>
                <a:spcPct val="100000"/>
              </a:lnSpc>
              <a:buFont typeface="+mj-lt"/>
              <a:buAutoNum type="romanLcPeriod"/>
            </a:pPr>
            <a:r>
              <a:rPr lang="en-GB" dirty="0">
                <a:solidFill>
                  <a:srgbClr val="000000"/>
                </a:solidFill>
                <a:effectLst/>
                <a:latin typeface="Aptos" panose="020B0004020202020204" pitchFamily="34" charset="0"/>
                <a:ea typeface="Calibri" panose="020F0502020204030204" pitchFamily="34" charset="0"/>
              </a:rPr>
              <a:t>at least 10 survive;</a:t>
            </a:r>
            <a:endParaRPr lang="en-GB" dirty="0">
              <a:solidFill>
                <a:srgbClr val="000000"/>
              </a:solidFill>
              <a:effectLst/>
              <a:latin typeface="Times New Roman" panose="02020603050405020304" pitchFamily="18" charset="0"/>
              <a:ea typeface="Calibri" panose="020F0502020204030204" pitchFamily="34" charset="0"/>
            </a:endParaRPr>
          </a:p>
          <a:p>
            <a:pPr marL="342900" lvl="0" indent="-342900">
              <a:lnSpc>
                <a:spcPct val="100000"/>
              </a:lnSpc>
              <a:buFont typeface="+mj-lt"/>
              <a:buAutoNum type="romanLcPeriod"/>
            </a:pPr>
            <a:r>
              <a:rPr lang="en-GB" dirty="0">
                <a:solidFill>
                  <a:srgbClr val="000000"/>
                </a:solidFill>
                <a:effectLst/>
                <a:latin typeface="Aptos" panose="020B0004020202020204" pitchFamily="34" charset="0"/>
                <a:ea typeface="Calibri" panose="020F0502020204030204" pitchFamily="34" charset="0"/>
              </a:rPr>
              <a:t>from 3 to 8 survive;</a:t>
            </a:r>
            <a:endParaRPr lang="en-GB" dirty="0">
              <a:solidFill>
                <a:srgbClr val="000000"/>
              </a:solidFill>
              <a:effectLst/>
              <a:latin typeface="Times New Roman" panose="02020603050405020304" pitchFamily="18" charset="0"/>
              <a:ea typeface="Calibri" panose="020F0502020204030204" pitchFamily="34" charset="0"/>
            </a:endParaRPr>
          </a:p>
          <a:p>
            <a:pPr marL="342900" lvl="0" indent="-342900">
              <a:lnSpc>
                <a:spcPct val="100000"/>
              </a:lnSpc>
              <a:buFont typeface="+mj-lt"/>
              <a:buAutoNum type="romanLcPeriod"/>
            </a:pPr>
            <a:r>
              <a:rPr lang="en-GB" dirty="0">
                <a:solidFill>
                  <a:srgbClr val="000000"/>
                </a:solidFill>
                <a:effectLst/>
                <a:latin typeface="Aptos" panose="020B0004020202020204" pitchFamily="34" charset="0"/>
                <a:ea typeface="Calibri" panose="020F0502020204030204" pitchFamily="34" charset="0"/>
              </a:rPr>
              <a:t>and exactly 5 survive?</a:t>
            </a:r>
            <a:endParaRPr lang="en-GB" dirty="0">
              <a:solidFill>
                <a:srgbClr val="000000"/>
              </a:solidFill>
              <a:effectLst/>
              <a:latin typeface="Times New Roman" panose="02020603050405020304" pitchFamily="18" charset="0"/>
              <a:ea typeface="Calibri" panose="020F0502020204030204" pitchFamily="34" charset="0"/>
            </a:endParaRPr>
          </a:p>
          <a:p>
            <a:pPr marL="0" indent="0">
              <a:buNone/>
            </a:pPr>
            <a:endParaRPr lang="en-GB" dirty="0"/>
          </a:p>
        </p:txBody>
      </p:sp>
      <p:sp>
        <p:nvSpPr>
          <p:cNvPr id="2" name="Title 1">
            <a:extLst>
              <a:ext uri="{FF2B5EF4-FFF2-40B4-BE49-F238E27FC236}">
                <a16:creationId xmlns:a16="http://schemas.microsoft.com/office/drawing/2014/main" id="{B1CEB867-3670-8BF8-1C55-5835D4A007D2}"/>
              </a:ext>
            </a:extLst>
          </p:cNvPr>
          <p:cNvSpPr>
            <a:spLocks noGrp="1"/>
          </p:cNvSpPr>
          <p:nvPr>
            <p:ph type="title"/>
          </p:nvPr>
        </p:nvSpPr>
        <p:spPr>
          <a:xfrm>
            <a:off x="838200" y="365125"/>
            <a:ext cx="10515600" cy="1325563"/>
          </a:xfrm>
        </p:spPr>
        <p:txBody>
          <a:bodyPr/>
          <a:lstStyle/>
          <a:p>
            <a:r>
              <a:rPr lang="en-US" dirty="0"/>
              <a:t>Example 7.2</a:t>
            </a:r>
            <a:endParaRPr lang="en-GB" dirty="0"/>
          </a:p>
        </p:txBody>
      </p:sp>
    </p:spTree>
    <p:extLst>
      <p:ext uri="{BB962C8B-B14F-4D97-AF65-F5344CB8AC3E}">
        <p14:creationId xmlns:p14="http://schemas.microsoft.com/office/powerpoint/2010/main" val="249572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A26489-E91A-89A6-613A-4898E6DF3A7F}"/>
                  </a:ext>
                </a:extLst>
              </p:cNvPr>
              <p:cNvSpPr>
                <a:spLocks noGrp="1"/>
              </p:cNvSpPr>
              <p:nvPr>
                <p:ph idx="1"/>
              </p:nvPr>
            </p:nvSpPr>
            <p:spPr>
              <a:xfrm>
                <a:off x="838200" y="1690688"/>
                <a:ext cx="10515600" cy="2060333"/>
              </a:xfrm>
            </p:spPr>
            <p:txBody>
              <a:bodyPr/>
              <a:lstStyle/>
              <a:p>
                <a:pPr marL="0" indent="0">
                  <a:lnSpc>
                    <a:spcPct val="200000"/>
                  </a:lnSpc>
                  <a:buNone/>
                </a:pPr>
                <a:r>
                  <a:rPr lang="en-GB" u="sng" dirty="0">
                    <a:solidFill>
                      <a:srgbClr val="000000"/>
                    </a:solidFill>
                    <a:effectLst/>
                    <a:ea typeface="Calibri" panose="020F0502020204030204" pitchFamily="34" charset="0"/>
                  </a:rPr>
                  <a:t>Solution to part </a:t>
                </a:r>
                <a:r>
                  <a:rPr lang="en-GB" u="sng" dirty="0" err="1">
                    <a:solidFill>
                      <a:srgbClr val="000000"/>
                    </a:solidFill>
                    <a:effectLst/>
                    <a:ea typeface="Calibri" panose="020F0502020204030204" pitchFamily="34" charset="0"/>
                  </a:rPr>
                  <a:t>i</a:t>
                </a:r>
                <a:r>
                  <a:rPr lang="en-GB" u="sng" dirty="0">
                    <a:solidFill>
                      <a:srgbClr val="000000"/>
                    </a:solidFill>
                    <a:effectLst/>
                    <a:ea typeface="Calibri" panose="020F0502020204030204" pitchFamily="34" charset="0"/>
                  </a:rPr>
                  <a:t>. at least 10 survive</a:t>
                </a:r>
              </a:p>
              <a:p>
                <a:pPr marL="0" indent="0">
                  <a:lnSpc>
                    <a:spcPct val="200000"/>
                  </a:lnSpc>
                  <a:buNone/>
                </a:pPr>
                <a14:m>
                  <m:oMathPara xmlns:m="http://schemas.openxmlformats.org/officeDocument/2006/math">
                    <m:oMathParaPr>
                      <m:jc m:val="centerGroup"/>
                    </m:oMathParaPr>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𝑃</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≥10</m:t>
                          </m:r>
                        </m:e>
                      </m:d>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𝑃</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=10</m:t>
                          </m:r>
                        </m:e>
                      </m:d>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𝑃</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=11</m:t>
                          </m:r>
                        </m:e>
                      </m:d>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𝑃</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=15</m:t>
                          </m:r>
                        </m:e>
                      </m:d>
                      <m:r>
                        <a:rPr lang="en-GB" i="1">
                          <a:solidFill>
                            <a:srgbClr val="000000"/>
                          </a:solidFill>
                          <a:effectLst/>
                          <a:latin typeface="Cambria Math" panose="02040503050406030204" pitchFamily="18" charset="0"/>
                          <a:ea typeface="Calibri" panose="020F0502020204030204" pitchFamily="34" charset="0"/>
                        </a:rPr>
                        <m:t>=0.0245+0.0074+…=0.0338</m:t>
                      </m:r>
                    </m:oMath>
                  </m:oMathPara>
                </a14:m>
                <a:endParaRPr lang="en-GB" dirty="0">
                  <a:solidFill>
                    <a:srgbClr val="000000"/>
                  </a:solidFill>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87A26489-E91A-89A6-613A-4898E6DF3A7F}"/>
                  </a:ext>
                </a:extLst>
              </p:cNvPr>
              <p:cNvSpPr>
                <a:spLocks noGrp="1" noRot="1" noChangeAspect="1" noMove="1" noResize="1" noEditPoints="1" noAdjustHandles="1" noChangeArrowheads="1" noChangeShapeType="1" noTextEdit="1"/>
              </p:cNvSpPr>
              <p:nvPr>
                <p:ph idx="1"/>
              </p:nvPr>
            </p:nvSpPr>
            <p:spPr>
              <a:xfrm>
                <a:off x="838200" y="1690688"/>
                <a:ext cx="10515600" cy="2060333"/>
              </a:xfrm>
              <a:blipFill>
                <a:blip r:embed="rId2"/>
                <a:stretch>
                  <a:fillRect l="-522"/>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A4C2D570-085F-7F95-A8FC-2CC2419606D1}"/>
              </a:ext>
            </a:extLst>
          </p:cNvPr>
          <p:cNvSpPr>
            <a:spLocks noGrp="1"/>
          </p:cNvSpPr>
          <p:nvPr>
            <p:ph type="title"/>
          </p:nvPr>
        </p:nvSpPr>
        <p:spPr>
          <a:xfrm>
            <a:off x="838200" y="365125"/>
            <a:ext cx="10515600" cy="1325563"/>
          </a:xfrm>
        </p:spPr>
        <p:txBody>
          <a:bodyPr/>
          <a:lstStyle/>
          <a:p>
            <a:r>
              <a:rPr lang="en-US" dirty="0"/>
              <a:t>Example 7.2 (continued)</a:t>
            </a:r>
            <a:endParaRPr lang="en-GB" dirty="0"/>
          </a:p>
        </p:txBody>
      </p:sp>
    </p:spTree>
    <p:extLst>
      <p:ext uri="{BB962C8B-B14F-4D97-AF65-F5344CB8AC3E}">
        <p14:creationId xmlns:p14="http://schemas.microsoft.com/office/powerpoint/2010/main" val="317941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6EC5-C74D-BA35-5AD9-A4894DFBFEA6}"/>
              </a:ext>
            </a:extLst>
          </p:cNvPr>
          <p:cNvSpPr>
            <a:spLocks noGrp="1"/>
          </p:cNvSpPr>
          <p:nvPr>
            <p:ph type="title"/>
          </p:nvPr>
        </p:nvSpPr>
        <p:spPr/>
        <p:txBody>
          <a:bodyPr/>
          <a:lstStyle/>
          <a:p>
            <a:r>
              <a:rPr lang="en-US" dirty="0"/>
              <a:t>Example 7.2 (continued)</a:t>
            </a:r>
            <a:endParaRPr lang="en-GB" b="1" dirty="0"/>
          </a:p>
        </p:txBody>
      </p:sp>
      <p:sp>
        <p:nvSpPr>
          <p:cNvPr id="6" name="Content Placeholder 5">
            <a:extLst>
              <a:ext uri="{FF2B5EF4-FFF2-40B4-BE49-F238E27FC236}">
                <a16:creationId xmlns:a16="http://schemas.microsoft.com/office/drawing/2014/main" id="{3BE6C5EF-A025-4785-40BF-67B5AFAF301C}"/>
              </a:ext>
            </a:extLst>
          </p:cNvPr>
          <p:cNvSpPr txBox="1">
            <a:spLocks noGrp="1"/>
          </p:cNvSpPr>
          <p:nvPr>
            <p:ph idx="1"/>
          </p:nvPr>
        </p:nvSpPr>
        <p:spPr>
          <a:xfrm>
            <a:off x="838200" y="1825625"/>
            <a:ext cx="10515600" cy="3534301"/>
          </a:xfrm>
          <a:prstGeom prst="rect">
            <a:avLst/>
          </a:prstGeom>
          <a:noFill/>
        </p:spPr>
        <p:txBody>
          <a:bodyPr wrap="square">
            <a:spAutoFit/>
          </a:bodyPr>
          <a:lstStyle/>
          <a:p>
            <a:pPr marL="0" indent="0">
              <a:buNone/>
            </a:pPr>
            <a:r>
              <a:rPr lang="en-GB" dirty="0"/>
              <a:t>Do it in </a:t>
            </a:r>
            <a:r>
              <a:rPr lang="en-GB" b="1" dirty="0"/>
              <a:t>R:</a:t>
            </a:r>
            <a:endParaRPr lang="en-GB" sz="1800" i="1" dirty="0">
              <a:solidFill>
                <a:srgbClr val="8F5902"/>
              </a:solidFill>
              <a:effectLst/>
              <a:latin typeface="Console"/>
              <a:ea typeface="Calibri" panose="020F0502020204030204" pitchFamily="34" charset="0"/>
              <a:cs typeface="Times New Roman" panose="02020603050405020304" pitchFamily="18" charset="0"/>
            </a:endParaRPr>
          </a:p>
          <a:p>
            <a:pPr marL="0" indent="0">
              <a:buNone/>
            </a:pPr>
            <a:endParaRPr lang="en-GB" i="1" dirty="0">
              <a:solidFill>
                <a:srgbClr val="8F5902"/>
              </a:solidFill>
              <a:latin typeface="Console"/>
              <a:ea typeface="Calibri" panose="020F0502020204030204" pitchFamily="34" charset="0"/>
              <a:cs typeface="Times New Roman" panose="02020603050405020304" pitchFamily="18" charset="0"/>
            </a:endParaRPr>
          </a:p>
          <a:p>
            <a:pPr marL="0" indent="0">
              <a:buNone/>
            </a:pPr>
            <a:r>
              <a:rPr lang="en-GB" sz="1800" i="1" dirty="0">
                <a:solidFill>
                  <a:srgbClr val="8F5902"/>
                </a:solidFill>
                <a:effectLst/>
                <a:latin typeface="Console"/>
                <a:ea typeface="Calibri" panose="020F0502020204030204" pitchFamily="34" charset="0"/>
                <a:cs typeface="Times New Roman" panose="02020603050405020304" pitchFamily="18" charset="0"/>
              </a:rPr>
              <a:t>#pbinom(q, size, prob, </a:t>
            </a:r>
            <a:r>
              <a:rPr lang="en-GB" sz="1800" i="1" dirty="0" err="1">
                <a:solidFill>
                  <a:srgbClr val="8F5902"/>
                </a:solidFill>
                <a:effectLst/>
                <a:latin typeface="Console"/>
                <a:ea typeface="Calibri" panose="020F0502020204030204" pitchFamily="34" charset="0"/>
                <a:cs typeface="Times New Roman" panose="02020603050405020304" pitchFamily="18" charset="0"/>
              </a:rPr>
              <a:t>lower.tail</a:t>
            </a:r>
            <a:r>
              <a:rPr lang="en-GB" sz="1800" i="1" dirty="0">
                <a:solidFill>
                  <a:srgbClr val="8F5902"/>
                </a:solidFill>
                <a:effectLst/>
                <a:latin typeface="Console"/>
                <a:ea typeface="Calibri" panose="020F0502020204030204" pitchFamily="34" charset="0"/>
                <a:cs typeface="Times New Roman" panose="02020603050405020304" pitchFamily="18" charset="0"/>
              </a:rPr>
              <a:t> = TRUE, </a:t>
            </a:r>
            <a:r>
              <a:rPr lang="en-GB" sz="1800" i="1" dirty="0" err="1">
                <a:solidFill>
                  <a:srgbClr val="8F5902"/>
                </a:solidFill>
                <a:effectLst/>
                <a:latin typeface="Console"/>
                <a:ea typeface="Calibri" panose="020F0502020204030204" pitchFamily="34" charset="0"/>
                <a:cs typeface="Times New Roman" panose="02020603050405020304" pitchFamily="18" charset="0"/>
              </a:rPr>
              <a:t>log.p</a:t>
            </a:r>
            <a:r>
              <a:rPr lang="en-GB" sz="1800" i="1" dirty="0">
                <a:solidFill>
                  <a:srgbClr val="8F5902"/>
                </a:solidFill>
                <a:effectLst/>
                <a:latin typeface="Console"/>
                <a:ea typeface="Calibri" panose="020F0502020204030204" pitchFamily="34" charset="0"/>
                <a:cs typeface="Times New Roman" panose="02020603050405020304" pitchFamily="18" charset="0"/>
              </a:rPr>
              <a:t> = FALSE)</a:t>
            </a:r>
            <a:br>
              <a:rPr lang="en-GB" sz="1600" dirty="0">
                <a:effectLst/>
                <a:latin typeface="Console"/>
                <a:ea typeface="Calibri" panose="020F0502020204030204" pitchFamily="34" charset="0"/>
                <a:cs typeface="Times New Roman" panose="02020603050405020304" pitchFamily="18" charset="0"/>
              </a:rPr>
            </a:b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 Calculate the complement probability (P(X &lt; 10))</a:t>
            </a:r>
            <a:br>
              <a:rPr lang="en-GB" sz="1600" dirty="0">
                <a:effectLst/>
                <a:latin typeface="Console"/>
                <a:ea typeface="Calibri" panose="020F0502020204030204" pitchFamily="34" charset="0"/>
                <a:cs typeface="Times New Roman" panose="02020603050405020304" pitchFamily="18" charset="0"/>
              </a:rPr>
            </a:br>
            <a:r>
              <a:rPr lang="en-GB" sz="1800" dirty="0">
                <a:solidFill>
                  <a:srgbClr val="000000"/>
                </a:solidFill>
                <a:effectLst/>
                <a:latin typeface="Console"/>
                <a:ea typeface="Calibri" panose="020F0502020204030204" pitchFamily="34" charset="0"/>
                <a:cs typeface="Times New Roman" panose="02020603050405020304" pitchFamily="18" charset="0"/>
              </a:rPr>
              <a:t>probability_at_least_10 </a:t>
            </a:r>
            <a:r>
              <a:rPr lang="en-GB" sz="1800" dirty="0">
                <a:solidFill>
                  <a:srgbClr val="8F5902"/>
                </a:solidFill>
                <a:effectLst/>
                <a:latin typeface="Console"/>
                <a:ea typeface="Calibri" panose="020F0502020204030204" pitchFamily="34" charset="0"/>
                <a:cs typeface="Times New Roman" panose="02020603050405020304" pitchFamily="18" charset="0"/>
              </a:rPr>
              <a:t>&lt;-</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a:solidFill>
                  <a:srgbClr val="0000CF"/>
                </a:solidFill>
                <a:effectLst/>
                <a:latin typeface="Console"/>
                <a:ea typeface="Calibri" panose="020F0502020204030204" pitchFamily="34" charset="0"/>
                <a:cs typeface="Times New Roman" panose="02020603050405020304" pitchFamily="18" charset="0"/>
              </a:rPr>
              <a:t>1</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600" dirty="0">
                <a:solidFill>
                  <a:srgbClr val="000000"/>
                </a:solidFill>
                <a:effectLst/>
                <a:latin typeface="Console"/>
                <a:ea typeface="Calibri" panose="020F0502020204030204" pitchFamily="34" charset="0"/>
                <a:cs typeface="Times New Roman" panose="02020603050405020304" pitchFamily="18" charset="0"/>
              </a:rPr>
              <a:t>-</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err="1">
                <a:solidFill>
                  <a:srgbClr val="000000"/>
                </a:solidFill>
                <a:effectLst/>
                <a:latin typeface="Console"/>
                <a:ea typeface="Calibri" panose="020F0502020204030204" pitchFamily="34" charset="0"/>
                <a:cs typeface="Times New Roman" panose="02020603050405020304" pitchFamily="18" charset="0"/>
              </a:rPr>
              <a:t>pbinom</a:t>
            </a:r>
            <a:r>
              <a:rPr lang="en-GB" sz="1800" dirty="0">
                <a:solidFill>
                  <a:srgbClr val="000000"/>
                </a:solidFill>
                <a:effectLst/>
                <a:latin typeface="Console"/>
                <a:ea typeface="Calibri" panose="020F0502020204030204" pitchFamily="34" charset="0"/>
                <a:cs typeface="Times New Roman" panose="02020603050405020304" pitchFamily="18" charset="0"/>
              </a:rPr>
              <a:t>(</a:t>
            </a:r>
            <a:r>
              <a:rPr lang="en-GB" sz="1800" dirty="0">
                <a:solidFill>
                  <a:srgbClr val="C4A000"/>
                </a:solidFill>
                <a:effectLst/>
                <a:latin typeface="Console"/>
                <a:ea typeface="Calibri" panose="020F0502020204030204" pitchFamily="34" charset="0"/>
                <a:cs typeface="Times New Roman" panose="02020603050405020304" pitchFamily="18" charset="0"/>
              </a:rPr>
              <a:t>q =</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a:solidFill>
                  <a:srgbClr val="0000CF"/>
                </a:solidFill>
                <a:effectLst/>
                <a:latin typeface="Console"/>
                <a:ea typeface="Calibri" panose="020F0502020204030204" pitchFamily="34" charset="0"/>
                <a:cs typeface="Times New Roman" panose="02020603050405020304" pitchFamily="18" charset="0"/>
              </a:rPr>
              <a:t>9</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a:solidFill>
                  <a:srgbClr val="C4A000"/>
                </a:solidFill>
                <a:effectLst/>
                <a:latin typeface="Console"/>
                <a:ea typeface="Calibri" panose="020F0502020204030204" pitchFamily="34" charset="0"/>
                <a:cs typeface="Times New Roman" panose="02020603050405020304" pitchFamily="18" charset="0"/>
              </a:rPr>
              <a:t>size =</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a:solidFill>
                  <a:srgbClr val="0000CF"/>
                </a:solidFill>
                <a:effectLst/>
                <a:latin typeface="Console"/>
                <a:ea typeface="Calibri" panose="020F0502020204030204" pitchFamily="34" charset="0"/>
                <a:cs typeface="Times New Roman" panose="02020603050405020304" pitchFamily="18" charset="0"/>
              </a:rPr>
              <a:t>15</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a:solidFill>
                  <a:srgbClr val="C4A000"/>
                </a:solidFill>
                <a:effectLst/>
                <a:latin typeface="Console"/>
                <a:ea typeface="Calibri" panose="020F0502020204030204" pitchFamily="34" charset="0"/>
                <a:cs typeface="Times New Roman" panose="02020603050405020304" pitchFamily="18" charset="0"/>
              </a:rPr>
              <a:t>prob =</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600" dirty="0">
                <a:solidFill>
                  <a:srgbClr val="0000CF"/>
                </a:solidFill>
                <a:effectLst/>
                <a:latin typeface="Console"/>
                <a:ea typeface="Calibri" panose="020F0502020204030204" pitchFamily="34" charset="0"/>
                <a:cs typeface="Times New Roman" panose="02020603050405020304" pitchFamily="18" charset="0"/>
              </a:rPr>
              <a:t>0.4</a:t>
            </a:r>
            <a:r>
              <a:rPr lang="en-GB" sz="1800" dirty="0">
                <a:solidFill>
                  <a:srgbClr val="000000"/>
                </a:solidFill>
                <a:effectLst/>
                <a:latin typeface="Console"/>
                <a:ea typeface="Calibri" panose="020F0502020204030204" pitchFamily="34" charset="0"/>
                <a:cs typeface="Times New Roman" panose="02020603050405020304" pitchFamily="18" charset="0"/>
              </a:rPr>
              <a:t>, </a:t>
            </a:r>
            <a:r>
              <a:rPr lang="en-GB" sz="1800" dirty="0" err="1">
                <a:solidFill>
                  <a:srgbClr val="C4A000"/>
                </a:solidFill>
                <a:effectLst/>
                <a:latin typeface="Console"/>
                <a:ea typeface="Calibri" panose="020F0502020204030204" pitchFamily="34" charset="0"/>
                <a:cs typeface="Times New Roman" panose="02020603050405020304" pitchFamily="18" charset="0"/>
              </a:rPr>
              <a:t>lower.tail</a:t>
            </a:r>
            <a:r>
              <a:rPr lang="en-GB" sz="1800" dirty="0">
                <a:solidFill>
                  <a:srgbClr val="C4A000"/>
                </a:solidFill>
                <a:effectLst/>
                <a:latin typeface="Console"/>
                <a:ea typeface="Calibri" panose="020F0502020204030204" pitchFamily="34" charset="0"/>
                <a:cs typeface="Times New Roman" panose="02020603050405020304" pitchFamily="18" charset="0"/>
              </a:rPr>
              <a:t> =</a:t>
            </a:r>
            <a:r>
              <a:rPr lang="en-GB" sz="1800" dirty="0">
                <a:solidFill>
                  <a:srgbClr val="000000"/>
                </a:solidFill>
                <a:effectLst/>
                <a:latin typeface="Console"/>
                <a:ea typeface="Calibri" panose="020F0502020204030204" pitchFamily="34" charset="0"/>
                <a:cs typeface="Times New Roman" panose="02020603050405020304" pitchFamily="18" charset="0"/>
              </a:rPr>
              <a:t> TRUE)</a:t>
            </a: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 q = 9 One less than the minimum number of survivors for the complement</a:t>
            </a: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 size = 15 Number of trials (people)</a:t>
            </a: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 prob = 0.4 Probability of survival for each person</a:t>
            </a: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 </a:t>
            </a:r>
            <a:r>
              <a:rPr lang="en-GB" sz="1800" i="1" dirty="0" err="1">
                <a:solidFill>
                  <a:srgbClr val="8F5902"/>
                </a:solidFill>
                <a:effectLst/>
                <a:latin typeface="Console"/>
                <a:ea typeface="Calibri" panose="020F0502020204030204" pitchFamily="34" charset="0"/>
                <a:cs typeface="Times New Roman" panose="02020603050405020304" pitchFamily="18" charset="0"/>
              </a:rPr>
              <a:t>lower.tail</a:t>
            </a:r>
            <a:r>
              <a:rPr lang="en-GB" sz="1800" i="1" dirty="0">
                <a:solidFill>
                  <a:srgbClr val="8F5902"/>
                </a:solidFill>
                <a:effectLst/>
                <a:latin typeface="Console"/>
                <a:ea typeface="Calibri" panose="020F0502020204030204" pitchFamily="34" charset="0"/>
                <a:cs typeface="Times New Roman" panose="02020603050405020304" pitchFamily="18" charset="0"/>
              </a:rPr>
              <a:t> = TRUE</a:t>
            </a:r>
            <a:br>
              <a:rPr lang="en-GB" sz="1600" dirty="0">
                <a:effectLst/>
                <a:latin typeface="Console"/>
                <a:ea typeface="Calibri" panose="020F0502020204030204" pitchFamily="34" charset="0"/>
                <a:cs typeface="Times New Roman" panose="02020603050405020304" pitchFamily="18" charset="0"/>
              </a:rPr>
            </a:b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#probability_at_least_10</a:t>
            </a:r>
            <a:br>
              <a:rPr lang="en-GB" sz="1600" dirty="0">
                <a:effectLst/>
                <a:latin typeface="Console"/>
                <a:ea typeface="Calibri" panose="020F0502020204030204" pitchFamily="34" charset="0"/>
                <a:cs typeface="Times New Roman" panose="02020603050405020304" pitchFamily="18" charset="0"/>
              </a:rPr>
            </a:br>
            <a:r>
              <a:rPr lang="en-GB" sz="1800" i="1" dirty="0">
                <a:solidFill>
                  <a:srgbClr val="8F5902"/>
                </a:solidFill>
                <a:effectLst/>
                <a:latin typeface="Console"/>
                <a:ea typeface="Calibri" panose="020F0502020204030204" pitchFamily="34" charset="0"/>
                <a:cs typeface="Times New Roman" panose="02020603050405020304" pitchFamily="18" charset="0"/>
              </a:rPr>
              <a:t>#0.0338333</a:t>
            </a:r>
            <a:endParaRPr lang="en-GB" dirty="0"/>
          </a:p>
        </p:txBody>
      </p:sp>
    </p:spTree>
    <p:extLst>
      <p:ext uri="{BB962C8B-B14F-4D97-AF65-F5344CB8AC3E}">
        <p14:creationId xmlns:p14="http://schemas.microsoft.com/office/powerpoint/2010/main" val="3758458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BA0E5C-9502-E860-36EF-AC04EBE8C247}"/>
                  </a:ext>
                </a:extLst>
              </p:cNvPr>
              <p:cNvSpPr>
                <a:spLocks noGrp="1"/>
              </p:cNvSpPr>
              <p:nvPr>
                <p:ph idx="1"/>
              </p:nvPr>
            </p:nvSpPr>
            <p:spPr>
              <a:xfrm>
                <a:off x="838200" y="1690688"/>
                <a:ext cx="10515600" cy="4486275"/>
              </a:xfrm>
            </p:spPr>
            <p:txBody>
              <a:bodyPr>
                <a:normAutofit/>
              </a:bodyPr>
              <a:lstStyle/>
              <a:p>
                <a:pPr marL="0" indent="0">
                  <a:buNone/>
                </a:pPr>
                <a:r>
                  <a:rPr lang="en-GB" u="sng" dirty="0">
                    <a:solidFill>
                      <a:srgbClr val="000000"/>
                    </a:solidFill>
                    <a:effectLst/>
                    <a:ea typeface="Calibri" panose="020F0502020204030204" pitchFamily="34" charset="0"/>
                  </a:rPr>
                  <a:t>Solution to part ii. from 3 to 8 survive</a:t>
                </a:r>
                <a:endParaRPr lang="en-GB" i="1" dirty="0">
                  <a:solidFill>
                    <a:srgbClr val="000000"/>
                  </a:solidFill>
                  <a:effectLst/>
                  <a:ea typeface="Calibri" panose="020F0502020204030204" pitchFamily="34" charset="0"/>
                </a:endParaRPr>
              </a:p>
              <a:p>
                <a:pPr marL="0" indent="0">
                  <a:lnSpc>
                    <a:spcPct val="200000"/>
                  </a:lnSpc>
                  <a:buNone/>
                </a:pPr>
                <a:r>
                  <a:rPr lang="en-GB" dirty="0">
                    <a:effectLst/>
                    <a:ea typeface="Calibri" panose="020F0502020204030204" pitchFamily="34" charset="0"/>
                  </a:rPr>
                  <a:t> </a:t>
                </a:r>
                <a14:m>
                  <m:oMath xmlns:m="http://schemas.openxmlformats.org/officeDocument/2006/math">
                    <m:r>
                      <a:rPr lang="en-GB"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3≤</m:t>
                        </m:r>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≤8</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i="1" dirty="0">
                  <a:effectLst/>
                  <a:ea typeface="Calibri" panose="020F0502020204030204" pitchFamily="34" charset="0"/>
                </a:endParaRPr>
              </a:p>
              <a:p>
                <a:pPr marL="0" indent="0">
                  <a:lnSpc>
                    <a:spcPct val="200000"/>
                  </a:lnSpc>
                  <a:buNone/>
                </a:pPr>
                <a14:m>
                  <m:oMathPara xmlns:m="http://schemas.openxmlformats.org/officeDocument/2006/math">
                    <m:oMathParaPr>
                      <m:jc m:val="centerGroup"/>
                    </m:oMathParaPr>
                    <m:oMath xmlns:m="http://schemas.openxmlformats.org/officeDocument/2006/math">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=3</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=4</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=5</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=6</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=7</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r>
                        <a:rPr lang="en-GB" i="1">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a:effectLst/>
                              <a:latin typeface="Cambria Math" panose="02040503050406030204" pitchFamily="18" charset="0"/>
                            </a:rPr>
                          </m:ctrlPr>
                        </m:dPr>
                        <m:e>
                          <m:r>
                            <a:rPr lang="en-GB" i="1">
                              <a:effectLst/>
                              <a:latin typeface="Cambria Math" panose="02040503050406030204" pitchFamily="18" charset="0"/>
                              <a:ea typeface="Calibri" panose="020F0502020204030204" pitchFamily="34" charset="0"/>
                              <a:cs typeface="Times New Roman" panose="02020603050405020304" pitchFamily="18" charset="0"/>
                            </a:rPr>
                            <m:t>𝑋</m:t>
                          </m:r>
                          <m:r>
                            <a:rPr lang="en-GB" i="1">
                              <a:effectLst/>
                              <a:latin typeface="Cambria Math" panose="02040503050406030204" pitchFamily="18" charset="0"/>
                              <a:ea typeface="Calibri" panose="020F0502020204030204" pitchFamily="34" charset="0"/>
                              <a:cs typeface="Times New Roman" panose="02020603050405020304" pitchFamily="18" charset="0"/>
                            </a:rPr>
                            <m:t>=8</m:t>
                          </m:r>
                        </m:e>
                      </m:d>
                      <m:r>
                        <a:rPr lang="en-GB"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i="1" dirty="0">
                  <a:effectLst/>
                  <a:ea typeface="Calibri" panose="020F0502020204030204" pitchFamily="34" charset="0"/>
                </a:endParaRPr>
              </a:p>
              <a:p>
                <a:pPr marL="0" indent="0">
                  <a:lnSpc>
                    <a:spcPct val="200000"/>
                  </a:lnSpc>
                  <a:buNone/>
                </a:pPr>
                <a14:m>
                  <m:oMathPara xmlns:m="http://schemas.openxmlformats.org/officeDocument/2006/math">
                    <m:oMathParaPr>
                      <m:jc m:val="centerGroup"/>
                    </m:oMathParaPr>
                    <m:oMath xmlns:m="http://schemas.openxmlformats.org/officeDocument/2006/math">
                      <m:r>
                        <a:rPr lang="en-GB" i="1">
                          <a:effectLst/>
                          <a:latin typeface="Cambria Math" panose="02040503050406030204" pitchFamily="18" charset="0"/>
                          <a:ea typeface="Calibri" panose="020F0502020204030204" pitchFamily="34" charset="0"/>
                          <a:cs typeface="Times New Roman" panose="02020603050405020304" pitchFamily="18" charset="0"/>
                        </a:rPr>
                        <m:t>0.0634+0.1268+...+0.1181=0.8779</m:t>
                      </m:r>
                    </m:oMath>
                  </m:oMathPara>
                </a14:m>
                <a:endParaRPr lang="en-GB" dirty="0"/>
              </a:p>
            </p:txBody>
          </p:sp>
        </mc:Choice>
        <mc:Fallback xmlns="">
          <p:sp>
            <p:nvSpPr>
              <p:cNvPr id="3" name="Content Placeholder 2">
                <a:extLst>
                  <a:ext uri="{FF2B5EF4-FFF2-40B4-BE49-F238E27FC236}">
                    <a16:creationId xmlns:a16="http://schemas.microsoft.com/office/drawing/2014/main" id="{23BA0E5C-9502-E860-36EF-AC04EBE8C247}"/>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522" t="-1223"/>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1D998E4B-7EE3-1AFD-F7F9-79913557CA6E}"/>
              </a:ext>
            </a:extLst>
          </p:cNvPr>
          <p:cNvSpPr>
            <a:spLocks noGrp="1"/>
          </p:cNvSpPr>
          <p:nvPr>
            <p:ph type="title"/>
          </p:nvPr>
        </p:nvSpPr>
        <p:spPr>
          <a:xfrm>
            <a:off x="838200" y="365125"/>
            <a:ext cx="10515600" cy="1325563"/>
          </a:xfrm>
        </p:spPr>
        <p:txBody>
          <a:bodyPr/>
          <a:lstStyle/>
          <a:p>
            <a:r>
              <a:rPr lang="en-US" dirty="0"/>
              <a:t>Example 7.2 (continued)</a:t>
            </a:r>
            <a:endParaRPr lang="en-GB" b="1" dirty="0"/>
          </a:p>
        </p:txBody>
      </p:sp>
    </p:spTree>
    <p:extLst>
      <p:ext uri="{BB962C8B-B14F-4D97-AF65-F5344CB8AC3E}">
        <p14:creationId xmlns:p14="http://schemas.microsoft.com/office/powerpoint/2010/main" val="231449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3C84-8FDE-D623-0352-DBE4E0D3EF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ECC9BE-CBCD-4AE0-2C4A-21C193BEDF9B}"/>
              </a:ext>
            </a:extLst>
          </p:cNvPr>
          <p:cNvSpPr>
            <a:spLocks noGrp="1"/>
          </p:cNvSpPr>
          <p:nvPr>
            <p:ph idx="1"/>
          </p:nvPr>
        </p:nvSpPr>
        <p:spPr>
          <a:xfrm>
            <a:off x="838200" y="1690688"/>
            <a:ext cx="10515600" cy="4486275"/>
          </a:xfrm>
        </p:spPr>
        <p:txBody>
          <a:bodyPr>
            <a:normAutofit/>
          </a:bodyPr>
          <a:lstStyle/>
          <a:p>
            <a:pPr marL="0" indent="0">
              <a:buNone/>
            </a:pPr>
            <a:r>
              <a:rPr lang="en-GB" dirty="0"/>
              <a:t>Do it in </a:t>
            </a:r>
            <a:r>
              <a:rPr lang="en-GB" b="1" dirty="0"/>
              <a:t>R</a:t>
            </a:r>
            <a:r>
              <a:rPr lang="en-GB" dirty="0"/>
              <a:t>:</a:t>
            </a:r>
          </a:p>
          <a:p>
            <a:pPr marL="0" indent="0">
              <a:buNone/>
            </a:pPr>
            <a:r>
              <a:rPr lang="en-US" sz="1800" b="0" i="1" u="none" strike="noStrike" baseline="0" dirty="0">
                <a:solidFill>
                  <a:srgbClr val="8F5802"/>
                </a:solidFill>
                <a:latin typeface="Consolas" panose="020B0609020204030204" pitchFamily="49" charset="0"/>
              </a:rPr>
              <a:t># Probability that between 3 and 8 survive </a:t>
            </a:r>
            <a:r>
              <a:rPr lang="en-US" sz="1800" b="0" i="0" u="none" strike="noStrike" baseline="0" dirty="0">
                <a:solidFill>
                  <a:srgbClr val="000000"/>
                </a:solidFill>
                <a:latin typeface="Consolas" panose="020B0609020204030204" pitchFamily="49" charset="0"/>
              </a:rPr>
              <a:t>prob_3_to_8 </a:t>
            </a:r>
            <a:r>
              <a:rPr lang="en-US" sz="1800" b="0" i="0" u="none" strike="noStrike" baseline="0" dirty="0">
                <a:solidFill>
                  <a:srgbClr val="8F5802"/>
                </a:solidFill>
                <a:latin typeface="Consolas" panose="020B0609020204030204" pitchFamily="49" charset="0"/>
              </a:rPr>
              <a:t>&lt;- </a:t>
            </a:r>
            <a:r>
              <a:rPr lang="en-US" sz="1800" b="0" i="0" u="none" strike="noStrike" baseline="0" dirty="0">
                <a:solidFill>
                  <a:srgbClr val="000000"/>
                </a:solidFill>
                <a:latin typeface="Consolas" panose="020B0609020204030204" pitchFamily="49" charset="0"/>
              </a:rPr>
              <a:t>sum(</a:t>
            </a:r>
            <a:r>
              <a:rPr lang="en-US" sz="1800" b="0" i="0" u="none" strike="noStrike" baseline="0" dirty="0" err="1">
                <a:solidFill>
                  <a:srgbClr val="000000"/>
                </a:solidFill>
                <a:latin typeface="Consolas" panose="020B0609020204030204" pitchFamily="49" charset="0"/>
              </a:rPr>
              <a:t>dbinom</a:t>
            </a:r>
            <a:r>
              <a:rPr lang="en-US" sz="1800" b="0" i="0" u="none" strike="noStrike" baseline="0" dirty="0">
                <a:solidFill>
                  <a:srgbClr val="000000"/>
                </a:solidFill>
                <a:latin typeface="Consolas" panose="020B0609020204030204" pitchFamily="49" charset="0"/>
              </a:rPr>
              <a:t>(</a:t>
            </a:r>
            <a:r>
              <a:rPr lang="en-US" sz="1800" b="0" i="0" u="none" strike="noStrike" baseline="0" dirty="0">
                <a:solidFill>
                  <a:srgbClr val="0000CF"/>
                </a:solidFill>
                <a:latin typeface="Consolas" panose="020B0609020204030204" pitchFamily="49" charset="0"/>
              </a:rPr>
              <a:t>3</a:t>
            </a:r>
            <a:r>
              <a:rPr lang="en-US" sz="1800" b="0" i="0" u="none" strike="noStrike" baseline="0" dirty="0">
                <a:solidFill>
                  <a:srgbClr val="000000"/>
                </a:solidFill>
                <a:latin typeface="Consolas" panose="020B0609020204030204" pitchFamily="49" charset="0"/>
              </a:rPr>
              <a:t>:</a:t>
            </a:r>
            <a:r>
              <a:rPr lang="en-US" sz="1800" b="0" i="0" u="none" strike="noStrike" baseline="0" dirty="0">
                <a:solidFill>
                  <a:srgbClr val="0000CF"/>
                </a:solidFill>
                <a:latin typeface="Consolas" panose="020B0609020204030204" pitchFamily="49" charset="0"/>
              </a:rPr>
              <a:t>8</a:t>
            </a:r>
            <a:r>
              <a:rPr lang="en-US" sz="1800" b="0" i="0" u="none" strike="noStrike" baseline="0" dirty="0">
                <a:solidFill>
                  <a:srgbClr val="000000"/>
                </a:solidFill>
                <a:latin typeface="Consolas" panose="020B0609020204030204" pitchFamily="49" charset="0"/>
              </a:rPr>
              <a:t>, </a:t>
            </a:r>
            <a:r>
              <a:rPr lang="en-US" sz="1800" b="0" i="0" u="none" strike="noStrike" baseline="0" dirty="0">
                <a:solidFill>
                  <a:srgbClr val="C49F00"/>
                </a:solidFill>
                <a:latin typeface="Consolas" panose="020B0609020204030204" pitchFamily="49" charset="0"/>
              </a:rPr>
              <a:t>size = </a:t>
            </a:r>
            <a:r>
              <a:rPr lang="en-US" sz="1800" b="0" i="0" u="none" strike="noStrike" baseline="0" dirty="0">
                <a:solidFill>
                  <a:srgbClr val="0000CF"/>
                </a:solidFill>
                <a:latin typeface="Consolas" panose="020B0609020204030204" pitchFamily="49" charset="0"/>
              </a:rPr>
              <a:t>15</a:t>
            </a:r>
            <a:r>
              <a:rPr lang="en-US" sz="1800" b="0" i="0" u="none" strike="noStrike" baseline="0" dirty="0">
                <a:solidFill>
                  <a:srgbClr val="000000"/>
                </a:solidFill>
                <a:latin typeface="Consolas" panose="020B0609020204030204" pitchFamily="49" charset="0"/>
              </a:rPr>
              <a:t>, </a:t>
            </a:r>
            <a:r>
              <a:rPr lang="en-US" sz="1800" b="0" i="0" u="none" strike="noStrike" baseline="0" dirty="0">
                <a:solidFill>
                  <a:srgbClr val="C49F00"/>
                </a:solidFill>
                <a:latin typeface="Consolas" panose="020B0609020204030204" pitchFamily="49" charset="0"/>
              </a:rPr>
              <a:t>prob = </a:t>
            </a:r>
            <a:r>
              <a:rPr lang="en-US" sz="1800" b="0" i="0" u="none" strike="noStrike" baseline="0" dirty="0">
                <a:solidFill>
                  <a:srgbClr val="0000CF"/>
                </a:solidFill>
                <a:latin typeface="Consolas" panose="020B0609020204030204" pitchFamily="49" charset="0"/>
              </a:rPr>
              <a:t>0.4</a:t>
            </a:r>
            <a:r>
              <a:rPr lang="en-US" sz="1800" b="0" i="0" u="none" strike="noStrike" baseline="0" dirty="0">
                <a:solidFill>
                  <a:srgbClr val="000000"/>
                </a:solidFill>
                <a:latin typeface="Consolas" panose="020B0609020204030204" pitchFamily="49" charset="0"/>
              </a:rPr>
              <a:t>)) </a:t>
            </a:r>
            <a:r>
              <a:rPr lang="en-US" sz="1800" b="0" i="1" u="none" strike="noStrike" baseline="0" dirty="0">
                <a:solidFill>
                  <a:srgbClr val="8F5802"/>
                </a:solidFill>
                <a:latin typeface="Consolas" panose="020B0609020204030204" pitchFamily="49" charset="0"/>
              </a:rPr>
              <a:t># Display the probability </a:t>
            </a:r>
            <a:r>
              <a:rPr lang="en-US" sz="1800" b="0" i="0" u="none" strike="noStrike" baseline="0" dirty="0">
                <a:solidFill>
                  <a:srgbClr val="000000"/>
                </a:solidFill>
                <a:latin typeface="Consolas" panose="020B0609020204030204" pitchFamily="49" charset="0"/>
              </a:rPr>
              <a:t>prob_3_to_8 </a:t>
            </a:r>
          </a:p>
          <a:p>
            <a:pPr marL="0" indent="0">
              <a:buNone/>
            </a:pPr>
            <a:r>
              <a:rPr lang="en-GB" sz="1800" b="0" i="0" u="none" strike="noStrike" baseline="0" dirty="0">
                <a:solidFill>
                  <a:srgbClr val="000000"/>
                </a:solidFill>
                <a:latin typeface="Consolas" panose="020B0609020204030204" pitchFamily="49" charset="0"/>
              </a:rPr>
              <a:t>## [1] 0.8778386 </a:t>
            </a:r>
            <a:endParaRPr lang="en-GB" dirty="0"/>
          </a:p>
        </p:txBody>
      </p:sp>
      <p:sp>
        <p:nvSpPr>
          <p:cNvPr id="2" name="Title 1">
            <a:extLst>
              <a:ext uri="{FF2B5EF4-FFF2-40B4-BE49-F238E27FC236}">
                <a16:creationId xmlns:a16="http://schemas.microsoft.com/office/drawing/2014/main" id="{D76B9A61-AB2E-7701-4F15-DACE5D74A110}"/>
              </a:ext>
            </a:extLst>
          </p:cNvPr>
          <p:cNvSpPr>
            <a:spLocks noGrp="1"/>
          </p:cNvSpPr>
          <p:nvPr>
            <p:ph type="title"/>
          </p:nvPr>
        </p:nvSpPr>
        <p:spPr>
          <a:xfrm>
            <a:off x="838200" y="365125"/>
            <a:ext cx="10515600" cy="1325563"/>
          </a:xfrm>
        </p:spPr>
        <p:txBody>
          <a:bodyPr/>
          <a:lstStyle/>
          <a:p>
            <a:r>
              <a:rPr lang="en-US" dirty="0"/>
              <a:t>Example 7.2 (continued)</a:t>
            </a:r>
            <a:endParaRPr lang="en-GB" b="1" dirty="0"/>
          </a:p>
        </p:txBody>
      </p:sp>
    </p:spTree>
    <p:extLst>
      <p:ext uri="{BB962C8B-B14F-4D97-AF65-F5344CB8AC3E}">
        <p14:creationId xmlns:p14="http://schemas.microsoft.com/office/powerpoint/2010/main" val="3302451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7DC042-355E-1CAD-82D6-3564A6B09403}"/>
                  </a:ext>
                </a:extLst>
              </p:cNvPr>
              <p:cNvSpPr>
                <a:spLocks noGrp="1"/>
              </p:cNvSpPr>
              <p:nvPr>
                <p:ph idx="1"/>
              </p:nvPr>
            </p:nvSpPr>
            <p:spPr>
              <a:xfrm>
                <a:off x="838200" y="1690689"/>
                <a:ext cx="10515600" cy="2021776"/>
              </a:xfrm>
            </p:spPr>
            <p:txBody>
              <a:bodyPr>
                <a:normAutofit/>
              </a:bodyPr>
              <a:lstStyle/>
              <a:p>
                <a:pPr marL="0" indent="0">
                  <a:buNone/>
                </a:pPr>
                <a:r>
                  <a:rPr lang="en-GB" u="sng" dirty="0">
                    <a:solidFill>
                      <a:srgbClr val="000000"/>
                    </a:solidFill>
                    <a:effectLst/>
                    <a:ea typeface="Calibri" panose="020F0502020204030204" pitchFamily="34" charset="0"/>
                  </a:rPr>
                  <a:t>Solution to part iii. exactly 5 survive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smtClean="0">
                              <a:effectLst/>
                              <a:latin typeface="Cambria Math" panose="02040503050406030204" pitchFamily="18" charset="0"/>
                              <a:ea typeface="Calibri" panose="020F0502020204030204" pitchFamily="34" charset="0"/>
                              <a:cs typeface="Times New Roman" panose="02020603050405020304" pitchFamily="18" charset="0"/>
                            </a:rPr>
                          </m:ctrlPr>
                        </m:dPr>
                        <m:e>
                          <m:r>
                            <a:rPr lang="en-GB" i="1" smtClean="0">
                              <a:effectLst/>
                              <a:latin typeface="Cambria Math" panose="02040503050406030204" pitchFamily="18" charset="0"/>
                              <a:ea typeface="Calibri" panose="020F0502020204030204" pitchFamily="34" charset="0"/>
                              <a:cs typeface="Times New Roman" panose="02020603050405020304" pitchFamily="18" charset="0"/>
                            </a:rPr>
                            <m:t>𝑋</m:t>
                          </m:r>
                          <m:r>
                            <a:rPr lang="en-GB" i="1" smtClean="0">
                              <a:effectLst/>
                              <a:latin typeface="Cambria Math" panose="02040503050406030204" pitchFamily="18" charset="0"/>
                              <a:ea typeface="Calibri" panose="020F0502020204030204" pitchFamily="34" charset="0"/>
                              <a:cs typeface="Times New Roman" panose="02020603050405020304" pitchFamily="18" charset="0"/>
                            </a:rPr>
                            <m:t>=5</m:t>
                          </m:r>
                        </m:e>
                      </m:d>
                      <m:r>
                        <a:rPr lang="en-GB" i="1" smtClean="0">
                          <a:effectLst/>
                          <a:latin typeface="Cambria Math" panose="02040503050406030204" pitchFamily="18" charset="0"/>
                          <a:ea typeface="Calibri" panose="020F0502020204030204" pitchFamily="34" charset="0"/>
                          <a:cs typeface="Times New Roman" panose="02020603050405020304" pitchFamily="18" charset="0"/>
                        </a:rPr>
                        <m:t>=</m:t>
                      </m:r>
                      <m:r>
                        <a:rPr lang="en-GB" i="1" smtClean="0">
                          <a:solidFill>
                            <a:srgbClr val="000000"/>
                          </a:solidFill>
                          <a:effectLst/>
                          <a:latin typeface="Cambria Math" panose="02040503050406030204" pitchFamily="18" charset="0"/>
                          <a:ea typeface="Calibri" panose="020F0502020204030204" pitchFamily="34" charset="0"/>
                        </a:rPr>
                        <m:t>𝑏</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𝑥</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𝑝</m:t>
                          </m:r>
                        </m:e>
                      </m:d>
                      <m:r>
                        <a:rPr lang="en-GB" b="0" i="1" smtClean="0">
                          <a:solidFill>
                            <a:srgbClr val="000000"/>
                          </a:solidFill>
                          <a:effectLst/>
                          <a:latin typeface="Cambria Math" panose="02040503050406030204" pitchFamily="18" charset="0"/>
                          <a:ea typeface="Calibri" panose="020F0502020204030204" pitchFamily="34" charset="0"/>
                        </a:rPr>
                        <m:t>=</m:t>
                      </m:r>
                      <m:r>
                        <a:rPr lang="en-GB" i="1" smtClean="0">
                          <a:solidFill>
                            <a:srgbClr val="000000"/>
                          </a:solidFill>
                          <a:effectLst/>
                          <a:latin typeface="Cambria Math" panose="02040503050406030204" pitchFamily="18" charset="0"/>
                          <a:ea typeface="Calibri" panose="020F0502020204030204" pitchFamily="34" charset="0"/>
                        </a:rPr>
                        <m:t>𝑏</m:t>
                      </m:r>
                      <m:d>
                        <m:dPr>
                          <m:ctrlPr>
                            <a:rPr lang="en-GB" i="1">
                              <a:solidFill>
                                <a:srgbClr val="000000"/>
                              </a:solidFill>
                              <a:effectLst/>
                              <a:latin typeface="Cambria Math" panose="02040503050406030204" pitchFamily="18" charset="0"/>
                              <a:ea typeface="Calibri" panose="020F0502020204030204" pitchFamily="34" charset="0"/>
                            </a:rPr>
                          </m:ctrlPr>
                        </m:dPr>
                        <m:e>
                          <m:r>
                            <a:rPr lang="en-GB" b="0" i="1" smtClean="0">
                              <a:solidFill>
                                <a:srgbClr val="000000"/>
                              </a:solidFill>
                              <a:effectLst/>
                              <a:latin typeface="Cambria Math" panose="02040503050406030204" pitchFamily="18" charset="0"/>
                              <a:ea typeface="Calibri" panose="020F0502020204030204" pitchFamily="34" charset="0"/>
                            </a:rPr>
                            <m:t>5</m:t>
                          </m:r>
                          <m:r>
                            <a:rPr lang="en-GB" i="1">
                              <a:solidFill>
                                <a:srgbClr val="000000"/>
                              </a:solidFill>
                              <a:effectLst/>
                              <a:latin typeface="Cambria Math" panose="02040503050406030204" pitchFamily="18" charset="0"/>
                              <a:ea typeface="Calibri" panose="020F0502020204030204" pitchFamily="34" charset="0"/>
                            </a:rPr>
                            <m:t>;</m:t>
                          </m:r>
                          <m:r>
                            <a:rPr lang="en-GB" b="0" i="1" smtClean="0">
                              <a:solidFill>
                                <a:srgbClr val="000000"/>
                              </a:solidFill>
                              <a:effectLst/>
                              <a:latin typeface="Cambria Math" panose="02040503050406030204" pitchFamily="18" charset="0"/>
                              <a:ea typeface="Calibri" panose="020F0502020204030204" pitchFamily="34" charset="0"/>
                            </a:rPr>
                            <m:t>15</m:t>
                          </m:r>
                          <m:r>
                            <a:rPr lang="en-GB" i="1">
                              <a:solidFill>
                                <a:srgbClr val="000000"/>
                              </a:solidFill>
                              <a:effectLst/>
                              <a:latin typeface="Cambria Math" panose="02040503050406030204" pitchFamily="18" charset="0"/>
                              <a:ea typeface="Calibri" panose="020F0502020204030204" pitchFamily="34" charset="0"/>
                            </a:rPr>
                            <m:t>,</m:t>
                          </m:r>
                          <m:r>
                            <a:rPr lang="en-GB" b="0" i="1" smtClean="0">
                              <a:solidFill>
                                <a:srgbClr val="000000"/>
                              </a:solidFill>
                              <a:effectLst/>
                              <a:latin typeface="Cambria Math" panose="02040503050406030204" pitchFamily="18" charset="0"/>
                              <a:ea typeface="Calibri" panose="020F0502020204030204" pitchFamily="34" charset="0"/>
                            </a:rPr>
                            <m:t>0.4</m:t>
                          </m:r>
                        </m:e>
                      </m:d>
                      <m:r>
                        <a:rPr lang="en-GB" i="1">
                          <a:solidFill>
                            <a:srgbClr val="000000"/>
                          </a:solidFill>
                          <a:effectLst/>
                          <a:latin typeface="Cambria Math" panose="02040503050406030204" pitchFamily="18" charset="0"/>
                          <a:ea typeface="Calibri" panose="020F0502020204030204" pitchFamily="34" charset="0"/>
                        </a:rPr>
                        <m:t>=</m:t>
                      </m:r>
                      <m:d>
                        <m:dPr>
                          <m:ctrlPr>
                            <a:rPr lang="en-GB" i="1">
                              <a:solidFill>
                                <a:srgbClr val="000000"/>
                              </a:solidFill>
                              <a:effectLst/>
                              <a:latin typeface="Cambria Math" panose="02040503050406030204" pitchFamily="18" charset="0"/>
                              <a:ea typeface="Calibri" panose="020F0502020204030204" pitchFamily="34" charset="0"/>
                            </a:rPr>
                          </m:ctrlPr>
                        </m:dPr>
                        <m:e>
                          <m:f>
                            <m:fPr>
                              <m:type m:val="noBar"/>
                              <m:ctrlPr>
                                <a:rPr lang="en-GB" i="1">
                                  <a:solidFill>
                                    <a:srgbClr val="000000"/>
                                  </a:solidFill>
                                  <a:effectLst/>
                                  <a:latin typeface="Cambria Math" panose="02040503050406030204" pitchFamily="18" charset="0"/>
                                  <a:ea typeface="Calibri" panose="020F0502020204030204" pitchFamily="34" charset="0"/>
                                </a:rPr>
                              </m:ctrlPr>
                            </m:fPr>
                            <m:num>
                              <m:r>
                                <a:rPr lang="en-GB" i="1" smtClean="0">
                                  <a:solidFill>
                                    <a:srgbClr val="000000"/>
                                  </a:solidFill>
                                  <a:effectLst/>
                                  <a:latin typeface="Cambria Math" panose="02040503050406030204" pitchFamily="18" charset="0"/>
                                  <a:ea typeface="Calibri" panose="020F0502020204030204" pitchFamily="34" charset="0"/>
                                </a:rPr>
                                <m:t>𝑛</m:t>
                              </m:r>
                            </m:num>
                            <m:den>
                              <m:r>
                                <a:rPr lang="en-GB" i="1">
                                  <a:solidFill>
                                    <a:srgbClr val="000000"/>
                                  </a:solidFill>
                                  <a:effectLst/>
                                  <a:latin typeface="Cambria Math" panose="02040503050406030204" pitchFamily="18" charset="0"/>
                                  <a:ea typeface="Calibri" panose="020F0502020204030204" pitchFamily="34" charset="0"/>
                                </a:rPr>
                                <m:t>𝑥</m:t>
                              </m:r>
                            </m:den>
                          </m:f>
                        </m:e>
                      </m:d>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𝑝</m:t>
                          </m:r>
                        </m:e>
                        <m:sup>
                          <m:r>
                            <a:rPr lang="en-GB" i="1">
                              <a:solidFill>
                                <a:srgbClr val="000000"/>
                              </a:solidFill>
                              <a:effectLst/>
                              <a:latin typeface="Cambria Math" panose="02040503050406030204" pitchFamily="18" charset="0"/>
                              <a:ea typeface="Calibri" panose="020F0502020204030204" pitchFamily="34" charset="0"/>
                            </a:rPr>
                            <m:t>𝑥</m:t>
                          </m:r>
                        </m:sup>
                      </m:sSup>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𝑞</m:t>
                          </m:r>
                        </m:e>
                        <m:sup>
                          <m:r>
                            <a:rPr lang="en-GB" i="1">
                              <a:solidFill>
                                <a:srgbClr val="000000"/>
                              </a:solidFill>
                              <a:effectLst/>
                              <a:latin typeface="Cambria Math" panose="02040503050406030204" pitchFamily="18" charset="0"/>
                              <a:ea typeface="Calibri" panose="020F0502020204030204" pitchFamily="34" charset="0"/>
                            </a:rPr>
                            <m:t>𝑛</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𝑥</m:t>
                          </m:r>
                        </m:sup>
                      </m:sSup>
                      <m:r>
                        <a:rPr lang="en-GB" b="0" i="1" smtClean="0">
                          <a:solidFill>
                            <a:srgbClr val="000000"/>
                          </a:solidFill>
                          <a:effectLst/>
                          <a:latin typeface="Cambria Math" panose="02040503050406030204" pitchFamily="18" charset="0"/>
                          <a:ea typeface="Calibri" panose="020F0502020204030204" pitchFamily="34" charset="0"/>
                        </a:rPr>
                        <m:t>=</m:t>
                      </m:r>
                      <m:d>
                        <m:dPr>
                          <m:ctrlPr>
                            <a:rPr lang="en-GB" i="1" smtClean="0">
                              <a:solidFill>
                                <a:srgbClr val="000000"/>
                              </a:solidFill>
                              <a:effectLst/>
                              <a:latin typeface="Cambria Math" panose="02040503050406030204" pitchFamily="18" charset="0"/>
                              <a:ea typeface="Calibri" panose="020F0502020204030204" pitchFamily="34" charset="0"/>
                            </a:rPr>
                          </m:ctrlPr>
                        </m:dPr>
                        <m:e>
                          <m:f>
                            <m:fPr>
                              <m:type m:val="noBar"/>
                              <m:ctrlPr>
                                <a:rPr lang="en-GB" i="1">
                                  <a:solidFill>
                                    <a:srgbClr val="000000"/>
                                  </a:solidFill>
                                  <a:effectLst/>
                                  <a:latin typeface="Cambria Math" panose="02040503050406030204" pitchFamily="18" charset="0"/>
                                  <a:ea typeface="Calibri" panose="020F0502020204030204" pitchFamily="34" charset="0"/>
                                </a:rPr>
                              </m:ctrlPr>
                            </m:fPr>
                            <m:num>
                              <m:r>
                                <a:rPr lang="en-GB" b="0" i="1" smtClean="0">
                                  <a:solidFill>
                                    <a:srgbClr val="000000"/>
                                  </a:solidFill>
                                  <a:effectLst/>
                                  <a:latin typeface="Cambria Math" panose="02040503050406030204" pitchFamily="18" charset="0"/>
                                  <a:ea typeface="Calibri" panose="020F0502020204030204" pitchFamily="34" charset="0"/>
                                </a:rPr>
                                <m:t>15</m:t>
                              </m:r>
                            </m:num>
                            <m:den>
                              <m:r>
                                <a:rPr lang="en-GB" b="0" i="1" smtClean="0">
                                  <a:solidFill>
                                    <a:srgbClr val="000000"/>
                                  </a:solidFill>
                                  <a:effectLst/>
                                  <a:latin typeface="Cambria Math" panose="02040503050406030204" pitchFamily="18" charset="0"/>
                                  <a:ea typeface="Calibri" panose="020F0502020204030204" pitchFamily="34" charset="0"/>
                                </a:rPr>
                                <m:t>5</m:t>
                              </m:r>
                            </m:den>
                          </m:f>
                        </m:e>
                      </m:d>
                      <m:r>
                        <a:rPr lang="en-GB" i="1" smtClean="0">
                          <a:solidFill>
                            <a:srgbClr val="000000"/>
                          </a:solidFill>
                          <a:effectLst/>
                          <a:latin typeface="Cambria Math" panose="02040503050406030204" pitchFamily="18" charset="0"/>
                          <a:ea typeface="Cambria Math" panose="02040503050406030204" pitchFamily="18" charset="0"/>
                        </a:rPr>
                        <m:t>×</m:t>
                      </m:r>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b="0" i="1" smtClean="0">
                              <a:solidFill>
                                <a:srgbClr val="000000"/>
                              </a:solidFill>
                              <a:effectLst/>
                              <a:latin typeface="Cambria Math" panose="02040503050406030204" pitchFamily="18" charset="0"/>
                              <a:ea typeface="Calibri" panose="020F0502020204030204" pitchFamily="34" charset="0"/>
                            </a:rPr>
                            <m:t>(0.4</m:t>
                          </m:r>
                        </m:e>
                        <m:sup>
                          <m:r>
                            <a:rPr lang="en-GB" b="0" i="1" smtClean="0">
                              <a:solidFill>
                                <a:srgbClr val="000000"/>
                              </a:solidFill>
                              <a:effectLst/>
                              <a:latin typeface="Cambria Math" panose="02040503050406030204" pitchFamily="18" charset="0"/>
                              <a:ea typeface="Calibri" panose="020F0502020204030204" pitchFamily="34" charset="0"/>
                            </a:rPr>
                            <m:t>5</m:t>
                          </m:r>
                        </m:sup>
                      </m:sSup>
                      <m:r>
                        <a:rPr lang="en-GB" b="0" i="1" smtClean="0">
                          <a:solidFill>
                            <a:srgbClr val="000000"/>
                          </a:solidFill>
                          <a:effectLst/>
                          <a:latin typeface="Cambria Math" panose="02040503050406030204" pitchFamily="18" charset="0"/>
                          <a:ea typeface="Calibri" panose="020F0502020204030204" pitchFamily="34" charset="0"/>
                        </a:rPr>
                        <m:t>)</m:t>
                      </m:r>
                      <m:r>
                        <a:rPr lang="en-GB" b="0" i="1" smtClean="0">
                          <a:solidFill>
                            <a:srgbClr val="000000"/>
                          </a:solidFill>
                          <a:effectLst/>
                          <a:latin typeface="Cambria Math" panose="02040503050406030204" pitchFamily="18" charset="0"/>
                          <a:ea typeface="Cambria Math" panose="02040503050406030204" pitchFamily="18" charset="0"/>
                        </a:rPr>
                        <m:t>×</m:t>
                      </m:r>
                      <m:r>
                        <a:rPr lang="en-GB" b="0" i="1" smtClean="0">
                          <a:solidFill>
                            <a:srgbClr val="000000"/>
                          </a:solidFill>
                          <a:effectLst/>
                          <a:latin typeface="Cambria Math" panose="02040503050406030204" pitchFamily="18" charset="0"/>
                          <a:ea typeface="Calibri" panose="020F0502020204030204" pitchFamily="34" charset="0"/>
                        </a:rPr>
                        <m:t>(</m:t>
                      </m:r>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b="0" i="1" smtClean="0">
                              <a:solidFill>
                                <a:srgbClr val="000000"/>
                              </a:solidFill>
                              <a:effectLst/>
                              <a:latin typeface="Cambria Math" panose="02040503050406030204" pitchFamily="18" charset="0"/>
                              <a:ea typeface="Calibri" panose="020F0502020204030204" pitchFamily="34" charset="0"/>
                            </a:rPr>
                            <m:t>1−0.4</m:t>
                          </m:r>
                        </m:e>
                        <m:sup>
                          <m:r>
                            <a:rPr lang="en-GB" b="0" i="1" smtClean="0">
                              <a:solidFill>
                                <a:srgbClr val="000000"/>
                              </a:solidFill>
                              <a:effectLst/>
                              <a:latin typeface="Cambria Math" panose="02040503050406030204" pitchFamily="18" charset="0"/>
                              <a:ea typeface="Calibri" panose="020F0502020204030204" pitchFamily="34" charset="0"/>
                            </a:rPr>
                            <m:t>15</m:t>
                          </m:r>
                          <m:r>
                            <a:rPr lang="en-GB" i="1">
                              <a:solidFill>
                                <a:srgbClr val="000000"/>
                              </a:solidFill>
                              <a:effectLst/>
                              <a:latin typeface="Cambria Math" panose="02040503050406030204" pitchFamily="18" charset="0"/>
                              <a:ea typeface="Calibri" panose="020F0502020204030204" pitchFamily="34" charset="0"/>
                            </a:rPr>
                            <m:t>−</m:t>
                          </m:r>
                          <m:r>
                            <a:rPr lang="en-GB" b="0" i="1" smtClean="0">
                              <a:solidFill>
                                <a:srgbClr val="000000"/>
                              </a:solidFill>
                              <a:effectLst/>
                              <a:latin typeface="Cambria Math" panose="02040503050406030204" pitchFamily="18" charset="0"/>
                              <a:ea typeface="Calibri" panose="020F0502020204030204" pitchFamily="34" charset="0"/>
                            </a:rPr>
                            <m:t>5</m:t>
                          </m:r>
                        </m:sup>
                      </m:sSup>
                      <m:r>
                        <a:rPr lang="en-GB" b="0" i="1" smtClean="0">
                          <a:solidFill>
                            <a:srgbClr val="000000"/>
                          </a:solidFill>
                          <a:effectLst/>
                          <a:latin typeface="Cambria Math" panose="02040503050406030204" pitchFamily="18" charset="0"/>
                          <a:ea typeface="Calibri" panose="020F0502020204030204" pitchFamily="34" charset="0"/>
                        </a:rPr>
                        <m:t>)=</m:t>
                      </m:r>
                      <m:r>
                        <a:rPr lang="en-GB" i="1" smtClean="0">
                          <a:effectLst/>
                          <a:latin typeface="Cambria Math" panose="02040503050406030204" pitchFamily="18" charset="0"/>
                          <a:ea typeface="Calibri" panose="020F0502020204030204" pitchFamily="34" charset="0"/>
                          <a:cs typeface="Times New Roman" panose="02020603050405020304" pitchFamily="18" charset="0"/>
                        </a:rPr>
                        <m:t>0.1859</m:t>
                      </m:r>
                    </m:oMath>
                  </m:oMathPara>
                </a14:m>
                <a:endParaRPr lang="en-GB" dirty="0"/>
              </a:p>
            </p:txBody>
          </p:sp>
        </mc:Choice>
        <mc:Fallback xmlns="">
          <p:sp>
            <p:nvSpPr>
              <p:cNvPr id="3" name="Content Placeholder 2">
                <a:extLst>
                  <a:ext uri="{FF2B5EF4-FFF2-40B4-BE49-F238E27FC236}">
                    <a16:creationId xmlns:a16="http://schemas.microsoft.com/office/drawing/2014/main" id="{787DC042-355E-1CAD-82D6-3564A6B09403}"/>
                  </a:ext>
                </a:extLst>
              </p:cNvPr>
              <p:cNvSpPr>
                <a:spLocks noGrp="1" noRot="1" noChangeAspect="1" noMove="1" noResize="1" noEditPoints="1" noAdjustHandles="1" noChangeArrowheads="1" noChangeShapeType="1" noTextEdit="1"/>
              </p:cNvSpPr>
              <p:nvPr>
                <p:ph idx="1"/>
              </p:nvPr>
            </p:nvSpPr>
            <p:spPr>
              <a:xfrm>
                <a:off x="838200" y="1690689"/>
                <a:ext cx="10515600" cy="2021776"/>
              </a:xfrm>
              <a:blipFill>
                <a:blip r:embed="rId2"/>
                <a:stretch>
                  <a:fillRect l="-522" t="-2711"/>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1E53CB90-AA6B-2E65-8592-9CC522AA7D7A}"/>
              </a:ext>
            </a:extLst>
          </p:cNvPr>
          <p:cNvSpPr>
            <a:spLocks noGrp="1"/>
          </p:cNvSpPr>
          <p:nvPr>
            <p:ph type="title"/>
          </p:nvPr>
        </p:nvSpPr>
        <p:spPr>
          <a:xfrm>
            <a:off x="838200" y="365125"/>
            <a:ext cx="10515600" cy="1325563"/>
          </a:xfrm>
        </p:spPr>
        <p:txBody>
          <a:bodyPr/>
          <a:lstStyle/>
          <a:p>
            <a:r>
              <a:rPr lang="en-US" dirty="0"/>
              <a:t>Example 7.2 (continued)</a:t>
            </a:r>
            <a:endParaRPr lang="en-GB" b="1" dirty="0"/>
          </a:p>
        </p:txBody>
      </p:sp>
    </p:spTree>
    <p:extLst>
      <p:ext uri="{BB962C8B-B14F-4D97-AF65-F5344CB8AC3E}">
        <p14:creationId xmlns:p14="http://schemas.microsoft.com/office/powerpoint/2010/main" val="1162423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B24DC-49C3-ACB9-5A07-BF63D0E2E5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000A1-91D5-BA83-7E6E-369F7C63040E}"/>
              </a:ext>
            </a:extLst>
          </p:cNvPr>
          <p:cNvSpPr>
            <a:spLocks noGrp="1"/>
          </p:cNvSpPr>
          <p:nvPr>
            <p:ph idx="1"/>
          </p:nvPr>
        </p:nvSpPr>
        <p:spPr>
          <a:xfrm>
            <a:off x="838200" y="1690689"/>
            <a:ext cx="10515600" cy="2021776"/>
          </a:xfrm>
        </p:spPr>
        <p:txBody>
          <a:bodyPr>
            <a:normAutofit/>
          </a:bodyPr>
          <a:lstStyle/>
          <a:p>
            <a:pPr marL="0" indent="0">
              <a:buNone/>
            </a:pPr>
            <a:r>
              <a:rPr lang="en-GB" sz="1800" b="0" i="0" u="none" strike="noStrike" baseline="0" dirty="0">
                <a:solidFill>
                  <a:srgbClr val="000000"/>
                </a:solidFill>
                <a:latin typeface="Arial" panose="020B0604020202020204" pitchFamily="34" charset="0"/>
              </a:rPr>
              <a:t>Do it in </a:t>
            </a:r>
            <a:r>
              <a:rPr lang="en-GB" sz="1800" b="1" i="0" u="none" strike="noStrike" baseline="0" dirty="0">
                <a:solidFill>
                  <a:srgbClr val="000000"/>
                </a:solidFill>
                <a:latin typeface="Arial" panose="020B0604020202020204" pitchFamily="34" charset="0"/>
              </a:rPr>
              <a:t>R</a:t>
            </a:r>
            <a:r>
              <a:rPr lang="en-GB" sz="1800" b="0" i="0" u="none" strike="noStrike" baseline="0" dirty="0">
                <a:solidFill>
                  <a:srgbClr val="000000"/>
                </a:solidFill>
                <a:latin typeface="Arial" panose="020B0604020202020204" pitchFamily="34" charset="0"/>
              </a:rPr>
              <a:t>: </a:t>
            </a:r>
          </a:p>
          <a:p>
            <a:pPr marL="0" indent="0">
              <a:buNone/>
            </a:pPr>
            <a:r>
              <a:rPr lang="en-US" sz="1800" b="0" i="1" u="none" strike="noStrike" baseline="0" dirty="0">
                <a:solidFill>
                  <a:srgbClr val="8F5802"/>
                </a:solidFill>
                <a:latin typeface="Consolas" panose="020B0609020204030204" pitchFamily="49" charset="0"/>
              </a:rPr>
              <a:t># Probability that exactly 5 survive </a:t>
            </a:r>
            <a:r>
              <a:rPr lang="en-US" sz="1800" b="0" i="0" u="none" strike="noStrike" baseline="0" dirty="0">
                <a:solidFill>
                  <a:srgbClr val="000000"/>
                </a:solidFill>
                <a:latin typeface="Consolas" panose="020B0609020204030204" pitchFamily="49" charset="0"/>
              </a:rPr>
              <a:t>prob_exactly_5 </a:t>
            </a:r>
            <a:r>
              <a:rPr lang="en-US" sz="1800" b="0" i="0" u="none" strike="noStrike" baseline="0" dirty="0">
                <a:solidFill>
                  <a:srgbClr val="8F5802"/>
                </a:solidFill>
                <a:latin typeface="Consolas" panose="020B0609020204030204" pitchFamily="49" charset="0"/>
              </a:rPr>
              <a:t>&lt;- </a:t>
            </a:r>
            <a:r>
              <a:rPr lang="en-US" sz="1800" b="0" i="0" u="none" strike="noStrike" baseline="0" dirty="0" err="1">
                <a:solidFill>
                  <a:srgbClr val="000000"/>
                </a:solidFill>
                <a:latin typeface="Consolas" panose="020B0609020204030204" pitchFamily="49" charset="0"/>
              </a:rPr>
              <a:t>dbinom</a:t>
            </a:r>
            <a:r>
              <a:rPr lang="en-US" sz="1800" b="0" i="0" u="none" strike="noStrike" baseline="0" dirty="0">
                <a:solidFill>
                  <a:srgbClr val="000000"/>
                </a:solidFill>
                <a:latin typeface="Consolas" panose="020B0609020204030204" pitchFamily="49" charset="0"/>
              </a:rPr>
              <a:t>(</a:t>
            </a:r>
            <a:r>
              <a:rPr lang="en-US" sz="1800" b="0" i="0" u="none" strike="noStrike" baseline="0" dirty="0">
                <a:solidFill>
                  <a:srgbClr val="0000CF"/>
                </a:solidFill>
                <a:latin typeface="Consolas" panose="020B0609020204030204" pitchFamily="49" charset="0"/>
              </a:rPr>
              <a:t>5</a:t>
            </a:r>
            <a:r>
              <a:rPr lang="en-US" sz="1800" b="0" i="0" u="none" strike="noStrike" baseline="0" dirty="0">
                <a:solidFill>
                  <a:srgbClr val="000000"/>
                </a:solidFill>
                <a:latin typeface="Consolas" panose="020B0609020204030204" pitchFamily="49" charset="0"/>
              </a:rPr>
              <a:t>, </a:t>
            </a:r>
            <a:r>
              <a:rPr lang="en-US" sz="1800" b="0" i="0" u="none" strike="noStrike" baseline="0" dirty="0">
                <a:solidFill>
                  <a:srgbClr val="C49F00"/>
                </a:solidFill>
                <a:latin typeface="Consolas" panose="020B0609020204030204" pitchFamily="49" charset="0"/>
              </a:rPr>
              <a:t>size = </a:t>
            </a:r>
            <a:r>
              <a:rPr lang="en-US" sz="1800" b="0" i="0" u="none" strike="noStrike" baseline="0" dirty="0">
                <a:solidFill>
                  <a:srgbClr val="0000CF"/>
                </a:solidFill>
                <a:latin typeface="Consolas" panose="020B0609020204030204" pitchFamily="49" charset="0"/>
              </a:rPr>
              <a:t>15</a:t>
            </a:r>
            <a:r>
              <a:rPr lang="en-US" sz="1800" b="0" i="0" u="none" strike="noStrike" baseline="0" dirty="0">
                <a:solidFill>
                  <a:srgbClr val="000000"/>
                </a:solidFill>
                <a:latin typeface="Consolas" panose="020B0609020204030204" pitchFamily="49" charset="0"/>
              </a:rPr>
              <a:t>, </a:t>
            </a:r>
            <a:r>
              <a:rPr lang="en-US" sz="1800" b="0" i="0" u="none" strike="noStrike" baseline="0" dirty="0">
                <a:solidFill>
                  <a:srgbClr val="C49F00"/>
                </a:solidFill>
                <a:latin typeface="Consolas" panose="020B0609020204030204" pitchFamily="49" charset="0"/>
              </a:rPr>
              <a:t>prob = </a:t>
            </a:r>
            <a:r>
              <a:rPr lang="en-US" sz="1800" b="0" i="0" u="none" strike="noStrike" baseline="0" dirty="0">
                <a:solidFill>
                  <a:srgbClr val="0000CF"/>
                </a:solidFill>
                <a:latin typeface="Consolas" panose="020B0609020204030204" pitchFamily="49" charset="0"/>
              </a:rPr>
              <a:t>0.4</a:t>
            </a:r>
            <a:r>
              <a:rPr lang="en-US" sz="1800" b="0" i="0" u="none" strike="noStrike" baseline="0" dirty="0">
                <a:solidFill>
                  <a:srgbClr val="000000"/>
                </a:solidFill>
                <a:latin typeface="Consolas" panose="020B0609020204030204" pitchFamily="49" charset="0"/>
              </a:rPr>
              <a:t>) </a:t>
            </a:r>
            <a:r>
              <a:rPr lang="en-US" sz="1800" b="0" i="1" u="none" strike="noStrike" baseline="0" dirty="0">
                <a:solidFill>
                  <a:srgbClr val="8F5802"/>
                </a:solidFill>
                <a:latin typeface="Consolas" panose="020B0609020204030204" pitchFamily="49" charset="0"/>
              </a:rPr>
              <a:t># Display the probability </a:t>
            </a:r>
            <a:r>
              <a:rPr lang="en-US" sz="1800" b="0" i="0" u="none" strike="noStrike" baseline="0" dirty="0">
                <a:solidFill>
                  <a:srgbClr val="000000"/>
                </a:solidFill>
                <a:latin typeface="Consolas" panose="020B0609020204030204" pitchFamily="49" charset="0"/>
              </a:rPr>
              <a:t>prob_exactly_5 </a:t>
            </a:r>
          </a:p>
          <a:p>
            <a:pPr marL="0" indent="0">
              <a:buNone/>
            </a:pPr>
            <a:r>
              <a:rPr lang="en-GB" sz="1800" b="0" i="0" u="none" strike="noStrike" baseline="0" dirty="0">
                <a:solidFill>
                  <a:srgbClr val="000000"/>
                </a:solidFill>
                <a:latin typeface="Consolas" panose="020B0609020204030204" pitchFamily="49" charset="0"/>
              </a:rPr>
              <a:t>## [1] 0.1859378 </a:t>
            </a:r>
            <a:endParaRPr lang="en-GB" dirty="0"/>
          </a:p>
        </p:txBody>
      </p:sp>
      <p:sp>
        <p:nvSpPr>
          <p:cNvPr id="2" name="Title 1">
            <a:extLst>
              <a:ext uri="{FF2B5EF4-FFF2-40B4-BE49-F238E27FC236}">
                <a16:creationId xmlns:a16="http://schemas.microsoft.com/office/drawing/2014/main" id="{EB82AA05-0689-C1ED-C448-F009864D11BC}"/>
              </a:ext>
            </a:extLst>
          </p:cNvPr>
          <p:cNvSpPr>
            <a:spLocks noGrp="1"/>
          </p:cNvSpPr>
          <p:nvPr>
            <p:ph type="title"/>
          </p:nvPr>
        </p:nvSpPr>
        <p:spPr>
          <a:xfrm>
            <a:off x="838200" y="365125"/>
            <a:ext cx="10515600" cy="1325563"/>
          </a:xfrm>
        </p:spPr>
        <p:txBody>
          <a:bodyPr/>
          <a:lstStyle/>
          <a:p>
            <a:r>
              <a:rPr lang="en-US" dirty="0"/>
              <a:t>Example 7.2 (continued)</a:t>
            </a:r>
            <a:endParaRPr lang="en-GB" b="1" dirty="0"/>
          </a:p>
        </p:txBody>
      </p:sp>
    </p:spTree>
    <p:extLst>
      <p:ext uri="{BB962C8B-B14F-4D97-AF65-F5344CB8AC3E}">
        <p14:creationId xmlns:p14="http://schemas.microsoft.com/office/powerpoint/2010/main" val="290466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06CB-62A1-C708-9422-A500071EA045}"/>
              </a:ext>
            </a:extLst>
          </p:cNvPr>
          <p:cNvSpPr>
            <a:spLocks noGrp="1"/>
          </p:cNvSpPr>
          <p:nvPr>
            <p:ph type="title"/>
          </p:nvPr>
        </p:nvSpPr>
        <p:spPr/>
        <p:txBody>
          <a:bodyPr/>
          <a:lstStyle/>
          <a:p>
            <a:r>
              <a:rPr lang="en-US" dirty="0"/>
              <a:t>Example 7.2 (continued)</a:t>
            </a:r>
            <a:endParaRPr lang="en-GB" dirty="0"/>
          </a:p>
        </p:txBody>
      </p:sp>
      <p:pic>
        <p:nvPicPr>
          <p:cNvPr id="4" name="Picture 3">
            <a:extLst>
              <a:ext uri="{FF2B5EF4-FFF2-40B4-BE49-F238E27FC236}">
                <a16:creationId xmlns:a16="http://schemas.microsoft.com/office/drawing/2014/main" id="{3C3CD18E-AB0E-1436-AA74-2998E57958F4}"/>
              </a:ext>
            </a:extLst>
          </p:cNvPr>
          <p:cNvPicPr>
            <a:picLocks noChangeAspect="1"/>
          </p:cNvPicPr>
          <p:nvPr/>
        </p:nvPicPr>
        <p:blipFill>
          <a:blip r:embed="rId2"/>
          <a:stretch>
            <a:fillRect/>
          </a:stretch>
        </p:blipFill>
        <p:spPr>
          <a:xfrm>
            <a:off x="1597809" y="1690688"/>
            <a:ext cx="8204559" cy="4614950"/>
          </a:xfrm>
          <a:prstGeom prst="rect">
            <a:avLst/>
          </a:prstGeom>
        </p:spPr>
      </p:pic>
    </p:spTree>
    <p:extLst>
      <p:ext uri="{BB962C8B-B14F-4D97-AF65-F5344CB8AC3E}">
        <p14:creationId xmlns:p14="http://schemas.microsoft.com/office/powerpoint/2010/main" val="3891076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E53D2-317B-E5BE-E314-A9772B49702A}"/>
              </a:ext>
            </a:extLst>
          </p:cNvPr>
          <p:cNvSpPr>
            <a:spLocks noGrp="1"/>
          </p:cNvSpPr>
          <p:nvPr>
            <p:ph type="title"/>
          </p:nvPr>
        </p:nvSpPr>
        <p:spPr/>
        <p:txBody>
          <a:bodyPr/>
          <a:lstStyle/>
          <a:p>
            <a:r>
              <a:rPr lang="en-US" dirty="0"/>
              <a:t>Additional notes</a:t>
            </a:r>
            <a:endParaRPr lang="en-GB" dirty="0"/>
          </a:p>
        </p:txBody>
      </p:sp>
      <p:sp>
        <p:nvSpPr>
          <p:cNvPr id="3" name="Content Placeholder 2">
            <a:extLst>
              <a:ext uri="{FF2B5EF4-FFF2-40B4-BE49-F238E27FC236}">
                <a16:creationId xmlns:a16="http://schemas.microsoft.com/office/drawing/2014/main" id="{430FD804-9C4C-4228-7FD9-320E048F034C}"/>
              </a:ext>
            </a:extLst>
          </p:cNvPr>
          <p:cNvSpPr>
            <a:spLocks noGrp="1"/>
          </p:cNvSpPr>
          <p:nvPr>
            <p:ph idx="1"/>
          </p:nvPr>
        </p:nvSpPr>
        <p:spPr/>
        <p:txBody>
          <a:bodyPr/>
          <a:lstStyle/>
          <a:p>
            <a:r>
              <a:rPr lang="en-GB" dirty="0">
                <a:effectLst/>
                <a:ea typeface="Calibri" panose="020F0502020204030204" pitchFamily="34" charset="0"/>
                <a:cs typeface="Times New Roman" panose="02020603050405020304" pitchFamily="18" charset="0"/>
              </a:rPr>
              <a:t>For the probabilities obtained in part ii. and iii., they can be obtained using </a:t>
            </a:r>
            <a:r>
              <a:rPr lang="en-GB" b="1" dirty="0">
                <a:effectLst/>
                <a:ea typeface="Calibri" panose="020F0502020204030204" pitchFamily="34" charset="0"/>
                <a:cs typeface="Times New Roman" panose="02020603050405020304" pitchFamily="18" charset="0"/>
              </a:rPr>
              <a:t>R</a:t>
            </a:r>
            <a:r>
              <a:rPr lang="en-GB" dirty="0">
                <a:effectLst/>
                <a:ea typeface="Calibri" panose="020F0502020204030204" pitchFamily="34" charset="0"/>
                <a:cs typeface="Times New Roman" panose="02020603050405020304" pitchFamily="18" charset="0"/>
              </a:rPr>
              <a:t> or using the Binomial formula or from the table of Binomial probabilities.</a:t>
            </a:r>
          </a:p>
          <a:p>
            <a:r>
              <a:rPr lang="en-GB" dirty="0">
                <a:effectLst/>
                <a:ea typeface="Calibri" panose="020F0502020204030204" pitchFamily="34" charset="0"/>
                <a:cs typeface="Times New Roman" panose="02020603050405020304" pitchFamily="18" charset="0"/>
              </a:rPr>
              <a:t>For the latter, maybe try it out a few times, but in recent years we tend to reply on computers. Since tables are pre-computed and rounded estimates, computers tend to be more accurate.</a:t>
            </a:r>
            <a:endParaRPr lang="en-GB" dirty="0">
              <a:ea typeface="Calibri" panose="020F0502020204030204" pitchFamily="34" charset="0"/>
              <a:cs typeface="Times New Roman" panose="02020603050405020304" pitchFamily="18" charset="0"/>
            </a:endParaRPr>
          </a:p>
          <a:p>
            <a:r>
              <a:rPr lang="en-GB" dirty="0">
                <a:solidFill>
                  <a:srgbClr val="000000"/>
                </a:solidFill>
                <a:effectLst/>
                <a:ea typeface="Calibri" panose="020F0502020204030204" pitchFamily="34" charset="0"/>
              </a:rPr>
              <a:t>This also applies to all the other probability distributions explored in this module.</a:t>
            </a:r>
          </a:p>
          <a:p>
            <a:endParaRPr lang="en-GB" dirty="0"/>
          </a:p>
        </p:txBody>
      </p:sp>
    </p:spTree>
    <p:extLst>
      <p:ext uri="{BB962C8B-B14F-4D97-AF65-F5344CB8AC3E}">
        <p14:creationId xmlns:p14="http://schemas.microsoft.com/office/powerpoint/2010/main" val="1545701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61E9A-BD77-D06F-4DA7-C85A29F4FE7E}"/>
              </a:ext>
            </a:extLst>
          </p:cNvPr>
          <p:cNvSpPr>
            <a:spLocks noGrp="1"/>
          </p:cNvSpPr>
          <p:nvPr>
            <p:ph type="title"/>
          </p:nvPr>
        </p:nvSpPr>
        <p:spPr/>
        <p:txBody>
          <a:bodyPr/>
          <a:lstStyle/>
          <a:p>
            <a:r>
              <a:rPr lang="en-US" dirty="0"/>
              <a:t>Negative Binomial Distribution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5ABB46-E512-A34B-E2C2-45D2771AF1AA}"/>
                  </a:ext>
                </a:extLst>
              </p:cNvPr>
              <p:cNvSpPr>
                <a:spLocks noGrp="1"/>
              </p:cNvSpPr>
              <p:nvPr>
                <p:ph idx="1"/>
              </p:nvPr>
            </p:nvSpPr>
            <p:spPr/>
            <p:txBody>
              <a:bodyPr>
                <a:normAutofit/>
              </a:bodyPr>
              <a:lstStyle/>
              <a:p>
                <a:r>
                  <a:rPr lang="en-US" dirty="0">
                    <a:effectLst/>
                    <a:ea typeface="Calibri" panose="020F0502020204030204" pitchFamily="34" charset="0"/>
                  </a:rPr>
                  <a:t>Let us consider an experiment where the properties are the same as before with the exception that the trials are repeated until the fixed number of successes occurs.</a:t>
                </a:r>
              </a:p>
              <a:p>
                <a:r>
                  <a:rPr lang="en-US" dirty="0">
                    <a:effectLst/>
                    <a:ea typeface="Calibri" panose="020F0502020204030204" pitchFamily="34" charset="0"/>
                  </a:rPr>
                  <a:t>Instead of finding the probability of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n-US" dirty="0">
                    <a:effectLst/>
                    <a:ea typeface="Calibri" panose="020F0502020204030204" pitchFamily="34" charset="0"/>
                  </a:rPr>
                  <a:t> successes in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𝑛</m:t>
                    </m:r>
                    <m:r>
                      <a:rPr lang="en-US"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effectLst/>
                    <a:ea typeface="Calibri" panose="020F0502020204030204" pitchFamily="34" charset="0"/>
                  </a:rPr>
                  <a:t>trials (when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US" dirty="0">
                    <a:effectLst/>
                    <a:ea typeface="Calibri" panose="020F0502020204030204" pitchFamily="34" charset="0"/>
                  </a:rPr>
                  <a:t> is fixed), we are interested in the probability that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𝑟𝑡h</m:t>
                    </m:r>
                  </m:oMath>
                </a14:m>
                <a:r>
                  <a:rPr lang="en-US" dirty="0">
                    <a:effectLst/>
                    <a:ea typeface="Calibri" panose="020F0502020204030204" pitchFamily="34" charset="0"/>
                  </a:rPr>
                  <a:t> success occurs on the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𝑥𝑡h</m:t>
                    </m:r>
                  </m:oMath>
                </a14:m>
                <a:r>
                  <a:rPr lang="en-US" dirty="0">
                    <a:effectLst/>
                    <a:ea typeface="Calibri" panose="020F0502020204030204" pitchFamily="34" charset="0"/>
                  </a:rPr>
                  <a:t> trial.</a:t>
                </a:r>
              </a:p>
              <a:p>
                <a:r>
                  <a:rPr lang="en-US" dirty="0">
                    <a:effectLst/>
                    <a:ea typeface="Calibri" panose="020F0502020204030204" pitchFamily="34" charset="0"/>
                  </a:rPr>
                  <a:t>Experiments of this kind are called negative binomial experiments.</a:t>
                </a:r>
                <a:endParaRPr lang="en-GB" sz="4000" dirty="0"/>
              </a:p>
            </p:txBody>
          </p:sp>
        </mc:Choice>
        <mc:Fallback xmlns="">
          <p:sp>
            <p:nvSpPr>
              <p:cNvPr id="3" name="Content Placeholder 2">
                <a:extLst>
                  <a:ext uri="{FF2B5EF4-FFF2-40B4-BE49-F238E27FC236}">
                    <a16:creationId xmlns:a16="http://schemas.microsoft.com/office/drawing/2014/main" id="{3B5ABB46-E512-A34B-E2C2-45D2771AF1AA}"/>
                  </a:ext>
                </a:extLst>
              </p:cNvPr>
              <p:cNvSpPr>
                <a:spLocks noGrp="1" noRot="1" noChangeAspect="1" noMove="1" noResize="1" noEditPoints="1" noAdjustHandles="1" noChangeArrowheads="1" noChangeShapeType="1" noTextEdit="1"/>
              </p:cNvSpPr>
              <p:nvPr>
                <p:ph idx="1"/>
              </p:nvPr>
            </p:nvSpPr>
            <p:spPr>
              <a:blipFill>
                <a:blip r:embed="rId2"/>
                <a:stretch>
                  <a:fillRect l="-406" t="-1261" r="-232"/>
                </a:stretch>
              </a:blipFill>
            </p:spPr>
            <p:txBody>
              <a:bodyPr/>
              <a:lstStyle/>
              <a:p>
                <a:r>
                  <a:rPr lang="en-GB">
                    <a:noFill/>
                  </a:rPr>
                  <a:t> </a:t>
                </a:r>
              </a:p>
            </p:txBody>
          </p:sp>
        </mc:Fallback>
      </mc:AlternateContent>
    </p:spTree>
    <p:extLst>
      <p:ext uri="{BB962C8B-B14F-4D97-AF65-F5344CB8AC3E}">
        <p14:creationId xmlns:p14="http://schemas.microsoft.com/office/powerpoint/2010/main" val="1511495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FF46-DE3E-57A1-AB1C-2F1A95077C19}"/>
              </a:ext>
            </a:extLst>
          </p:cNvPr>
          <p:cNvSpPr>
            <a:spLocks noGrp="1"/>
          </p:cNvSpPr>
          <p:nvPr>
            <p:ph type="title"/>
          </p:nvPr>
        </p:nvSpPr>
        <p:spPr/>
        <p:txBody>
          <a:bodyPr>
            <a:normAutofit/>
          </a:bodyPr>
          <a:lstStyle/>
          <a:p>
            <a:r>
              <a:rPr lang="en-US" dirty="0"/>
              <a:t>Negative Binomial Distribution (continued)</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0791B6-6534-6DFC-D978-9222C82C2D55}"/>
                  </a:ext>
                </a:extLst>
              </p:cNvPr>
              <p:cNvSpPr>
                <a:spLocks noGrp="1"/>
              </p:cNvSpPr>
              <p:nvPr>
                <p:ph idx="1"/>
              </p:nvPr>
            </p:nvSpPr>
            <p:spPr/>
            <p:txBody>
              <a:bodyPr>
                <a:normAutofit/>
              </a:bodyPr>
              <a:lstStyle/>
              <a:p>
                <a:pPr marL="0" indent="0">
                  <a:lnSpc>
                    <a:spcPct val="200000"/>
                  </a:lnSpc>
                  <a:spcAft>
                    <a:spcPts val="800"/>
                  </a:spcAft>
                  <a:buNone/>
                </a:pPr>
                <a14:m>
                  <m:oMath xmlns:m="http://schemas.openxmlformats.org/officeDocument/2006/math">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𝔻𝔽</m:t>
                    </m:r>
                  </m:oMath>
                </a14:m>
                <a:r>
                  <a:rPr lang="en-US" kern="100" dirty="0">
                    <a:effectLst/>
                    <a:ea typeface="Calibri" panose="020F0502020204030204" pitchFamily="34" charset="0"/>
                  </a:rPr>
                  <a:t>: The number of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𝑋</m:t>
                    </m:r>
                  </m:oMath>
                </a14:m>
                <a:r>
                  <a:rPr lang="en-US" kern="100" dirty="0">
                    <a:effectLst/>
                    <a:ea typeface="Calibri" panose="020F0502020204030204" pitchFamily="34" charset="0"/>
                  </a:rPr>
                  <a:t> of trial to produce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oMath>
                </a14:m>
                <a:r>
                  <a:rPr lang="en-US" kern="100" dirty="0">
                    <a:effectLst/>
                    <a:ea typeface="Calibri" panose="020F0502020204030204" pitchFamily="34" charset="0"/>
                  </a:rPr>
                  <a:t> success in a negative binomial experiment is called the negative binomial random variable.</a:t>
                </a:r>
                <a:endParaRPr lang="en-GB" kern="100" dirty="0">
                  <a:effectLst/>
                  <a:ea typeface="Calibri" panose="020F0502020204030204" pitchFamily="34" charset="0"/>
                </a:endParaRPr>
              </a:p>
              <a:p>
                <a:pPr marL="0" indent="0">
                  <a:lnSpc>
                    <a:spcPct val="200000"/>
                  </a:lnSpc>
                  <a:spcAft>
                    <a:spcPts val="800"/>
                  </a:spcAft>
                  <a:buNone/>
                </a:pPr>
                <a:r>
                  <a:rPr lang="en-US" kern="100" dirty="0">
                    <a:solidFill>
                      <a:srgbClr val="FF0000"/>
                    </a:solidFill>
                    <a:effectLst/>
                    <a:ea typeface="Calibri" panose="020F0502020204030204" pitchFamily="34" charset="0"/>
                  </a:rPr>
                  <a:t>Individual probabilities</a:t>
                </a:r>
                <a:r>
                  <a:rPr lang="en-US" kern="100" dirty="0">
                    <a:effectLst/>
                    <a:ea typeface="Calibri" panose="020F0502020204030204" pitchFamily="34" charset="0"/>
                  </a:rPr>
                  <a:t> are obtained using the formula as follows:</a:t>
                </a:r>
                <a:endParaRPr lang="en-GB"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m>
                        <m:mPr>
                          <m:mcs>
                            <m:mc>
                              <m:mcPr>
                                <m:count m:val="2"/>
                                <m:mcJc m:val="center"/>
                              </m:mcPr>
                            </m:mc>
                          </m:mcs>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mPr>
                        <m:m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𝑃</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𝑋</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sSup>
                            <m:sSub>
                              <m:sSub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𝑞</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sup>
                            </m:sSup>
                          </m:e>
                          <m:e>
                            <m:r>
                              <m:rPr>
                                <m:nor/>
                              </m:rPr>
                              <a:rPr lang="en-US" kern="100">
                                <a:effectLst/>
                                <a:ea typeface="Calibri" panose="020F0502020204030204" pitchFamily="34" charset="0"/>
                              </a:rPr>
                              <m:t>where</m:t>
                            </m:r>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e>
                        </m:mr>
                      </m:m>
                    </m:oMath>
                  </m:oMathPara>
                </a14:m>
                <a:endParaRPr lang="en-GB" sz="1800"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280791B6-6534-6DFC-D978-9222C82C2D55}"/>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GB">
                    <a:noFill/>
                  </a:rPr>
                  <a:t> </a:t>
                </a:r>
              </a:p>
            </p:txBody>
          </p:sp>
        </mc:Fallback>
      </mc:AlternateContent>
    </p:spTree>
    <p:extLst>
      <p:ext uri="{BB962C8B-B14F-4D97-AF65-F5344CB8AC3E}">
        <p14:creationId xmlns:p14="http://schemas.microsoft.com/office/powerpoint/2010/main" val="198707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AA5A4-BC13-4D81-567D-341F6FF2D834}"/>
              </a:ext>
            </a:extLst>
          </p:cNvPr>
          <p:cNvSpPr>
            <a:spLocks noGrp="1"/>
          </p:cNvSpPr>
          <p:nvPr>
            <p:ph type="title"/>
          </p:nvPr>
        </p:nvSpPr>
        <p:spPr>
          <a:xfrm>
            <a:off x="838200" y="192597"/>
            <a:ext cx="10515600" cy="1325563"/>
          </a:xfrm>
        </p:spPr>
        <p:txBody>
          <a:bodyPr/>
          <a:lstStyle/>
          <a:p>
            <a:r>
              <a:rPr lang="en-US" dirty="0"/>
              <a:t>Derivation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EDA94B-13C4-11FE-EED6-929ADE9D74C8}"/>
                  </a:ext>
                </a:extLst>
              </p:cNvPr>
              <p:cNvSpPr>
                <a:spLocks noGrp="1"/>
              </p:cNvSpPr>
              <p:nvPr>
                <p:ph idx="1"/>
              </p:nvPr>
            </p:nvSpPr>
            <p:spPr>
              <a:xfrm>
                <a:off x="370935" y="1337094"/>
                <a:ext cx="11490385" cy="5244861"/>
              </a:xfrm>
            </p:spPr>
            <p:txBody>
              <a:bodyPr>
                <a:normAutofit/>
              </a:bodyPr>
              <a:lstStyle/>
              <a:p>
                <a:pPr>
                  <a:lnSpc>
                    <a:spcPct val="120000"/>
                  </a:lnSpc>
                  <a:spcAft>
                    <a:spcPts val="800"/>
                  </a:spcAft>
                </a:pPr>
                <a:r>
                  <a:rPr lang="en-US" kern="100" dirty="0">
                    <a:effectLst/>
                    <a:ea typeface="Calibri" panose="020F0502020204030204" pitchFamily="34" charset="0"/>
                  </a:rPr>
                  <a:t>To see how this formula is derived we note that to obtain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𝑟𝑡h</m:t>
                    </m:r>
                  </m:oMath>
                </a14:m>
                <a:r>
                  <a:rPr lang="en-US" kern="100" dirty="0">
                    <a:effectLst/>
                    <a:ea typeface="Calibri" panose="020F0502020204030204" pitchFamily="34" charset="0"/>
                  </a:rPr>
                  <a:t> success on the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𝑥𝑡h</m:t>
                    </m:r>
                  </m:oMath>
                </a14:m>
                <a:r>
                  <a:rPr lang="en-US" kern="100" dirty="0">
                    <a:effectLst/>
                    <a:ea typeface="Calibri" panose="020F0502020204030204" pitchFamily="34" charset="0"/>
                  </a:rPr>
                  <a:t> trial we must have obtained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kern="100" dirty="0">
                    <a:effectLst/>
                    <a:ea typeface="Calibri" panose="020F0502020204030204" pitchFamily="34" charset="0"/>
                  </a:rPr>
                  <a:t> successes in the preceding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kern="100" dirty="0">
                    <a:effectLst/>
                    <a:ea typeface="Calibri" panose="020F0502020204030204" pitchFamily="34" charset="0"/>
                  </a:rPr>
                  <a:t> trails. The final success occurs on the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𝑥𝑡h</m:t>
                    </m:r>
                  </m:oMath>
                </a14:m>
                <a:r>
                  <a:rPr lang="en-US" kern="100" dirty="0">
                    <a:effectLst/>
                    <a:ea typeface="Calibri" panose="020F0502020204030204" pitchFamily="34" charset="0"/>
                  </a:rPr>
                  <a:t> trial.</a:t>
                </a:r>
              </a:p>
              <a:p>
                <a:pPr>
                  <a:lnSpc>
                    <a:spcPct val="120000"/>
                  </a:lnSpc>
                  <a:spcAft>
                    <a:spcPts val="800"/>
                  </a:spcAft>
                </a:pPr>
                <a:r>
                  <a:rPr lang="en-US" kern="100" dirty="0">
                    <a:effectLst/>
                    <a:ea typeface="Calibri" panose="020F0502020204030204" pitchFamily="34" charset="0"/>
                  </a:rPr>
                  <a:t>The probability of observing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kern="100" dirty="0">
                    <a:effectLst/>
                    <a:ea typeface="Calibri" panose="020F0502020204030204" pitchFamily="34" charset="0"/>
                  </a:rPr>
                  <a:t> successes in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kern="100" dirty="0">
                    <a:effectLst/>
                    <a:ea typeface="Calibri" panose="020F0502020204030204" pitchFamily="34" charset="0"/>
                  </a:rPr>
                  <a:t> independent trials is simply a binomial distribution and is given by</a:t>
                </a:r>
                <a:endParaRPr lang="en-GB" kern="100" dirty="0">
                  <a:effectLst/>
                  <a:ea typeface="Calibri" panose="020F0502020204030204" pitchFamily="34" charset="0"/>
                </a:endParaRPr>
              </a:p>
              <a:p>
                <a:pPr marL="0" indent="0">
                  <a:lnSpc>
                    <a:spcPct val="12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n-US" kern="100">
                              <a:effectLst/>
                              <a:ea typeface="Calibri" panose="020F0502020204030204" pitchFamily="34" charset="0"/>
                            </a:rPr>
                            <m:t>successes</m:t>
                          </m:r>
                          <m:r>
                            <m:rPr>
                              <m:nor/>
                            </m:rPr>
                            <a:rPr lang="en-US" kern="100">
                              <a:effectLst/>
                              <a:ea typeface="Calibri" panose="020F0502020204030204" pitchFamily="34" charset="0"/>
                            </a:rPr>
                            <m:t> </m:t>
                          </m:r>
                          <m:r>
                            <m:rPr>
                              <m:nor/>
                            </m:rPr>
                            <a:rPr lang="en-US" kern="100">
                              <a:effectLst/>
                              <a:ea typeface="Calibri" panose="020F0502020204030204" pitchFamily="34" charset="0"/>
                            </a:rPr>
                            <m:t>in</m:t>
                          </m:r>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n-US" kern="100">
                              <a:effectLst/>
                              <a:ea typeface="Calibri" panose="020F0502020204030204" pitchFamily="34" charset="0"/>
                            </a:rPr>
                            <m:t>trials</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Pre>
                        <m:sPre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PrePr>
                        <m:sub>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e>
                          <m:sSubSup>
                            <m:sSub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p>
                          </m:sSub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e>
                            <m:sup>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sSup>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Pre>
                            <m:sPre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PrePr>
                            <m:sub>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e>
                              <m:sSubSup>
                                <m:sSub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p>
                              </m:sSub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sup>
                              </m:sSup>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sPre>
                                <m:sPre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PrePr>
                                <m:sub>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e>
                                  <m:sSubSup>
                                    <m:sSub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sup>
                                  </m:sSub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𝑞</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sup>
                                  </m:sSup>
                                </m:e>
                              </m:sPre>
                            </m:e>
                          </m:sPre>
                        </m:e>
                      </m:sPre>
                    </m:oMath>
                  </m:oMathPara>
                </a14:m>
                <a:endParaRPr lang="en-GB" kern="100" dirty="0">
                  <a:effectLst/>
                  <a:ea typeface="Calibri" panose="020F0502020204030204" pitchFamily="34" charset="0"/>
                </a:endParaRPr>
              </a:p>
              <a:p>
                <a:pPr>
                  <a:lnSpc>
                    <a:spcPct val="120000"/>
                  </a:lnSpc>
                  <a:spcAft>
                    <a:spcPts val="800"/>
                  </a:spcAft>
                </a:pPr>
                <a:r>
                  <a:rPr lang="en-US" kern="100" dirty="0">
                    <a:effectLst/>
                    <a:ea typeface="Times New Roman" panose="02020603050405020304" pitchFamily="18" charset="0"/>
                  </a:rPr>
                  <a:t>We obtain a success on the final trial with probability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en-US" kern="100" dirty="0">
                    <a:effectLst/>
                    <a:ea typeface="Times New Roman" panose="02020603050405020304" pitchFamily="18" charset="0"/>
                  </a:rPr>
                  <a:t>. The two events occur independently so the probability of the first event occurring and the second event occurring is simply a product of the two probabilities outlined above. Hence,</a:t>
                </a:r>
                <a:endParaRPr lang="en-GB" kern="100" dirty="0">
                  <a:effectLst/>
                  <a:ea typeface="Calibri" panose="020F0502020204030204" pitchFamily="34" charset="0"/>
                </a:endParaRPr>
              </a:p>
              <a:p>
                <a:pPr marL="0" indent="0">
                  <a:lnSpc>
                    <a:spcPct val="12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e>
                      </m:d>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SupPr>
                        <m:e>
                          <m:sPre>
                            <m:sPre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PrePr>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sub>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p>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𝐶</m:t>
                              </m:r>
                            </m:e>
                          </m:sPre>
                        </m:e>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sup>
                      </m:sSub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sup>
                      </m:s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bSupPr>
                        <m:e>
                          <m:sPre>
                            <m:sPre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PrePr>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sub>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p>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𝐶</m:t>
                              </m:r>
                            </m:e>
                          </m:sPre>
                        </m:e>
                        <m:sub>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sup>
                      </m:sSub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sup>
                      </m:s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sup>
                      </m:sSup>
                    </m:oMath>
                  </m:oMathPara>
                </a14:m>
                <a:endParaRPr lang="en-GB" sz="1400" kern="100" dirty="0">
                  <a:effectLst/>
                  <a:ea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7BEDA94B-13C4-11FE-EED6-929ADE9D74C8}"/>
                  </a:ext>
                </a:extLst>
              </p:cNvPr>
              <p:cNvSpPr>
                <a:spLocks noGrp="1" noRot="1" noChangeAspect="1" noMove="1" noResize="1" noEditPoints="1" noAdjustHandles="1" noChangeArrowheads="1" noChangeShapeType="1" noTextEdit="1"/>
              </p:cNvSpPr>
              <p:nvPr>
                <p:ph idx="1"/>
              </p:nvPr>
            </p:nvSpPr>
            <p:spPr>
              <a:xfrm>
                <a:off x="370935" y="1337094"/>
                <a:ext cx="11490385" cy="5244861"/>
              </a:xfrm>
              <a:blipFill>
                <a:blip r:embed="rId2"/>
                <a:stretch>
                  <a:fillRect l="-371" r="-796"/>
                </a:stretch>
              </a:blipFill>
            </p:spPr>
            <p:txBody>
              <a:bodyPr/>
              <a:lstStyle/>
              <a:p>
                <a:r>
                  <a:rPr lang="en-GB">
                    <a:noFill/>
                  </a:rPr>
                  <a:t> </a:t>
                </a:r>
              </a:p>
            </p:txBody>
          </p:sp>
        </mc:Fallback>
      </mc:AlternateContent>
    </p:spTree>
    <p:extLst>
      <p:ext uri="{BB962C8B-B14F-4D97-AF65-F5344CB8AC3E}">
        <p14:creationId xmlns:p14="http://schemas.microsoft.com/office/powerpoint/2010/main" val="4256753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2CA6-9938-1BCA-A3B4-03F304C29FD0}"/>
              </a:ext>
            </a:extLst>
          </p:cNvPr>
          <p:cNvSpPr>
            <a:spLocks noGrp="1"/>
          </p:cNvSpPr>
          <p:nvPr>
            <p:ph type="title"/>
          </p:nvPr>
        </p:nvSpPr>
        <p:spPr/>
        <p:txBody>
          <a:bodyPr/>
          <a:lstStyle/>
          <a:p>
            <a:r>
              <a:rPr lang="en-US" dirty="0"/>
              <a:t>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EE027F-E7AB-BA87-6046-18D02204D3E8}"/>
                  </a:ext>
                </a:extLst>
              </p:cNvPr>
              <p:cNvSpPr>
                <a:spLocks noGrp="1"/>
              </p:cNvSpPr>
              <p:nvPr>
                <p:ph idx="1"/>
              </p:nvPr>
            </p:nvSpPr>
            <p:spPr/>
            <p:txBody>
              <a:bodyPr>
                <a:normAutofit/>
              </a:bodyPr>
              <a:lstStyle/>
              <a:p>
                <a:pPr marL="0" indent="0">
                  <a:lnSpc>
                    <a:spcPct val="200000"/>
                  </a:lnSpc>
                  <a:spcAft>
                    <a:spcPts val="800"/>
                  </a:spcAft>
                  <a:buNone/>
                </a:pPr>
                <a14:m>
                  <m:oMath xmlns:m="http://schemas.openxmlformats.org/officeDocument/2006/math">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𝔻𝔽</m:t>
                    </m:r>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kern="100" dirty="0">
                    <a:effectLst/>
                    <a:ea typeface="Times New Roman" panose="02020603050405020304" pitchFamily="18" charset="0"/>
                  </a:rPr>
                  <a:t> If repeated independent trials can result in a success with probability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en-US" kern="100" dirty="0">
                    <a:effectLst/>
                    <a:ea typeface="Times New Roman" panose="02020603050405020304" pitchFamily="18" charset="0"/>
                  </a:rPr>
                  <a:t> and a failure with probability,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𝑞</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en-US" kern="100" dirty="0">
                    <a:effectLst/>
                    <a:ea typeface="Times New Roman" panose="02020603050405020304" pitchFamily="18" charset="0"/>
                  </a:rPr>
                  <a:t>, then the probability distribution of the negative binomial random variable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oMath>
                </a14:m>
                <a:r>
                  <a:rPr lang="en-US" kern="100" dirty="0">
                    <a:effectLst/>
                    <a:ea typeface="Times New Roman" panose="02020603050405020304" pitchFamily="18" charset="0"/>
                  </a:rPr>
                  <a:t> is:</a:t>
                </a:r>
                <a:endParaRPr lang="en-GB"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m>
                        <m:mPr>
                          <m:mcs>
                            <m:mc>
                              <m:mcPr>
                                <m:count m:val="2"/>
                                <m:mcJc m:val="center"/>
                              </m:mcPr>
                            </m:mc>
                          </m:mcs>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𝑁𝐵</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e>
                                  </m:mr>
                                </m:m>
                              </m:e>
                            </m:d>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sup>
                            </m:s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sup>
                            </m:sSup>
                          </m:e>
                          <m:e>
                            <m:r>
                              <m:rPr>
                                <m:nor/>
                              </m:rPr>
                              <a:rPr lang="en-US" kern="100">
                                <a:effectLst/>
                                <a:ea typeface="Times New Roman" panose="02020603050405020304" pitchFamily="18" charset="0"/>
                              </a:rPr>
                              <m:t>where</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+1, </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e>
                        </m:mr>
                      </m:m>
                    </m:oMath>
                  </m:oMathPara>
                </a14:m>
                <a:endParaRPr lang="en-GB" kern="100" dirty="0">
                  <a:effectLst/>
                  <a:ea typeface="Calibri" panose="020F0502020204030204" pitchFamily="34" charset="0"/>
                </a:endParaRPr>
              </a:p>
              <a:p>
                <a:pPr marL="0" indent="0">
                  <a:buNone/>
                </a:pPr>
                <a:endParaRPr lang="en-GB" sz="1400" dirty="0"/>
              </a:p>
            </p:txBody>
          </p:sp>
        </mc:Choice>
        <mc:Fallback xmlns="">
          <p:sp>
            <p:nvSpPr>
              <p:cNvPr id="3" name="Content Placeholder 2">
                <a:extLst>
                  <a:ext uri="{FF2B5EF4-FFF2-40B4-BE49-F238E27FC236}">
                    <a16:creationId xmlns:a16="http://schemas.microsoft.com/office/drawing/2014/main" id="{DFEE027F-E7AB-BA87-6046-18D02204D3E8}"/>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GB">
                    <a:noFill/>
                  </a:rPr>
                  <a:t> </a:t>
                </a:r>
              </a:p>
            </p:txBody>
          </p:sp>
        </mc:Fallback>
      </mc:AlternateContent>
    </p:spTree>
    <p:extLst>
      <p:ext uri="{BB962C8B-B14F-4D97-AF65-F5344CB8AC3E}">
        <p14:creationId xmlns:p14="http://schemas.microsoft.com/office/powerpoint/2010/main" val="4083302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8D95E1-2647-FB6B-1E38-B746F9C98AA8}"/>
                  </a:ext>
                </a:extLst>
              </p:cNvPr>
              <p:cNvSpPr>
                <a:spLocks noGrp="1"/>
              </p:cNvSpPr>
              <p:nvPr>
                <p:ph idx="1"/>
              </p:nvPr>
            </p:nvSpPr>
            <p:spPr>
              <a:xfrm>
                <a:off x="777815" y="1563624"/>
                <a:ext cx="10515600" cy="4517998"/>
              </a:xfrm>
            </p:spPr>
            <p:txBody>
              <a:bodyPr>
                <a:normAutofit/>
              </a:bodyPr>
              <a:lstStyle/>
              <a:p>
                <a:pPr marL="0" indent="0">
                  <a:lnSpc>
                    <a:spcPct val="200000"/>
                  </a:lnSpc>
                  <a:spcAft>
                    <a:spcPts val="800"/>
                  </a:spcAft>
                  <a:buNone/>
                </a:pPr>
                <a:r>
                  <a:rPr lang="en-US" kern="100" dirty="0">
                    <a:effectLst/>
                    <a:ea typeface="Times New Roman" panose="02020603050405020304" pitchFamily="18" charset="0"/>
                  </a:rPr>
                  <a:t>The probability that a person living in a certain city owns a dog is 0.3. Find the probability that the 10th person randomly interviewed in the city is the 5th one to own a dog.</a:t>
                </a:r>
                <a:endParaRPr lang="en-GB"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10;5,0.3</m:t>
                          </m:r>
                        </m:e>
                      </m:d>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10−1</m:t>
                                </m:r>
                              </m:e>
                            </m:mr>
                            <m:m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5−1</m:t>
                                </m:r>
                              </m:e>
                            </m:mr>
                          </m:m>
                        </m:e>
                      </m:d>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0.3</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5</m:t>
                          </m:r>
                        </m:sup>
                      </m:s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0.7</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10−5</m:t>
                          </m:r>
                        </m:sup>
                      </m:s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9!</m:t>
                          </m:r>
                        </m:num>
                        <m:den>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4!</m:t>
                          </m:r>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9−4</m:t>
                              </m:r>
                            </m:e>
                          </m:d>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den>
                      </m:f>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0.3</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5</m:t>
                          </m:r>
                        </m:sup>
                      </m:sSup>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0.7</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=0.0515</m:t>
                      </m:r>
                    </m:oMath>
                  </m:oMathPara>
                </a14:m>
                <a:endParaRPr lang="en-GB" kern="100" dirty="0">
                  <a:effectLst/>
                  <a:ea typeface="Calibri" panose="020F0502020204030204" pitchFamily="34" charset="0"/>
                </a:endParaRPr>
              </a:p>
              <a:p>
                <a:pPr marL="0" indent="0">
                  <a:lnSpc>
                    <a:spcPct val="200000"/>
                  </a:lnSpc>
                  <a:spcAft>
                    <a:spcPts val="800"/>
                  </a:spcAft>
                  <a:buNone/>
                </a:pPr>
                <a:r>
                  <a:rPr lang="en-US" kern="100" dirty="0">
                    <a:effectLst/>
                    <a:ea typeface="Times New Roman" panose="02020603050405020304" pitchFamily="18" charset="0"/>
                  </a:rPr>
                  <a:t>The mean of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oMath>
                </a14:m>
                <a:r>
                  <a:rPr lang="en-US" kern="100" dirty="0">
                    <a:effectLst/>
                    <a:ea typeface="Times New Roman" panose="02020603050405020304" pitchFamily="18" charset="0"/>
                  </a:rPr>
                  <a:t> is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𝜇</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num>
                      <m:den>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den>
                    </m:f>
                  </m:oMath>
                </a14:m>
                <a:r>
                  <a:rPr lang="en-US" kern="100" dirty="0">
                    <a:effectLst/>
                    <a:ea typeface="Times New Roman" panose="02020603050405020304" pitchFamily="18" charset="0"/>
                  </a:rPr>
                  <a:t>.</a:t>
                </a:r>
                <a:endParaRPr lang="en-GB" kern="100" dirty="0">
                  <a:effectLst/>
                  <a:ea typeface="Calibri" panose="020F0502020204030204" pitchFamily="34" charset="0"/>
                </a:endParaRPr>
              </a:p>
              <a:p>
                <a:pPr marL="0" indent="0">
                  <a:lnSpc>
                    <a:spcPct val="200000"/>
                  </a:lnSpc>
                  <a:spcAft>
                    <a:spcPts val="800"/>
                  </a:spcAft>
                  <a:buNone/>
                </a:pPr>
                <a:r>
                  <a:rPr lang="en-US" kern="100" dirty="0">
                    <a:effectLst/>
                    <a:ea typeface="Times New Roman" panose="02020603050405020304" pitchFamily="18" charset="0"/>
                  </a:rPr>
                  <a:t>The variance of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oMath>
                </a14:m>
                <a:r>
                  <a:rPr lang="en-US" kern="100" dirty="0">
                    <a:effectLst/>
                    <a:ea typeface="Times New Roman" panose="02020603050405020304" pitchFamily="18" charset="0"/>
                  </a:rPr>
                  <a:t> is </a:t>
                </a:r>
                <a14:m>
                  <m:oMath xmlns:m="http://schemas.openxmlformats.org/officeDocument/2006/math">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𝜎</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num>
                      <m:den>
                        <m:sSup>
                          <m:sSupPr>
                            <m:ctrlPr>
                              <a:rPr lang="en-GB"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oMath>
                </a14:m>
                <a:endParaRPr lang="en-GB" sz="1800"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888D95E1-2647-FB6B-1E38-B746F9C98AA8}"/>
                  </a:ext>
                </a:extLst>
              </p:cNvPr>
              <p:cNvSpPr>
                <a:spLocks noGrp="1" noRot="1" noChangeAspect="1" noMove="1" noResize="1" noEditPoints="1" noAdjustHandles="1" noChangeArrowheads="1" noChangeShapeType="1" noTextEdit="1"/>
              </p:cNvSpPr>
              <p:nvPr>
                <p:ph idx="1"/>
              </p:nvPr>
            </p:nvSpPr>
            <p:spPr>
              <a:xfrm>
                <a:off x="777815" y="1563624"/>
                <a:ext cx="10515600" cy="4517998"/>
              </a:xfrm>
              <a:blipFill>
                <a:blip r:embed="rId2"/>
                <a:stretch>
                  <a:fillRect l="-522" r="-754"/>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B9E09304-F96B-67B7-290E-A8E0999EB4CD}"/>
              </a:ext>
            </a:extLst>
          </p:cNvPr>
          <p:cNvSpPr>
            <a:spLocks noGrp="1"/>
          </p:cNvSpPr>
          <p:nvPr>
            <p:ph type="title"/>
          </p:nvPr>
        </p:nvSpPr>
        <p:spPr>
          <a:xfrm>
            <a:off x="838200" y="365125"/>
            <a:ext cx="10515600" cy="1325563"/>
          </a:xfrm>
        </p:spPr>
        <p:txBody>
          <a:bodyPr/>
          <a:lstStyle/>
          <a:p>
            <a:r>
              <a:rPr lang="en-US" dirty="0"/>
              <a:t>Example 7.3</a:t>
            </a:r>
            <a:endParaRPr lang="en-GB" dirty="0"/>
          </a:p>
        </p:txBody>
      </p:sp>
    </p:spTree>
    <p:extLst>
      <p:ext uri="{BB962C8B-B14F-4D97-AF65-F5344CB8AC3E}">
        <p14:creationId xmlns:p14="http://schemas.microsoft.com/office/powerpoint/2010/main" val="3130573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AE61E4-CF09-38F7-40D3-12AEE78BF180}"/>
              </a:ext>
            </a:extLst>
          </p:cNvPr>
          <p:cNvSpPr txBox="1"/>
          <p:nvPr/>
        </p:nvSpPr>
        <p:spPr>
          <a:xfrm>
            <a:off x="990600" y="1690688"/>
            <a:ext cx="9643872" cy="2159566"/>
          </a:xfrm>
          <a:prstGeom prst="rect">
            <a:avLst/>
          </a:prstGeom>
          <a:noFill/>
        </p:spPr>
        <p:txBody>
          <a:bodyPr wrap="square">
            <a:spAutoFit/>
          </a:bodyPr>
          <a:lstStyle/>
          <a:p>
            <a:pPr latinLnBrk="1"/>
            <a:r>
              <a:rPr lang="en-GB" sz="1800" i="1" kern="100" dirty="0">
                <a:solidFill>
                  <a:srgbClr val="8F5902"/>
                </a:solidFill>
                <a:effectLst/>
                <a:latin typeface="Console"/>
                <a:ea typeface="Calibri" panose="020F0502020204030204" pitchFamily="34" charset="0"/>
                <a:cs typeface="Times New Roman" panose="02020603050405020304" pitchFamily="18" charset="0"/>
              </a:rPr>
              <a:t>#negative binominal</a:t>
            </a:r>
            <a:br>
              <a:rPr lang="en-GB" sz="1800" kern="100" dirty="0">
                <a:solidFill>
                  <a:srgbClr val="000000"/>
                </a:solidFill>
                <a:effectLst/>
                <a:latin typeface="Console"/>
                <a:ea typeface="Calibri" panose="020F0502020204030204" pitchFamily="34" charset="0"/>
                <a:cs typeface="Times New Roman" panose="02020603050405020304" pitchFamily="18" charset="0"/>
              </a:rPr>
            </a:br>
            <a:r>
              <a:rPr lang="en-GB" sz="1800" i="1" kern="100" dirty="0">
                <a:solidFill>
                  <a:srgbClr val="8F5902"/>
                </a:solidFill>
                <a:effectLst/>
                <a:latin typeface="Console"/>
                <a:ea typeface="Calibri" panose="020F0502020204030204" pitchFamily="34" charset="0"/>
                <a:cs typeface="Times New Roman" panose="02020603050405020304" pitchFamily="18" charset="0"/>
              </a:rPr>
              <a:t># Calculate the probability of observing the 5th success on the 10th trial</a:t>
            </a:r>
          </a:p>
          <a:p>
            <a:pPr latinLnBrk="1"/>
            <a:r>
              <a:rPr lang="en-GB" i="1" kern="100" dirty="0">
                <a:solidFill>
                  <a:srgbClr val="8F5902"/>
                </a:solidFill>
                <a:latin typeface="Console"/>
                <a:ea typeface="Calibri" panose="020F0502020204030204" pitchFamily="34" charset="0"/>
                <a:cs typeface="Times New Roman" panose="02020603050405020304" pitchFamily="18" charset="0"/>
              </a:rPr>
              <a:t># x-k = 10-5 (parameter 1)</a:t>
            </a:r>
          </a:p>
          <a:p>
            <a:pPr latinLnBrk="1"/>
            <a:r>
              <a:rPr lang="en-GB" sz="1800" i="1" kern="100" dirty="0">
                <a:solidFill>
                  <a:srgbClr val="8F5902"/>
                </a:solidFill>
                <a:effectLst/>
                <a:latin typeface="Console"/>
                <a:ea typeface="Calibri" panose="020F0502020204030204" pitchFamily="34" charset="0"/>
                <a:cs typeface="Times New Roman" panose="02020603050405020304" pitchFamily="18" charset="0"/>
              </a:rPr>
              <a:t># size refers to </a:t>
            </a:r>
            <a:r>
              <a:rPr lang="en-GB" sz="1800" i="1" kern="100" dirty="0" err="1">
                <a:solidFill>
                  <a:srgbClr val="8F5902"/>
                </a:solidFill>
                <a:effectLst/>
                <a:latin typeface="Console"/>
                <a:ea typeface="Calibri" panose="020F0502020204030204" pitchFamily="34" charset="0"/>
                <a:cs typeface="Times New Roman" panose="02020603050405020304" pitchFamily="18" charset="0"/>
              </a:rPr>
              <a:t>r’</a:t>
            </a:r>
            <a:r>
              <a:rPr lang="en-GB" i="1" kern="100" dirty="0" err="1">
                <a:solidFill>
                  <a:srgbClr val="8F5902"/>
                </a:solidFill>
                <a:latin typeface="Console"/>
                <a:ea typeface="Calibri" panose="020F0502020204030204" pitchFamily="34" charset="0"/>
                <a:cs typeface="Times New Roman" panose="02020603050405020304" pitchFamily="18" charset="0"/>
              </a:rPr>
              <a:t>th</a:t>
            </a:r>
            <a:r>
              <a:rPr lang="en-GB" i="1" kern="100" dirty="0">
                <a:solidFill>
                  <a:srgbClr val="8F5902"/>
                </a:solidFill>
                <a:latin typeface="Console"/>
                <a:ea typeface="Calibri" panose="020F0502020204030204" pitchFamily="34" charset="0"/>
                <a:cs typeface="Times New Roman" panose="02020603050405020304" pitchFamily="18" charset="0"/>
              </a:rPr>
              <a:t> successes.</a:t>
            </a:r>
          </a:p>
          <a:p>
            <a:pPr latinLnBrk="1">
              <a:spcAft>
                <a:spcPts val="1000"/>
              </a:spcAft>
            </a:pPr>
            <a:br>
              <a:rPr lang="en-GB" sz="1800" kern="100" dirty="0">
                <a:solidFill>
                  <a:srgbClr val="000000"/>
                </a:solidFill>
                <a:effectLst/>
                <a:latin typeface="Console"/>
                <a:ea typeface="Calibri" panose="020F0502020204030204" pitchFamily="34" charset="0"/>
                <a:cs typeface="Times New Roman" panose="02020603050405020304" pitchFamily="18" charset="0"/>
              </a:rPr>
            </a:br>
            <a:r>
              <a:rPr lang="en-GB" sz="1800" kern="100" dirty="0" err="1">
                <a:solidFill>
                  <a:srgbClr val="000000"/>
                </a:solidFill>
                <a:effectLst/>
                <a:latin typeface="Console"/>
                <a:ea typeface="Calibri" panose="020F0502020204030204" pitchFamily="34" charset="0"/>
                <a:cs typeface="Times New Roman" panose="02020603050405020304" pitchFamily="18" charset="0"/>
              </a:rPr>
              <a:t>dnbinom</a:t>
            </a:r>
            <a:r>
              <a:rPr lang="en-GB" sz="1800" kern="100" dirty="0">
                <a:solidFill>
                  <a:srgbClr val="000000"/>
                </a:solidFill>
                <a:effectLst/>
                <a:latin typeface="Console"/>
                <a:ea typeface="Calibri" panose="020F0502020204030204" pitchFamily="34" charset="0"/>
                <a:cs typeface="Times New Roman" panose="02020603050405020304" pitchFamily="18" charset="0"/>
              </a:rPr>
              <a:t>(</a:t>
            </a:r>
            <a:r>
              <a:rPr lang="en-GB" sz="1800" kern="100" dirty="0">
                <a:solidFill>
                  <a:srgbClr val="C4A000"/>
                </a:solidFill>
                <a:effectLst/>
                <a:latin typeface="Console"/>
                <a:ea typeface="Calibri" panose="020F0502020204030204" pitchFamily="34" charset="0"/>
                <a:cs typeface="Times New Roman" panose="02020603050405020304" pitchFamily="18" charset="0"/>
              </a:rPr>
              <a:t>x =</a:t>
            </a:r>
            <a:r>
              <a:rPr lang="en-GB" sz="1800" kern="100" dirty="0">
                <a:solidFill>
                  <a:srgbClr val="000000"/>
                </a:solidFill>
                <a:effectLst/>
                <a:latin typeface="Console"/>
                <a:ea typeface="Calibri" panose="020F0502020204030204" pitchFamily="34" charset="0"/>
                <a:cs typeface="Times New Roman" panose="02020603050405020304" pitchFamily="18" charset="0"/>
              </a:rPr>
              <a:t> </a:t>
            </a:r>
            <a:r>
              <a:rPr lang="en-GB" kern="100" dirty="0">
                <a:solidFill>
                  <a:srgbClr val="0000CF"/>
                </a:solidFill>
                <a:latin typeface="Console"/>
                <a:ea typeface="Calibri" panose="020F0502020204030204" pitchFamily="34" charset="0"/>
                <a:cs typeface="Times New Roman" panose="02020603050405020304" pitchFamily="18" charset="0"/>
              </a:rPr>
              <a:t>5</a:t>
            </a:r>
            <a:r>
              <a:rPr lang="en-GB" sz="1800" kern="100" dirty="0">
                <a:solidFill>
                  <a:srgbClr val="000000"/>
                </a:solidFill>
                <a:effectLst/>
                <a:latin typeface="Console"/>
                <a:ea typeface="Calibri" panose="020F0502020204030204" pitchFamily="34" charset="0"/>
                <a:cs typeface="Times New Roman" panose="02020603050405020304" pitchFamily="18" charset="0"/>
              </a:rPr>
              <a:t>, </a:t>
            </a:r>
            <a:r>
              <a:rPr lang="en-GB" sz="1800" kern="100" dirty="0">
                <a:solidFill>
                  <a:srgbClr val="C4A000"/>
                </a:solidFill>
                <a:effectLst/>
                <a:latin typeface="Console"/>
                <a:ea typeface="Calibri" panose="020F0502020204030204" pitchFamily="34" charset="0"/>
                <a:cs typeface="Times New Roman" panose="02020603050405020304" pitchFamily="18" charset="0"/>
              </a:rPr>
              <a:t>size =</a:t>
            </a:r>
            <a:r>
              <a:rPr lang="en-GB" sz="1800" kern="100" dirty="0">
                <a:solidFill>
                  <a:srgbClr val="000000"/>
                </a:solidFill>
                <a:effectLst/>
                <a:latin typeface="Console"/>
                <a:ea typeface="Calibri" panose="020F0502020204030204" pitchFamily="34" charset="0"/>
                <a:cs typeface="Times New Roman" panose="02020603050405020304" pitchFamily="18" charset="0"/>
              </a:rPr>
              <a:t> </a:t>
            </a:r>
            <a:r>
              <a:rPr lang="en-GB" sz="1800" kern="100" dirty="0">
                <a:solidFill>
                  <a:srgbClr val="0000CF"/>
                </a:solidFill>
                <a:effectLst/>
                <a:latin typeface="Console"/>
                <a:ea typeface="Calibri" panose="020F0502020204030204" pitchFamily="34" charset="0"/>
                <a:cs typeface="Times New Roman" panose="02020603050405020304" pitchFamily="18" charset="0"/>
              </a:rPr>
              <a:t>5</a:t>
            </a:r>
            <a:r>
              <a:rPr lang="en-GB" sz="1800" kern="100" dirty="0">
                <a:solidFill>
                  <a:srgbClr val="000000"/>
                </a:solidFill>
                <a:effectLst/>
                <a:latin typeface="Console"/>
                <a:ea typeface="Calibri" panose="020F0502020204030204" pitchFamily="34" charset="0"/>
                <a:cs typeface="Times New Roman" panose="02020603050405020304" pitchFamily="18" charset="0"/>
              </a:rPr>
              <a:t>, </a:t>
            </a:r>
            <a:r>
              <a:rPr lang="en-GB" sz="1800" kern="100" dirty="0">
                <a:solidFill>
                  <a:srgbClr val="C4A000"/>
                </a:solidFill>
                <a:effectLst/>
                <a:latin typeface="Console"/>
                <a:ea typeface="Calibri" panose="020F0502020204030204" pitchFamily="34" charset="0"/>
                <a:cs typeface="Times New Roman" panose="02020603050405020304" pitchFamily="18" charset="0"/>
              </a:rPr>
              <a:t>prob =</a:t>
            </a:r>
            <a:r>
              <a:rPr lang="en-GB" sz="1800" kern="100" dirty="0">
                <a:solidFill>
                  <a:srgbClr val="000000"/>
                </a:solidFill>
                <a:effectLst/>
                <a:latin typeface="Console"/>
                <a:ea typeface="Calibri" panose="020F0502020204030204" pitchFamily="34" charset="0"/>
                <a:cs typeface="Times New Roman" panose="02020603050405020304" pitchFamily="18" charset="0"/>
              </a:rPr>
              <a:t> </a:t>
            </a:r>
            <a:r>
              <a:rPr lang="en-GB" sz="1800" kern="100" dirty="0">
                <a:solidFill>
                  <a:srgbClr val="0000CF"/>
                </a:solidFill>
                <a:effectLst/>
                <a:latin typeface="Console"/>
                <a:ea typeface="Calibri" panose="020F0502020204030204" pitchFamily="34" charset="0"/>
                <a:cs typeface="Times New Roman" panose="02020603050405020304" pitchFamily="18" charset="0"/>
              </a:rPr>
              <a:t>0.3</a:t>
            </a:r>
            <a:r>
              <a:rPr lang="en-GB" sz="1800" kern="100" dirty="0">
                <a:solidFill>
                  <a:srgbClr val="000000"/>
                </a:solidFill>
                <a:effectLst/>
                <a:latin typeface="Console"/>
                <a:ea typeface="Calibri" panose="020F0502020204030204" pitchFamily="34" charset="0"/>
                <a:cs typeface="Times New Roman" panose="02020603050405020304" pitchFamily="18" charset="0"/>
              </a:rPr>
              <a:t>)</a:t>
            </a:r>
            <a:endParaRPr lang="en-GB" sz="1600" kern="1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en-GB" sz="1800" kern="100" dirty="0">
                <a:solidFill>
                  <a:srgbClr val="000000"/>
                </a:solidFill>
                <a:effectLst/>
                <a:latin typeface="Console"/>
                <a:ea typeface="Calibri" panose="020F0502020204030204" pitchFamily="34" charset="0"/>
                <a:cs typeface="Times New Roman" panose="02020603050405020304" pitchFamily="18" charset="0"/>
              </a:rPr>
              <a:t>## [1] 0.05145967</a:t>
            </a:r>
            <a:endParaRPr lang="en-GB" sz="1600" kern="100" dirty="0">
              <a:effectLst/>
              <a:latin typeface="Consolas" panose="020B0609020204030204" pitchFamily="49" charset="0"/>
              <a:ea typeface="Calibri" panose="020F050202020403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239F175E-CF8D-D075-4F92-B0BCF8E0FD6D}"/>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a:lstStyle>
          <a:p>
            <a:r>
              <a:rPr lang="en-US" dirty="0"/>
              <a:t>Example 7.3 (continued)</a:t>
            </a:r>
            <a:endParaRPr lang="en-GB" dirty="0"/>
          </a:p>
        </p:txBody>
      </p:sp>
    </p:spTree>
    <p:extLst>
      <p:ext uri="{BB962C8B-B14F-4D97-AF65-F5344CB8AC3E}">
        <p14:creationId xmlns:p14="http://schemas.microsoft.com/office/powerpoint/2010/main" val="2341035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40BF-0B1A-0524-E53D-447DE7885187}"/>
              </a:ext>
            </a:extLst>
          </p:cNvPr>
          <p:cNvSpPr>
            <a:spLocks noGrp="1"/>
          </p:cNvSpPr>
          <p:nvPr>
            <p:ph type="title"/>
          </p:nvPr>
        </p:nvSpPr>
        <p:spPr/>
        <p:txBody>
          <a:bodyPr/>
          <a:lstStyle/>
          <a:p>
            <a:r>
              <a:rPr lang="en-US" dirty="0"/>
              <a:t>Geometric Distribution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D5EB6C-2F81-EF71-46EE-A6534CF30645}"/>
                  </a:ext>
                </a:extLst>
              </p:cNvPr>
              <p:cNvSpPr>
                <a:spLocks noGrp="1"/>
              </p:cNvSpPr>
              <p:nvPr>
                <p:ph idx="1"/>
              </p:nvPr>
            </p:nvSpPr>
            <p:spPr/>
            <p:txBody>
              <a:bodyPr/>
              <a:lstStyle/>
              <a:p>
                <a:r>
                  <a:rPr lang="en-US" kern="100" dirty="0">
                    <a:effectLst/>
                    <a:ea typeface="Calibri" panose="020F0502020204030204" pitchFamily="34" charset="0"/>
                  </a:rPr>
                  <a:t>The Geometric distribution is a special case of Negative Binomial distribution when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𝑟</m:t>
                    </m:r>
                    <m:r>
                      <a:rPr lang="en-US" i="1" kern="100">
                        <a:effectLst/>
                        <a:latin typeface="Cambria Math" panose="02040503050406030204" pitchFamily="18" charset="0"/>
                        <a:ea typeface="Calibri" panose="020F0502020204030204" pitchFamily="34" charset="0"/>
                        <a:cs typeface="Times New Roman" panose="02020603050405020304" pitchFamily="18" charset="0"/>
                      </a:rPr>
                      <m:t>=1</m:t>
                    </m:r>
                  </m:oMath>
                </a14:m>
                <a:r>
                  <a:rPr lang="en-US" kern="100" dirty="0">
                    <a:effectLst/>
                    <a:ea typeface="Calibri" panose="020F0502020204030204" pitchFamily="34" charset="0"/>
                  </a:rPr>
                  <a:t>.</a:t>
                </a:r>
                <a:endParaRPr lang="en-GB" kern="100" dirty="0">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B2D5EB6C-2F81-EF71-46EE-A6534CF30645}"/>
                  </a:ext>
                </a:extLst>
              </p:cNvPr>
              <p:cNvSpPr>
                <a:spLocks noGrp="1" noRot="1" noChangeAspect="1" noMove="1" noResize="1" noEditPoints="1" noAdjustHandles="1" noChangeArrowheads="1" noChangeShapeType="1" noTextEdit="1"/>
              </p:cNvSpPr>
              <p:nvPr>
                <p:ph idx="1"/>
              </p:nvPr>
            </p:nvSpPr>
            <p:spPr>
              <a:blipFill>
                <a:blip r:embed="rId2"/>
                <a:stretch>
                  <a:fillRect l="-406" t="-1261"/>
                </a:stretch>
              </a:blipFill>
            </p:spPr>
            <p:txBody>
              <a:bodyPr/>
              <a:lstStyle/>
              <a:p>
                <a:r>
                  <a:rPr lang="en-GB">
                    <a:noFill/>
                  </a:rPr>
                  <a:t> </a:t>
                </a:r>
              </a:p>
            </p:txBody>
          </p:sp>
        </mc:Fallback>
      </mc:AlternateContent>
    </p:spTree>
    <p:extLst>
      <p:ext uri="{BB962C8B-B14F-4D97-AF65-F5344CB8AC3E}">
        <p14:creationId xmlns:p14="http://schemas.microsoft.com/office/powerpoint/2010/main" val="53475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4A144C-A10C-8691-C9D1-D6BAC7CD91F7}"/>
                  </a:ext>
                </a:extLst>
              </p:cNvPr>
              <p:cNvSpPr>
                <a:spLocks noGrp="1"/>
              </p:cNvSpPr>
              <p:nvPr>
                <p:ph idx="1"/>
              </p:nvPr>
            </p:nvSpPr>
            <p:spPr>
              <a:xfrm>
                <a:off x="838200" y="1609345"/>
                <a:ext cx="10515600" cy="4567618"/>
              </a:xfrm>
            </p:spPr>
            <p:txBody>
              <a:bodyPr>
                <a:normAutofit/>
              </a:bodyPr>
              <a:lstStyle/>
              <a:p>
                <a:pPr marL="0" indent="0">
                  <a:lnSpc>
                    <a:spcPct val="200000"/>
                  </a:lnSpc>
                  <a:spcAft>
                    <a:spcPts val="800"/>
                  </a:spcAft>
                  <a:buNone/>
                </a:pPr>
                <a:r>
                  <a:rPr lang="en-US" sz="1800" kern="100" dirty="0">
                    <a:effectLst/>
                    <a:ea typeface="Calibri" panose="020F0502020204030204" pitchFamily="34" charset="0"/>
                  </a:rPr>
                  <a:t>In an experiment we are tossing a coin until a head occurs. We are interested in the probability that the first head occurs on the 4th toss. Using Negative Binomial distribution, we have:</a:t>
                </a:r>
                <a:endParaRPr lang="en-GB" sz="1800"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m>
                        <m:mPr>
                          <m:mcs>
                            <m:mc>
                              <m:mcPr>
                                <m:count m:val="2"/>
                                <m:mcJc m:val="center"/>
                              </m:mcPr>
                            </m:mc>
                          </m:mcs>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1−1</m:t>
                                      </m:r>
                                    </m:e>
                                  </m:mr>
                                </m:m>
                              </m:e>
                            </m:d>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e>
                          <m:e>
                            <m:r>
                              <m:rPr>
                                <m:nor/>
                              </m:rPr>
                              <a:rPr lang="en-US" sz="1800" kern="100">
                                <a:effectLst/>
                                <a:ea typeface="Times New Roman" panose="02020603050405020304" pitchFamily="18" charset="0"/>
                              </a:rPr>
                              <m:t>where</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 2, 3, …</m:t>
                            </m:r>
                          </m:e>
                        </m:mr>
                      </m:m>
                    </m:oMath>
                  </m:oMathPara>
                </a14:m>
                <a:endParaRPr lang="en-GB" sz="1800" kern="100" dirty="0">
                  <a:effectLst/>
                  <a:ea typeface="Calibri" panose="020F0502020204030204" pitchFamily="34" charset="0"/>
                </a:endParaRPr>
              </a:p>
              <a:p>
                <a:pPr marL="0" indent="0">
                  <a:lnSpc>
                    <a:spcPct val="200000"/>
                  </a:lnSpc>
                  <a:spcAft>
                    <a:spcPts val="800"/>
                  </a:spcAft>
                  <a:buNone/>
                </a:pPr>
                <a:r>
                  <a:rPr lang="en-US" sz="1800" kern="100" dirty="0">
                    <a:ea typeface="Times New Roman" panose="02020603050405020304" pitchFamily="18" charset="0"/>
                  </a:rPr>
                  <a:t>s</a:t>
                </a:r>
                <a:r>
                  <a:rPr lang="en-US" sz="1800" kern="100" dirty="0">
                    <a:effectLst/>
                    <a:ea typeface="Times New Roman" panose="02020603050405020304" pitchFamily="18" charset="0"/>
                  </a:rPr>
                  <a:t>ince the successive terms for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 2, 3, …</m:t>
                    </m:r>
                  </m:oMath>
                </a14:m>
                <a:r>
                  <a:rPr lang="en-US" sz="1800" kern="100" dirty="0">
                    <a:effectLst/>
                    <a:ea typeface="Times New Roman" panose="02020603050405020304" pitchFamily="18" charset="0"/>
                  </a:rPr>
                  <a:t> constitute a geometric progression, it is usually called a geometric distribution denoted by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𝑔</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kern="100" dirty="0">
                    <a:effectLst/>
                    <a:ea typeface="Times New Roman" panose="02020603050405020304" pitchFamily="18" charset="0"/>
                  </a:rPr>
                  <a:t>. For example:</a:t>
                </a:r>
                <a:endParaRPr lang="en-GB" sz="1800"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𝑔</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𝑔</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4;0.5</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4;1,0.5</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4−1</m:t>
                                </m:r>
                              </m:e>
                            </m:mr>
                            <m:m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1−1</m:t>
                                </m:r>
                              </m:e>
                            </m:mr>
                          </m:m>
                        </m:e>
                      </m:d>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0.5</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0.5</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=0.5×</m:t>
                      </m:r>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0.5</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=0.0625</m:t>
                      </m:r>
                    </m:oMath>
                  </m:oMathPara>
                </a14:m>
                <a:endParaRPr lang="en-GB" sz="1800"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A34A144C-A10C-8691-C9D1-D6BAC7CD91F7}"/>
                  </a:ext>
                </a:extLst>
              </p:cNvPr>
              <p:cNvSpPr>
                <a:spLocks noGrp="1" noRot="1" noChangeAspect="1" noMove="1" noResize="1" noEditPoints="1" noAdjustHandles="1" noChangeArrowheads="1" noChangeShapeType="1" noTextEdit="1"/>
              </p:cNvSpPr>
              <p:nvPr>
                <p:ph idx="1"/>
              </p:nvPr>
            </p:nvSpPr>
            <p:spPr>
              <a:xfrm>
                <a:off x="838200" y="1609345"/>
                <a:ext cx="10515600" cy="4567618"/>
              </a:xfrm>
              <a:blipFill>
                <a:blip r:embed="rId2"/>
                <a:stretch>
                  <a:fillRect l="-522"/>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EC22A674-375E-3B69-B2B3-2B2A51AE0E3F}"/>
              </a:ext>
            </a:extLst>
          </p:cNvPr>
          <p:cNvSpPr>
            <a:spLocks noGrp="1"/>
          </p:cNvSpPr>
          <p:nvPr>
            <p:ph type="title"/>
          </p:nvPr>
        </p:nvSpPr>
        <p:spPr>
          <a:xfrm>
            <a:off x="838200" y="365125"/>
            <a:ext cx="10515600" cy="1325563"/>
          </a:xfrm>
        </p:spPr>
        <p:txBody>
          <a:bodyPr/>
          <a:lstStyle/>
          <a:p>
            <a:r>
              <a:rPr lang="en-US" dirty="0"/>
              <a:t>Example 7.4</a:t>
            </a:r>
            <a:endParaRPr lang="en-GB" dirty="0"/>
          </a:p>
        </p:txBody>
      </p:sp>
    </p:spTree>
    <p:extLst>
      <p:ext uri="{BB962C8B-B14F-4D97-AF65-F5344CB8AC3E}">
        <p14:creationId xmlns:p14="http://schemas.microsoft.com/office/powerpoint/2010/main" val="3114702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8BC8-D8D0-4E14-36D9-9B7EDD79C686}"/>
              </a:ext>
            </a:extLst>
          </p:cNvPr>
          <p:cNvSpPr>
            <a:spLocks noGrp="1"/>
          </p:cNvSpPr>
          <p:nvPr>
            <p:ph type="title"/>
          </p:nvPr>
        </p:nvSpPr>
        <p:spPr/>
        <p:txBody>
          <a:bodyPr/>
          <a:lstStyle/>
          <a:p>
            <a:r>
              <a:rPr lang="en-US" dirty="0"/>
              <a:t>Example 7.4 (continued)</a:t>
            </a:r>
            <a:endParaRPr lang="en-GB" dirty="0"/>
          </a:p>
        </p:txBody>
      </p:sp>
      <p:sp>
        <p:nvSpPr>
          <p:cNvPr id="3" name="Content Placeholder 2">
            <a:extLst>
              <a:ext uri="{FF2B5EF4-FFF2-40B4-BE49-F238E27FC236}">
                <a16:creationId xmlns:a16="http://schemas.microsoft.com/office/drawing/2014/main" id="{2EA7BADC-9CB4-AF0B-75D9-E98C1408F913}"/>
              </a:ext>
            </a:extLst>
          </p:cNvPr>
          <p:cNvSpPr>
            <a:spLocks noGrp="1"/>
          </p:cNvSpPr>
          <p:nvPr>
            <p:ph idx="1"/>
          </p:nvPr>
        </p:nvSpPr>
        <p:spPr/>
        <p:txBody>
          <a:bodyPr/>
          <a:lstStyle/>
          <a:p>
            <a:pPr marL="0" indent="0">
              <a:buNone/>
            </a:pPr>
            <a:r>
              <a:rPr lang="en-GB" dirty="0"/>
              <a:t>Do it in </a:t>
            </a:r>
            <a:r>
              <a:rPr lang="en-GB" b="1" dirty="0"/>
              <a:t>R</a:t>
            </a:r>
            <a:r>
              <a:rPr lang="en-GB" dirty="0"/>
              <a:t>:</a:t>
            </a:r>
          </a:p>
          <a:p>
            <a:pPr marL="0" indent="0">
              <a:buNone/>
            </a:pPr>
            <a:endParaRPr lang="en-GB" dirty="0"/>
          </a:p>
          <a:p>
            <a:pPr marL="0" indent="0">
              <a:buNone/>
            </a:pPr>
            <a:r>
              <a:rPr lang="en-US" sz="1800" b="0" i="1" u="none" strike="noStrike" baseline="0" dirty="0">
                <a:solidFill>
                  <a:srgbClr val="8F5802"/>
                </a:solidFill>
                <a:latin typeface="Consolas" panose="020B0609020204030204" pitchFamily="49" charset="0"/>
              </a:rPr>
              <a:t># Given values </a:t>
            </a:r>
          </a:p>
          <a:p>
            <a:pPr marL="0" indent="0">
              <a:buNone/>
            </a:pPr>
            <a:r>
              <a:rPr lang="en-US" sz="1800" b="0" i="0" u="none" strike="noStrike" baseline="0" dirty="0">
                <a:solidFill>
                  <a:srgbClr val="000000"/>
                </a:solidFill>
                <a:latin typeface="Consolas" panose="020B0609020204030204" pitchFamily="49" charset="0"/>
              </a:rPr>
              <a:t>p </a:t>
            </a:r>
            <a:r>
              <a:rPr lang="en-US" sz="1800" b="0" i="0" u="none" strike="noStrike" baseline="0" dirty="0">
                <a:solidFill>
                  <a:srgbClr val="8F5802"/>
                </a:solidFill>
                <a:latin typeface="Consolas" panose="020B0609020204030204" pitchFamily="49" charset="0"/>
              </a:rPr>
              <a:t>&lt;- </a:t>
            </a:r>
            <a:r>
              <a:rPr lang="en-US" sz="1800" b="0" i="0" u="none" strike="noStrike" baseline="0" dirty="0">
                <a:solidFill>
                  <a:srgbClr val="0000CF"/>
                </a:solidFill>
                <a:latin typeface="Consolas" panose="020B0609020204030204" pitchFamily="49" charset="0"/>
              </a:rPr>
              <a:t>0.5 </a:t>
            </a:r>
            <a:r>
              <a:rPr lang="en-US" sz="1800" b="0" i="1" u="none" strike="noStrike" baseline="0" dirty="0">
                <a:solidFill>
                  <a:srgbClr val="8F5802"/>
                </a:solidFill>
                <a:latin typeface="Consolas" panose="020B0609020204030204" pitchFamily="49" charset="0"/>
              </a:rPr>
              <a:t># Probability of getting a head </a:t>
            </a:r>
          </a:p>
          <a:p>
            <a:pPr marL="0" indent="0">
              <a:buNone/>
            </a:pPr>
            <a:r>
              <a:rPr lang="en-US" sz="1800" b="0" i="0" u="none" strike="noStrike" baseline="0" dirty="0">
                <a:solidFill>
                  <a:srgbClr val="000000"/>
                </a:solidFill>
                <a:latin typeface="Consolas" panose="020B0609020204030204" pitchFamily="49" charset="0"/>
              </a:rPr>
              <a:t>k </a:t>
            </a:r>
            <a:r>
              <a:rPr lang="en-US" sz="1800" b="0" i="0" u="none" strike="noStrike" baseline="0" dirty="0">
                <a:solidFill>
                  <a:srgbClr val="8F5802"/>
                </a:solidFill>
                <a:latin typeface="Consolas" panose="020B0609020204030204" pitchFamily="49" charset="0"/>
              </a:rPr>
              <a:t>&lt;- </a:t>
            </a:r>
            <a:r>
              <a:rPr lang="en-US" sz="1800" b="0" i="0" u="none" strike="noStrike" baseline="0" dirty="0">
                <a:solidFill>
                  <a:srgbClr val="0000CF"/>
                </a:solidFill>
                <a:latin typeface="Consolas" panose="020B0609020204030204" pitchFamily="49" charset="0"/>
              </a:rPr>
              <a:t>1 </a:t>
            </a:r>
            <a:r>
              <a:rPr lang="en-US" sz="1800" b="0" i="1" u="none" strike="noStrike" baseline="0" dirty="0">
                <a:solidFill>
                  <a:srgbClr val="8F5802"/>
                </a:solidFill>
                <a:latin typeface="Consolas" panose="020B0609020204030204" pitchFamily="49" charset="0"/>
              </a:rPr>
              <a:t># We want the first success (k = 1) </a:t>
            </a:r>
          </a:p>
          <a:p>
            <a:pPr marL="0" indent="0">
              <a:buNone/>
            </a:pPr>
            <a:r>
              <a:rPr lang="en-US" sz="1800" b="0" i="0" u="none" strike="noStrike" baseline="0" dirty="0">
                <a:solidFill>
                  <a:srgbClr val="000000"/>
                </a:solidFill>
                <a:latin typeface="Consolas" panose="020B0609020204030204" pitchFamily="49" charset="0"/>
              </a:rPr>
              <a:t>n </a:t>
            </a:r>
            <a:r>
              <a:rPr lang="en-US" sz="1800" b="0" i="0" u="none" strike="noStrike" baseline="0" dirty="0">
                <a:solidFill>
                  <a:srgbClr val="8F5802"/>
                </a:solidFill>
                <a:latin typeface="Consolas" panose="020B0609020204030204" pitchFamily="49" charset="0"/>
              </a:rPr>
              <a:t>&lt;- </a:t>
            </a:r>
            <a:r>
              <a:rPr lang="en-US" sz="1800" b="0" i="0" u="none" strike="noStrike" baseline="0" dirty="0">
                <a:solidFill>
                  <a:srgbClr val="0000CF"/>
                </a:solidFill>
                <a:latin typeface="Consolas" panose="020B0609020204030204" pitchFamily="49" charset="0"/>
              </a:rPr>
              <a:t>4 </a:t>
            </a:r>
            <a:r>
              <a:rPr lang="en-US" sz="1800" b="0" i="1" u="none" strike="noStrike" baseline="0" dirty="0">
                <a:solidFill>
                  <a:srgbClr val="8F5802"/>
                </a:solidFill>
                <a:latin typeface="Consolas" panose="020B0609020204030204" pitchFamily="49" charset="0"/>
              </a:rPr>
              <a:t># On the 4th toss </a:t>
            </a:r>
          </a:p>
          <a:p>
            <a:pPr marL="0" indent="0">
              <a:buNone/>
            </a:pPr>
            <a:r>
              <a:rPr lang="en-US" sz="1800" b="0" i="1" u="none" strike="noStrike" baseline="0" dirty="0">
                <a:solidFill>
                  <a:srgbClr val="8F5802"/>
                </a:solidFill>
                <a:latin typeface="Consolas" panose="020B0609020204030204" pitchFamily="49" charset="0"/>
              </a:rPr>
              <a:t># Calculate the probability using the Negative Binomial distribution </a:t>
            </a:r>
            <a:r>
              <a:rPr lang="en-US" sz="1800" b="0" i="0" u="none" strike="noStrike" baseline="0" dirty="0">
                <a:solidFill>
                  <a:srgbClr val="000000"/>
                </a:solidFill>
                <a:latin typeface="Consolas" panose="020B0609020204030204" pitchFamily="49" charset="0"/>
              </a:rPr>
              <a:t>prob_4th_is_1st_head </a:t>
            </a:r>
            <a:r>
              <a:rPr lang="en-US" sz="1800" b="0" i="0" u="none" strike="noStrike" baseline="0" dirty="0">
                <a:solidFill>
                  <a:srgbClr val="8F5802"/>
                </a:solidFill>
                <a:latin typeface="Consolas" panose="020B0609020204030204" pitchFamily="49" charset="0"/>
              </a:rPr>
              <a:t>&lt;- </a:t>
            </a:r>
            <a:r>
              <a:rPr lang="en-US" sz="1800" b="0" i="0" u="none" strike="noStrike" baseline="0" dirty="0" err="1">
                <a:solidFill>
                  <a:srgbClr val="000000"/>
                </a:solidFill>
                <a:latin typeface="Consolas" panose="020B0609020204030204" pitchFamily="49" charset="0"/>
              </a:rPr>
              <a:t>dnbinom</a:t>
            </a:r>
            <a:r>
              <a:rPr lang="en-US" sz="1800" b="0" i="0" u="none" strike="noStrike" baseline="0" dirty="0">
                <a:solidFill>
                  <a:srgbClr val="000000"/>
                </a:solidFill>
                <a:latin typeface="Consolas" panose="020B0609020204030204" pitchFamily="49" charset="0"/>
              </a:rPr>
              <a:t>(n - k, </a:t>
            </a:r>
            <a:r>
              <a:rPr lang="en-US" sz="1800" b="0" i="0" u="none" strike="noStrike" baseline="0" dirty="0">
                <a:solidFill>
                  <a:srgbClr val="C49F00"/>
                </a:solidFill>
                <a:latin typeface="Consolas" panose="020B0609020204030204" pitchFamily="49" charset="0"/>
              </a:rPr>
              <a:t>size = </a:t>
            </a:r>
            <a:r>
              <a:rPr lang="en-US" sz="1800" b="0" i="0" u="none" strike="noStrike" baseline="0" dirty="0">
                <a:solidFill>
                  <a:srgbClr val="000000"/>
                </a:solidFill>
                <a:latin typeface="Consolas" panose="020B0609020204030204" pitchFamily="49" charset="0"/>
              </a:rPr>
              <a:t>k, </a:t>
            </a:r>
            <a:r>
              <a:rPr lang="en-US" sz="1800" b="0" i="0" u="none" strike="noStrike" baseline="0" dirty="0">
                <a:solidFill>
                  <a:srgbClr val="C49F00"/>
                </a:solidFill>
                <a:latin typeface="Consolas" panose="020B0609020204030204" pitchFamily="49" charset="0"/>
              </a:rPr>
              <a:t>prob = </a:t>
            </a:r>
            <a:r>
              <a:rPr lang="en-US" sz="1800" b="0" i="0" u="none" strike="noStrike" baseline="0" dirty="0">
                <a:solidFill>
                  <a:srgbClr val="000000"/>
                </a:solidFill>
                <a:latin typeface="Consolas" panose="020B0609020204030204" pitchFamily="49" charset="0"/>
              </a:rPr>
              <a:t>p) </a:t>
            </a:r>
          </a:p>
          <a:p>
            <a:pPr marL="0" indent="0">
              <a:buNone/>
            </a:pPr>
            <a:r>
              <a:rPr lang="en-US" sz="1800" b="0" i="1" u="none" strike="noStrike" baseline="0" dirty="0">
                <a:solidFill>
                  <a:srgbClr val="8F5802"/>
                </a:solidFill>
                <a:latin typeface="Consolas" panose="020B0609020204030204" pitchFamily="49" charset="0"/>
              </a:rPr>
              <a:t># Display the probability </a:t>
            </a:r>
            <a:r>
              <a:rPr lang="en-US" sz="1800" b="0" i="0" u="none" strike="noStrike" baseline="0" dirty="0">
                <a:solidFill>
                  <a:srgbClr val="000000"/>
                </a:solidFill>
                <a:latin typeface="Consolas" panose="020B0609020204030204" pitchFamily="49" charset="0"/>
              </a:rPr>
              <a:t>prob_4th_is_1st_head </a:t>
            </a:r>
          </a:p>
          <a:p>
            <a:pPr marL="0" indent="0">
              <a:buNone/>
            </a:pPr>
            <a:r>
              <a:rPr lang="en-GB" sz="1800" b="0" i="0" u="none" strike="noStrike" baseline="0" dirty="0">
                <a:solidFill>
                  <a:srgbClr val="000000"/>
                </a:solidFill>
                <a:latin typeface="Consolas" panose="020B0609020204030204" pitchFamily="49" charset="0"/>
              </a:rPr>
              <a:t>## [1] 0.0625 </a:t>
            </a:r>
            <a:endParaRPr lang="en-GB" dirty="0"/>
          </a:p>
        </p:txBody>
      </p:sp>
    </p:spTree>
    <p:extLst>
      <p:ext uri="{BB962C8B-B14F-4D97-AF65-F5344CB8AC3E}">
        <p14:creationId xmlns:p14="http://schemas.microsoft.com/office/powerpoint/2010/main" val="15270811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973F-7986-FFFC-7A97-493C459EB902}"/>
              </a:ext>
            </a:extLst>
          </p:cNvPr>
          <p:cNvSpPr>
            <a:spLocks noGrp="1"/>
          </p:cNvSpPr>
          <p:nvPr>
            <p:ph type="title"/>
          </p:nvPr>
        </p:nvSpPr>
        <p:spPr/>
        <p:txBody>
          <a:bodyPr/>
          <a:lstStyle/>
          <a:p>
            <a:r>
              <a:rPr lang="en-US" dirty="0"/>
              <a:t>Note</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EB9B77-988B-04A9-158F-14F12F313F80}"/>
                  </a:ext>
                </a:extLst>
              </p:cNvPr>
              <p:cNvSpPr>
                <a:spLocks noGrp="1"/>
              </p:cNvSpPr>
              <p:nvPr>
                <p:ph idx="1"/>
              </p:nvPr>
            </p:nvSpPr>
            <p:spPr/>
            <p:txBody>
              <a:bodyPr/>
              <a:lstStyle/>
              <a:p>
                <a:pPr marL="0" indent="0">
                  <a:lnSpc>
                    <a:spcPct val="200000"/>
                  </a:lnSpc>
                  <a:spcAft>
                    <a:spcPts val="800"/>
                  </a:spcAft>
                  <a:buNone/>
                </a:pPr>
                <a:r>
                  <a:rPr lang="en-US" sz="1800" kern="100" dirty="0">
                    <a:effectLst/>
                    <a:ea typeface="Times New Roman" panose="02020603050405020304" pitchFamily="18" charset="0"/>
                  </a:rPr>
                  <a:t>If the first success occurs at the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𝑥𝑡h</m:t>
                    </m:r>
                  </m:oMath>
                </a14:m>
                <a:r>
                  <a:rPr lang="en-US" sz="1800" kern="100" dirty="0">
                    <a:effectLst/>
                    <a:ea typeface="Times New Roman" panose="02020603050405020304" pitchFamily="18" charset="0"/>
                  </a:rPr>
                  <a:t> trail, then it must have been preceded by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1800" kern="100" dirty="0">
                    <a:effectLst/>
                    <a:ea typeface="Times New Roman" panose="02020603050405020304" pitchFamily="18" charset="0"/>
                  </a:rPr>
                  <a:t> failures.</a:t>
                </a:r>
                <a:r>
                  <a:rPr lang="en-US" sz="1800" kern="100" dirty="0">
                    <a:effectLst/>
                    <a:ea typeface="Calibri" panose="020F0502020204030204" pitchFamily="34" charset="0"/>
                  </a:rPr>
                  <a:t> </a:t>
                </a:r>
                <a:r>
                  <a:rPr lang="en-US" sz="1800" kern="100" dirty="0">
                    <a:effectLst/>
                    <a:ea typeface="Times New Roman" panose="02020603050405020304" pitchFamily="18" charset="0"/>
                  </a:rPr>
                  <a:t>Clearly, all such probabilities are non-negative, and they sum to 1 as it is shown below.</a:t>
                </a:r>
                <a:endParaRPr lang="en-GB" sz="1800" kern="100" dirty="0">
                  <a:effectLst/>
                  <a:ea typeface="Calibri" panose="020F0502020204030204" pitchFamily="34" charset="0"/>
                </a:endParaRPr>
              </a:p>
              <a:p>
                <a:pPr marL="0" indent="0">
                  <a:lnSpc>
                    <a:spcPct val="200000"/>
                  </a:lnSpc>
                  <a:spcAft>
                    <a:spcPts val="800"/>
                  </a:spcAft>
                  <a:buNone/>
                </a:pPr>
                <a:r>
                  <a:rPr lang="en-US" sz="1800" kern="100" dirty="0">
                    <a:effectLst/>
                    <a:ea typeface="Times New Roman" panose="02020603050405020304" pitchFamily="18" charset="0"/>
                  </a:rPr>
                  <a:t>For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0&lt;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&lt;1</m:t>
                    </m:r>
                  </m:oMath>
                </a14:m>
                <a:endParaRPr lang="en-GB" sz="1800"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nary>
                        <m:naryPr>
                          <m:chr m:val="∑"/>
                          <m:limLoc m:val="undOv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𝑃</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nary>
                                <m:naryPr>
                                  <m:chr m:val="∑"/>
                                  <m:limLoc m:val="undOv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b="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up>
                                <m:e>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𝑞</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𝑞</m:t>
                                      </m:r>
                                    </m:den>
                                  </m:f>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GB"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en>
                                  </m:f>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=1</m:t>
                                  </m:r>
                                </m:e>
                              </m:nary>
                            </m:e>
                          </m:nary>
                        </m:e>
                      </m:nary>
                    </m:oMath>
                  </m:oMathPara>
                </a14:m>
                <a:endParaRPr lang="en-GB" sz="1800" kern="100" dirty="0">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ABEB9B77-988B-04A9-158F-14F12F313F80}"/>
                  </a:ext>
                </a:extLst>
              </p:cNvPr>
              <p:cNvSpPr>
                <a:spLocks noGrp="1" noRot="1" noChangeAspect="1" noMove="1" noResize="1" noEditPoints="1" noAdjustHandles="1" noChangeArrowheads="1" noChangeShapeType="1" noTextEdit="1"/>
              </p:cNvSpPr>
              <p:nvPr>
                <p:ph idx="1"/>
              </p:nvPr>
            </p:nvSpPr>
            <p:spPr>
              <a:blipFill>
                <a:blip r:embed="rId2"/>
                <a:stretch>
                  <a:fillRect l="-522" r="-406"/>
                </a:stretch>
              </a:blipFill>
            </p:spPr>
            <p:txBody>
              <a:bodyPr/>
              <a:lstStyle/>
              <a:p>
                <a:r>
                  <a:rPr lang="en-GB">
                    <a:noFill/>
                  </a:rPr>
                  <a:t> </a:t>
                </a:r>
              </a:p>
            </p:txBody>
          </p:sp>
        </mc:Fallback>
      </mc:AlternateContent>
    </p:spTree>
    <p:extLst>
      <p:ext uri="{BB962C8B-B14F-4D97-AF65-F5344CB8AC3E}">
        <p14:creationId xmlns:p14="http://schemas.microsoft.com/office/powerpoint/2010/main" val="2482561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0C4E-707E-1712-3B74-F6FB9533927A}"/>
              </a:ext>
            </a:extLst>
          </p:cNvPr>
          <p:cNvSpPr>
            <a:spLocks noGrp="1"/>
          </p:cNvSpPr>
          <p:nvPr>
            <p:ph type="title"/>
          </p:nvPr>
        </p:nvSpPr>
        <p:spPr/>
        <p:txBody>
          <a:bodyPr/>
          <a:lstStyle/>
          <a:p>
            <a:r>
              <a:rPr lang="en-US" dirty="0"/>
              <a:t>Poisson Distribution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4CB7B3-8C89-4761-408C-3C30CDCC0B19}"/>
                  </a:ext>
                </a:extLst>
              </p:cNvPr>
              <p:cNvSpPr>
                <a:spLocks noGrp="1"/>
              </p:cNvSpPr>
              <p:nvPr>
                <p:ph idx="1"/>
              </p:nvPr>
            </p:nvSpPr>
            <p:spPr/>
            <p:txBody>
              <a:bodyPr>
                <a:normAutofit/>
              </a:bodyPr>
              <a:lstStyle/>
              <a:p>
                <a:pPr>
                  <a:lnSpc>
                    <a:spcPct val="120000"/>
                  </a:lnSpc>
                  <a:spcAft>
                    <a:spcPts val="800"/>
                  </a:spcAft>
                </a:pPr>
                <a:r>
                  <a:rPr lang="en-GB" kern="100" dirty="0">
                    <a:effectLst/>
                    <a:ea typeface="Calibri" panose="020F0502020204030204" pitchFamily="34" charset="0"/>
                  </a:rPr>
                  <a:t>Experiments that produce numerical values of a random variable </a:t>
                </a:r>
                <a14:m>
                  <m:oMath xmlns:m="http://schemas.openxmlformats.org/officeDocument/2006/math">
                    <m:r>
                      <a:rPr lang="en-GB" i="1" kern="100">
                        <a:effectLst/>
                        <a:latin typeface="Cambria Math" panose="02040503050406030204" pitchFamily="18" charset="0"/>
                        <a:ea typeface="Calibri" panose="020F0502020204030204" pitchFamily="34" charset="0"/>
                        <a:cs typeface="Times New Roman" panose="02020603050405020304" pitchFamily="18" charset="0"/>
                      </a:rPr>
                      <m:t>𝑋</m:t>
                    </m:r>
                  </m:oMath>
                </a14:m>
                <a:r>
                  <a:rPr lang="en-GB" kern="100" dirty="0">
                    <a:effectLst/>
                    <a:ea typeface="Calibri" panose="020F0502020204030204" pitchFamily="34" charset="0"/>
                  </a:rPr>
                  <a:t>, the number of outcomes occurring during a given time interval or in a specific region, are called Poisson experiments. Examples of Poisson experiments are:</a:t>
                </a:r>
              </a:p>
              <a:p>
                <a:pPr lvl="1">
                  <a:lnSpc>
                    <a:spcPct val="120000"/>
                  </a:lnSpc>
                  <a:buFont typeface="Courier New" panose="02070309020205020404" pitchFamily="49" charset="0"/>
                  <a:buChar char="o"/>
                </a:pPr>
                <a:r>
                  <a:rPr lang="en-US" kern="100" dirty="0">
                    <a:effectLst/>
                    <a:ea typeface="Calibri" panose="020F0502020204030204" pitchFamily="34" charset="0"/>
                  </a:rPr>
                  <a:t>number of telephone call received by the office per hour;</a:t>
                </a:r>
                <a:endParaRPr lang="en-GB" kern="100" dirty="0">
                  <a:effectLst/>
                  <a:ea typeface="Calibri" panose="020F0502020204030204" pitchFamily="34" charset="0"/>
                </a:endParaRPr>
              </a:p>
              <a:p>
                <a:pPr lvl="1">
                  <a:lnSpc>
                    <a:spcPct val="120000"/>
                  </a:lnSpc>
                  <a:buFont typeface="Courier New" panose="02070309020205020404" pitchFamily="49" charset="0"/>
                  <a:buChar char="o"/>
                </a:pPr>
                <a:r>
                  <a:rPr lang="en-US" kern="100" dirty="0">
                    <a:effectLst/>
                    <a:ea typeface="Calibri" panose="020F0502020204030204" pitchFamily="34" charset="0"/>
                  </a:rPr>
                  <a:t>number of typing errors on page;</a:t>
                </a:r>
                <a:endParaRPr lang="en-GB" kern="100" dirty="0">
                  <a:effectLst/>
                  <a:ea typeface="Calibri" panose="020F0502020204030204" pitchFamily="34" charset="0"/>
                </a:endParaRPr>
              </a:p>
              <a:p>
                <a:pPr lvl="1">
                  <a:lnSpc>
                    <a:spcPct val="120000"/>
                  </a:lnSpc>
                  <a:spcAft>
                    <a:spcPts val="800"/>
                  </a:spcAft>
                  <a:buFont typeface="Courier New" panose="02070309020205020404" pitchFamily="49" charset="0"/>
                  <a:buChar char="o"/>
                </a:pPr>
                <a:r>
                  <a:rPr lang="en-US" kern="100" dirty="0">
                    <a:effectLst/>
                    <a:ea typeface="Calibri" panose="020F0502020204030204" pitchFamily="34" charset="0"/>
                  </a:rPr>
                  <a:t>number of bacteria in a given culture.</a:t>
                </a:r>
                <a:endParaRPr lang="en-GB" kern="100" dirty="0">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E24CB7B3-8C89-4761-408C-3C30CDCC0B19}"/>
                  </a:ext>
                </a:extLst>
              </p:cNvPr>
              <p:cNvSpPr>
                <a:spLocks noGrp="1" noRot="1" noChangeAspect="1" noMove="1" noResize="1" noEditPoints="1" noAdjustHandles="1" noChangeArrowheads="1" noChangeShapeType="1" noTextEdit="1"/>
              </p:cNvSpPr>
              <p:nvPr>
                <p:ph idx="1"/>
              </p:nvPr>
            </p:nvSpPr>
            <p:spPr>
              <a:blipFill>
                <a:blip r:embed="rId2"/>
                <a:stretch>
                  <a:fillRect l="-406"/>
                </a:stretch>
              </a:blipFill>
            </p:spPr>
            <p:txBody>
              <a:bodyPr/>
              <a:lstStyle/>
              <a:p>
                <a:r>
                  <a:rPr lang="en-GB">
                    <a:noFill/>
                  </a:rPr>
                  <a:t> </a:t>
                </a:r>
              </a:p>
            </p:txBody>
          </p:sp>
        </mc:Fallback>
      </mc:AlternateContent>
    </p:spTree>
    <p:extLst>
      <p:ext uri="{BB962C8B-B14F-4D97-AF65-F5344CB8AC3E}">
        <p14:creationId xmlns:p14="http://schemas.microsoft.com/office/powerpoint/2010/main" val="3795474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CE34-A72C-635D-27E2-ED799C1D4EC5}"/>
              </a:ext>
            </a:extLst>
          </p:cNvPr>
          <p:cNvSpPr>
            <a:spLocks noGrp="1"/>
          </p:cNvSpPr>
          <p:nvPr>
            <p:ph type="title"/>
          </p:nvPr>
        </p:nvSpPr>
        <p:spPr/>
        <p:txBody>
          <a:bodyPr/>
          <a:lstStyle/>
          <a:p>
            <a:r>
              <a:rPr lang="en-GB" dirty="0"/>
              <a:t>Properties of Poisson process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096D5A-74B6-1973-A3B3-8C9B01B8164D}"/>
                  </a:ext>
                </a:extLst>
              </p:cNvPr>
              <p:cNvSpPr>
                <a:spLocks noGrp="1"/>
              </p:cNvSpPr>
              <p:nvPr>
                <p:ph idx="1"/>
              </p:nvPr>
            </p:nvSpPr>
            <p:spPr/>
            <p:txBody>
              <a:bodyPr>
                <a:normAutofit/>
              </a:bodyPr>
              <a:lstStyle/>
              <a:p>
                <a:pPr marL="0" indent="0">
                  <a:lnSpc>
                    <a:spcPct val="100000"/>
                  </a:lnSpc>
                  <a:spcAft>
                    <a:spcPts val="800"/>
                  </a:spcAft>
                  <a:buNone/>
                </a:pPr>
                <a:r>
                  <a:rPr lang="en-US" kern="100" dirty="0">
                    <a:effectLst/>
                    <a:ea typeface="Calibri" panose="020F0502020204030204" pitchFamily="34" charset="0"/>
                  </a:rPr>
                  <a:t>A Poisson experiment is derived from the Poisson process and possesses the following properties:</a:t>
                </a:r>
                <a:endParaRPr lang="en-GB" kern="100" dirty="0">
                  <a:effectLst/>
                  <a:ea typeface="Calibri" panose="020F0502020204030204" pitchFamily="34" charset="0"/>
                </a:endParaRPr>
              </a:p>
              <a:p>
                <a:pPr marL="342900" lvl="0" indent="-342900">
                  <a:lnSpc>
                    <a:spcPct val="100000"/>
                  </a:lnSpc>
                  <a:buFont typeface="Symbol" panose="05050102010706020507" pitchFamily="18" charset="2"/>
                  <a:buChar char=""/>
                </a:pPr>
                <a:r>
                  <a:rPr lang="en-US" kern="100" dirty="0">
                    <a:effectLst/>
                    <a:ea typeface="Calibri" panose="020F0502020204030204" pitchFamily="34" charset="0"/>
                  </a:rPr>
                  <a:t>The number of outcomes in each time interval is unlimited.</a:t>
                </a:r>
                <a:endParaRPr lang="en-GB" kern="100" dirty="0">
                  <a:effectLst/>
                  <a:ea typeface="Calibri" panose="020F0502020204030204" pitchFamily="34" charset="0"/>
                </a:endParaRPr>
              </a:p>
              <a:p>
                <a:pPr marL="342900" lvl="0" indent="-342900">
                  <a:lnSpc>
                    <a:spcPct val="100000"/>
                  </a:lnSpc>
                  <a:buFont typeface="Symbol" panose="05050102010706020507" pitchFamily="18" charset="2"/>
                  <a:buChar char=""/>
                </a:pPr>
                <a:r>
                  <a:rPr lang="en-US" kern="100" dirty="0">
                    <a:effectLst/>
                    <a:ea typeface="Calibri" panose="020F0502020204030204" pitchFamily="34" charset="0"/>
                  </a:rPr>
                  <a:t>The number of outcomes that occur in one time interval is independent of the number of outcomes that occur in any other disjoint time intervals (we can say that Poisson process has no memory).</a:t>
                </a:r>
                <a:endParaRPr lang="en-GB" kern="100" dirty="0">
                  <a:effectLst/>
                  <a:ea typeface="Calibri" panose="020F0502020204030204" pitchFamily="34" charset="0"/>
                </a:endParaRPr>
              </a:p>
              <a:p>
                <a:pPr marL="342900" lvl="0" indent="-342900">
                  <a:lnSpc>
                    <a:spcPct val="100000"/>
                  </a:lnSpc>
                  <a:buFont typeface="Symbol" panose="05050102010706020507" pitchFamily="18" charset="2"/>
                  <a:buChar char=""/>
                </a:pPr>
                <a:r>
                  <a:rPr lang="en-US" kern="100" dirty="0">
                    <a:effectLst/>
                    <a:ea typeface="Calibri" panose="020F0502020204030204" pitchFamily="34" charset="0"/>
                  </a:rPr>
                  <a:t>Rate of events</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oMath>
                </a14:m>
                <a:r>
                  <a:rPr lang="en-US" kern="100" dirty="0">
                    <a:effectLst/>
                    <a:ea typeface="Calibri" panose="020F0502020204030204" pitchFamily="34" charset="0"/>
                  </a:rPr>
                  <a:t> is constant meaning that on average each interval got</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n-US" kern="100" dirty="0">
                    <a:effectLst/>
                    <a:ea typeface="Calibri" panose="020F0502020204030204" pitchFamily="34" charset="0"/>
                  </a:rPr>
                  <a:t> events detected.</a:t>
                </a:r>
                <a:endParaRPr lang="en-GB" kern="100" dirty="0">
                  <a:effectLst/>
                  <a:ea typeface="Calibri" panose="020F0502020204030204" pitchFamily="34" charset="0"/>
                </a:endParaRPr>
              </a:p>
              <a:p>
                <a:pPr marL="342900" lvl="0" indent="-342900">
                  <a:lnSpc>
                    <a:spcPct val="100000"/>
                  </a:lnSpc>
                  <a:spcAft>
                    <a:spcPts val="800"/>
                  </a:spcAft>
                  <a:buFont typeface="Symbol" panose="05050102010706020507" pitchFamily="18" charset="2"/>
                  <a:buChar char=""/>
                </a:pPr>
                <a:r>
                  <a:rPr lang="en-US" kern="100" dirty="0">
                    <a:effectLst/>
                    <a:ea typeface="Calibri" panose="020F0502020204030204" pitchFamily="34" charset="0"/>
                  </a:rPr>
                  <a:t>The probability that more than one outcome will occur is a short time interval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𝛥</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oMath>
                </a14:m>
                <a:r>
                  <a:rPr lang="en-US" kern="100" dirty="0">
                    <a:effectLst/>
                    <a:ea typeface="Calibri" panose="020F0502020204030204" pitchFamily="34" charset="0"/>
                  </a:rPr>
                  <a:t> is negligible.</a:t>
                </a:r>
                <a:endParaRPr lang="en-GB" kern="100" dirty="0">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A1096D5A-74B6-1973-A3B3-8C9B01B8164D}"/>
                  </a:ext>
                </a:extLst>
              </p:cNvPr>
              <p:cNvSpPr>
                <a:spLocks noGrp="1" noRot="1" noChangeAspect="1" noMove="1" noResize="1" noEditPoints="1" noAdjustHandles="1" noChangeArrowheads="1" noChangeShapeType="1" noTextEdit="1"/>
              </p:cNvSpPr>
              <p:nvPr>
                <p:ph idx="1"/>
              </p:nvPr>
            </p:nvSpPr>
            <p:spPr>
              <a:blipFill>
                <a:blip r:embed="rId2"/>
                <a:stretch>
                  <a:fillRect l="-522" t="-700" r="-406"/>
                </a:stretch>
              </a:blipFill>
            </p:spPr>
            <p:txBody>
              <a:bodyPr/>
              <a:lstStyle/>
              <a:p>
                <a:r>
                  <a:rPr lang="en-GB">
                    <a:noFill/>
                  </a:rPr>
                  <a:t> </a:t>
                </a:r>
              </a:p>
            </p:txBody>
          </p:sp>
        </mc:Fallback>
      </mc:AlternateContent>
    </p:spTree>
    <p:extLst>
      <p:ext uri="{BB962C8B-B14F-4D97-AF65-F5344CB8AC3E}">
        <p14:creationId xmlns:p14="http://schemas.microsoft.com/office/powerpoint/2010/main" val="3176334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64EFA-2957-6DA7-E90F-F6B79C020BA5}"/>
              </a:ext>
            </a:extLst>
          </p:cNvPr>
          <p:cNvSpPr>
            <a:spLocks noGrp="1"/>
          </p:cNvSpPr>
          <p:nvPr>
            <p:ph type="title"/>
          </p:nvPr>
        </p:nvSpPr>
        <p:spPr/>
        <p:txBody>
          <a:bodyPr/>
          <a:lstStyle/>
          <a:p>
            <a:r>
              <a:rPr lang="en-US" dirty="0"/>
              <a:t>Poisson Definition</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424099-7F7C-6166-D408-7ACB8AF95150}"/>
                  </a:ext>
                </a:extLst>
              </p:cNvPr>
              <p:cNvSpPr>
                <a:spLocks noGrp="1"/>
              </p:cNvSpPr>
              <p:nvPr>
                <p:ph idx="1"/>
              </p:nvPr>
            </p:nvSpPr>
            <p:spPr/>
            <p:txBody>
              <a:bodyPr/>
              <a:lstStyle/>
              <a:p>
                <a:pPr marL="0" indent="0">
                  <a:buNone/>
                </a:pPr>
                <a14:m>
                  <m:oMath xmlns:m="http://schemas.openxmlformats.org/officeDocument/2006/math">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𝔻𝔽</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kern="100" dirty="0">
                    <a:effectLst/>
                    <a:ea typeface="Times New Roman" panose="02020603050405020304" pitchFamily="18" charset="0"/>
                  </a:rPr>
                  <a:t> The number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𝑋</m:t>
                    </m:r>
                  </m:oMath>
                </a14:m>
                <a:r>
                  <a:rPr lang="en-US" kern="100" dirty="0">
                    <a:effectLst/>
                    <a:ea typeface="Times New Roman" panose="02020603050405020304" pitchFamily="18" charset="0"/>
                  </a:rPr>
                  <a:t> of outcomes occurring during a Poisson experiment is called a Poisson random variable and its probability distribution is called the Poisson distribution.</a:t>
                </a:r>
                <a:endParaRPr lang="en-GB" kern="100" dirty="0">
                  <a:effectLst/>
                  <a:ea typeface="Calibri" panose="020F0502020204030204" pitchFamily="34" charset="0"/>
                </a:endParaRPr>
              </a:p>
              <a:p>
                <a:pPr marL="0" indent="0">
                  <a:buNone/>
                </a:pPr>
                <a:endParaRPr lang="en-US" sz="1800" kern="100" dirty="0">
                  <a:effectLst/>
                  <a:ea typeface="Calibri" panose="020F0502020204030204" pitchFamily="34" charset="0"/>
                </a:endParaRPr>
              </a:p>
              <a:p>
                <a:pPr marL="0" indent="0">
                  <a:buNone/>
                </a:pPr>
                <a:r>
                  <a:rPr lang="en-US" kern="100" dirty="0">
                    <a:effectLst/>
                    <a:ea typeface="Calibri" panose="020F0502020204030204" pitchFamily="34" charset="0"/>
                  </a:rPr>
                  <a:t>Note that the number of outcomes in each time interval depends on rate of events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oMath>
                </a14:m>
                <a:r>
                  <a:rPr lang="en-US" kern="100" dirty="0">
                    <a:effectLst/>
                    <a:ea typeface="Calibri" panose="020F0502020204030204" pitchFamily="34" charset="0"/>
                  </a:rPr>
                  <a:t>, so the probability will depend on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oMath>
                </a14:m>
                <a:r>
                  <a:rPr lang="en-US" kern="100" dirty="0">
                    <a:effectLst/>
                    <a:ea typeface="Calibri" panose="020F0502020204030204" pitchFamily="34" charset="0"/>
                  </a:rPr>
                  <a:t>; we will denote it as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kern="100" dirty="0">
                    <a:effectLst/>
                    <a:ea typeface="Times New Roman" panose="02020603050405020304" pitchFamily="18" charset="0"/>
                  </a:rPr>
                  <a:t>.</a:t>
                </a:r>
                <a:endParaRPr lang="en-GB" kern="100" dirty="0">
                  <a:effectLst/>
                  <a:ea typeface="Calibri" panose="020F0502020204030204" pitchFamily="34" charset="0"/>
                </a:endParaRPr>
              </a:p>
              <a:p>
                <a:pPr marL="0" indent="0">
                  <a:buNone/>
                </a:pPr>
                <a:endParaRPr lang="en-GB" dirty="0"/>
              </a:p>
            </p:txBody>
          </p:sp>
        </mc:Choice>
        <mc:Fallback xmlns="">
          <p:sp>
            <p:nvSpPr>
              <p:cNvPr id="3" name="Content Placeholder 2">
                <a:extLst>
                  <a:ext uri="{FF2B5EF4-FFF2-40B4-BE49-F238E27FC236}">
                    <a16:creationId xmlns:a16="http://schemas.microsoft.com/office/drawing/2014/main" id="{A9424099-7F7C-6166-D408-7ACB8AF95150}"/>
                  </a:ext>
                </a:extLst>
              </p:cNvPr>
              <p:cNvSpPr>
                <a:spLocks noGrp="1" noRot="1" noChangeAspect="1" noMove="1" noResize="1" noEditPoints="1" noAdjustHandles="1" noChangeArrowheads="1" noChangeShapeType="1" noTextEdit="1"/>
              </p:cNvSpPr>
              <p:nvPr>
                <p:ph idx="1"/>
              </p:nvPr>
            </p:nvSpPr>
            <p:spPr>
              <a:blipFill>
                <a:blip r:embed="rId2"/>
                <a:stretch>
                  <a:fillRect l="-522" t="-1261" r="-696"/>
                </a:stretch>
              </a:blipFill>
            </p:spPr>
            <p:txBody>
              <a:bodyPr/>
              <a:lstStyle/>
              <a:p>
                <a:r>
                  <a:rPr lang="en-GB">
                    <a:noFill/>
                  </a:rPr>
                  <a:t> </a:t>
                </a:r>
              </a:p>
            </p:txBody>
          </p:sp>
        </mc:Fallback>
      </mc:AlternateContent>
    </p:spTree>
    <p:extLst>
      <p:ext uri="{BB962C8B-B14F-4D97-AF65-F5344CB8AC3E}">
        <p14:creationId xmlns:p14="http://schemas.microsoft.com/office/powerpoint/2010/main" val="32727843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B41D1-C841-A296-47AA-BF4CEFF509AD}"/>
              </a:ext>
            </a:extLst>
          </p:cNvPr>
          <p:cNvSpPr>
            <a:spLocks noGrp="1"/>
          </p:cNvSpPr>
          <p:nvPr>
            <p:ph type="title"/>
          </p:nvPr>
        </p:nvSpPr>
        <p:spPr/>
        <p:txBody>
          <a:bodyPr/>
          <a:lstStyle/>
          <a:p>
            <a:r>
              <a:rPr lang="en-US" dirty="0"/>
              <a:t>Definition</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EE1F57-76BD-89A9-5167-28702EA36E05}"/>
                  </a:ext>
                </a:extLst>
              </p:cNvPr>
              <p:cNvSpPr>
                <a:spLocks noGrp="1"/>
              </p:cNvSpPr>
              <p:nvPr>
                <p:ph idx="1"/>
              </p:nvPr>
            </p:nvSpPr>
            <p:spPr/>
            <p:txBody>
              <a:bodyPr>
                <a:normAutofit/>
              </a:bodyPr>
              <a:lstStyle/>
              <a:p>
                <a:pPr marL="0" indent="0">
                  <a:lnSpc>
                    <a:spcPct val="200000"/>
                  </a:lnSpc>
                  <a:spcAft>
                    <a:spcPts val="800"/>
                  </a:spcAft>
                  <a:buNone/>
                </a:pPr>
                <a14:m>
                  <m:oMath xmlns:m="http://schemas.openxmlformats.org/officeDocument/2006/math">
                    <m:r>
                      <a:rPr lang="en-US" i="1" kern="100" smtClean="0">
                        <a:effectLst/>
                        <a:latin typeface="Cambria Math" panose="02040503050406030204" pitchFamily="18" charset="0"/>
                        <a:ea typeface="Calibri" panose="020F0502020204030204" pitchFamily="34" charset="0"/>
                        <a:cs typeface="Times New Roman" panose="02020603050405020304" pitchFamily="18" charset="0"/>
                      </a:rPr>
                      <m:t>𝔻𝔽</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kern="100" dirty="0">
                    <a:effectLst/>
                    <a:ea typeface="Times New Roman" panose="02020603050405020304" pitchFamily="18" charset="0"/>
                  </a:rPr>
                  <a:t> The Poisson distribution is defined as:</a:t>
                </a:r>
                <a:endParaRPr lang="en-GB"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sup>
                          </m:sSup>
                        </m:num>
                        <m:den>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GB" kern="100" dirty="0">
                  <a:effectLst/>
                  <a:ea typeface="Calibri" panose="020F0502020204030204" pitchFamily="34" charset="0"/>
                </a:endParaRPr>
              </a:p>
              <a:p>
                <a:pPr marL="0" indent="0">
                  <a:lnSpc>
                    <a:spcPct val="200000"/>
                  </a:lnSpc>
                  <a:spcAft>
                    <a:spcPts val="800"/>
                  </a:spcAft>
                  <a:buNone/>
                </a:pPr>
                <a:r>
                  <a:rPr lang="en-US" kern="100" dirty="0">
                    <a:effectLst/>
                    <a:ea typeface="Times New Roman" panose="02020603050405020304" pitchFamily="18" charset="0"/>
                  </a:rPr>
                  <a:t>where </a:t>
                </a:r>
                <a14:m>
                  <m:oMath xmlns:m="http://schemas.openxmlformats.org/officeDocument/2006/math">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i="1" kern="100">
                        <a:effectLst/>
                        <a:latin typeface="Cambria Math" panose="02040503050406030204" pitchFamily="18" charset="0"/>
                        <a:ea typeface="Times New Roman" panose="02020603050405020304" pitchFamily="18" charset="0"/>
                        <a:cs typeface="Times New Roman" panose="02020603050405020304" pitchFamily="18" charset="0"/>
                      </a:rPr>
                      <m:t>=0,1,2,…</m:t>
                    </m:r>
                  </m:oMath>
                </a14:m>
                <a:r>
                  <a:rPr lang="en-US" kern="100" dirty="0">
                    <a:effectLst/>
                    <a:ea typeface="Times New Roman" panose="02020603050405020304" pitchFamily="18" charset="0"/>
                  </a:rPr>
                  <a:t> where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oMath>
                </a14:m>
                <a:r>
                  <a:rPr lang="en-US" kern="100" dirty="0">
                    <a:effectLst/>
                    <a:ea typeface="Times New Roman" panose="02020603050405020304" pitchFamily="18" charset="0"/>
                  </a:rPr>
                  <a:t> is the average number of outcomes per unit time, </a:t>
                </a:r>
                <a14:m>
                  <m:oMath xmlns:m="http://schemas.openxmlformats.org/officeDocument/2006/math">
                    <m:r>
                      <a:rPr lang="en-US" i="1" kern="100" dirty="0" smtClean="0">
                        <a:effectLst/>
                        <a:latin typeface="Cambria Math" panose="02040503050406030204" pitchFamily="18" charset="0"/>
                        <a:ea typeface="Times New Roman" panose="02020603050405020304" pitchFamily="18" charset="0"/>
                      </a:rPr>
                      <m:t>𝑒</m:t>
                    </m:r>
                  </m:oMath>
                </a14:m>
                <a:r>
                  <a:rPr lang="en-US" kern="100" dirty="0">
                    <a:effectLst/>
                    <a:ea typeface="Times New Roman" panose="02020603050405020304" pitchFamily="18" charset="0"/>
                  </a:rPr>
                  <a:t> is </a:t>
                </a:r>
                <a:r>
                  <a:rPr lang="en-US" kern="100">
                    <a:effectLst/>
                    <a:ea typeface="Times New Roman" panose="02020603050405020304" pitchFamily="18" charset="0"/>
                  </a:rPr>
                  <a:t>a constant 2.71828</a:t>
                </a:r>
                <a:r>
                  <a:rPr lang="en-US" kern="100" dirty="0">
                    <a:effectLst/>
                    <a:ea typeface="Times New Roman" panose="02020603050405020304" pitchFamily="18" charset="0"/>
                  </a:rPr>
                  <a:t>…, </a:t>
                </a:r>
                <a:endParaRPr lang="en-GB" kern="100" dirty="0">
                  <a:effectLst/>
                  <a:ea typeface="Calibri" panose="020F0502020204030204" pitchFamily="34" charset="0"/>
                </a:endParaRPr>
              </a:p>
              <a:p>
                <a:pPr marL="0" indent="0">
                  <a:buNone/>
                </a:pPr>
                <a:endParaRPr lang="en-GB" dirty="0"/>
              </a:p>
            </p:txBody>
          </p:sp>
        </mc:Choice>
        <mc:Fallback>
          <p:sp>
            <p:nvSpPr>
              <p:cNvPr id="3" name="Content Placeholder 2">
                <a:extLst>
                  <a:ext uri="{FF2B5EF4-FFF2-40B4-BE49-F238E27FC236}">
                    <a16:creationId xmlns:a16="http://schemas.microsoft.com/office/drawing/2014/main" id="{EAEE1F57-76BD-89A9-5167-28702EA36E05}"/>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en-GB">
                    <a:noFill/>
                  </a:rPr>
                  <a:t> </a:t>
                </a:r>
              </a:p>
            </p:txBody>
          </p:sp>
        </mc:Fallback>
      </mc:AlternateContent>
    </p:spTree>
    <p:extLst>
      <p:ext uri="{BB962C8B-B14F-4D97-AF65-F5344CB8AC3E}">
        <p14:creationId xmlns:p14="http://schemas.microsoft.com/office/powerpoint/2010/main" val="4107245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DB5D-C787-71FC-C98A-688A728D7C39}"/>
              </a:ext>
            </a:extLst>
          </p:cNvPr>
          <p:cNvSpPr>
            <a:spLocks noGrp="1"/>
          </p:cNvSpPr>
          <p:nvPr>
            <p:ph type="title"/>
          </p:nvPr>
        </p:nvSpPr>
        <p:spPr/>
        <p:txBody>
          <a:bodyPr/>
          <a:lstStyle/>
          <a:p>
            <a:r>
              <a:rPr lang="en-US" dirty="0"/>
              <a:t>Statistical properties</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949160-60E1-6FF9-781E-4FC4A8BC1AAF}"/>
                  </a:ext>
                </a:extLst>
              </p:cNvPr>
              <p:cNvSpPr>
                <a:spLocks noGrp="1"/>
              </p:cNvSpPr>
              <p:nvPr>
                <p:ph idx="1"/>
              </p:nvPr>
            </p:nvSpPr>
            <p:spPr/>
            <p:txBody>
              <a:bodyPr/>
              <a:lstStyle/>
              <a:p>
                <a:r>
                  <a:rPr lang="en-GB" dirty="0">
                    <a:solidFill>
                      <a:srgbClr val="000000"/>
                    </a:solidFill>
                    <a:effectLst/>
                    <a:ea typeface="Calibri" panose="020F0502020204030204" pitchFamily="34" charset="0"/>
                  </a:rPr>
                  <a:t>Both the mean and the variance of the Poisson distribution </a:t>
                </a:r>
                <a14:m>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𝑋</m:t>
                    </m:r>
                    <m:r>
                      <a:rPr lang="en-GB" i="1">
                        <a:solidFill>
                          <a:srgbClr val="000000"/>
                        </a:solidFill>
                        <a:effectLst/>
                        <a:latin typeface="Cambria Math" panose="02040503050406030204" pitchFamily="18" charset="0"/>
                        <a:ea typeface="Calibri" panose="020F0502020204030204" pitchFamily="34" charset="0"/>
                      </a:rPr>
                      <m:t>~</m:t>
                    </m:r>
                    <m:r>
                      <a:rPr lang="en-GB" i="1">
                        <a:solidFill>
                          <a:srgbClr val="000000"/>
                        </a:solidFill>
                        <a:effectLst/>
                        <a:latin typeface="Cambria Math" panose="02040503050406030204" pitchFamily="18" charset="0"/>
                        <a:ea typeface="Calibri" panose="020F0502020204030204" pitchFamily="34" charset="0"/>
                      </a:rPr>
                      <m:t>𝑝</m:t>
                    </m:r>
                    <m:d>
                      <m:dPr>
                        <m:ctrlPr>
                          <a:rPr lang="en-GB" i="1">
                            <a:solidFill>
                              <a:srgbClr val="000000"/>
                            </a:solidFill>
                            <a:effectLst/>
                            <a:latin typeface="Cambria Math" panose="02040503050406030204" pitchFamily="18" charset="0"/>
                            <a:ea typeface="Calibri" panose="020F0502020204030204" pitchFamily="34" charset="0"/>
                          </a:rPr>
                        </m:ctrlPr>
                      </m:dPr>
                      <m:e>
                        <m:r>
                          <a:rPr lang="en-GB" i="1">
                            <a:solidFill>
                              <a:srgbClr val="000000"/>
                            </a:solidFill>
                            <a:effectLst/>
                            <a:latin typeface="Cambria Math" panose="02040503050406030204" pitchFamily="18" charset="0"/>
                            <a:ea typeface="Calibri" panose="020F0502020204030204" pitchFamily="34" charset="0"/>
                          </a:rPr>
                          <m:t>𝑥</m:t>
                        </m:r>
                        <m:r>
                          <a:rPr lang="en-GB" i="1">
                            <a:solidFill>
                              <a:srgbClr val="000000"/>
                            </a:solidFill>
                            <a:effectLst/>
                            <a:latin typeface="Cambria Math" panose="02040503050406030204" pitchFamily="18" charset="0"/>
                            <a:ea typeface="Calibri" panose="020F0502020204030204" pitchFamily="34" charset="0"/>
                          </a:rPr>
                          <m:t>;</m:t>
                        </m:r>
                        <m:r>
                          <a:rPr lang="en-US" i="1">
                            <a:solidFill>
                              <a:srgbClr val="000000"/>
                            </a:solidFill>
                            <a:effectLst/>
                            <a:latin typeface="Cambria Math" panose="02040503050406030204" pitchFamily="18" charset="0"/>
                            <a:ea typeface="Calibri" panose="020F0502020204030204" pitchFamily="34" charset="0"/>
                          </a:rPr>
                          <m:t>𝜆</m:t>
                        </m:r>
                        <m:r>
                          <a:rPr lang="en-US" i="1">
                            <a:solidFill>
                              <a:srgbClr val="000000"/>
                            </a:solidFill>
                            <a:effectLst/>
                            <a:latin typeface="Cambria Math" panose="02040503050406030204" pitchFamily="18" charset="0"/>
                            <a:ea typeface="Calibri" panose="020F0502020204030204" pitchFamily="34" charset="0"/>
                          </a:rPr>
                          <m:t>𝑡</m:t>
                        </m:r>
                      </m:e>
                    </m:d>
                  </m:oMath>
                </a14:m>
                <a:r>
                  <a:rPr lang="en-GB" dirty="0">
                    <a:solidFill>
                      <a:srgbClr val="000000"/>
                    </a:solidFill>
                    <a:effectLst/>
                    <a:ea typeface="Times New Roman" panose="02020603050405020304" pitchFamily="18" charset="0"/>
                  </a:rPr>
                  <a:t> are:</a:t>
                </a:r>
                <a:endParaRPr lang="en-GB" dirty="0">
                  <a:solidFill>
                    <a:srgbClr val="000000"/>
                  </a:solidFill>
                  <a:effectLst/>
                  <a:ea typeface="Calibri" panose="020F0502020204030204" pitchFamily="34" charset="0"/>
                </a:endParaRPr>
              </a:p>
              <a:p>
                <a:pPr marL="0" indent="0">
                  <a:buNone/>
                </a:pPr>
                <a:endParaRPr lang="en-GB" dirty="0">
                  <a:solidFill>
                    <a:srgbClr val="000000"/>
                  </a:solidFill>
                  <a:effectLst/>
                  <a:ea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r>
                        <a:rPr lang="en-GB" i="1">
                          <a:solidFill>
                            <a:srgbClr val="000000"/>
                          </a:solidFill>
                          <a:effectLst/>
                          <a:latin typeface="Cambria Math" panose="02040503050406030204" pitchFamily="18" charset="0"/>
                          <a:ea typeface="Calibri" panose="020F0502020204030204" pitchFamily="34" charset="0"/>
                        </a:rPr>
                        <m:t>𝜇</m:t>
                      </m:r>
                      <m:r>
                        <a:rPr lang="en-GB" i="1">
                          <a:solidFill>
                            <a:srgbClr val="000000"/>
                          </a:solidFill>
                          <a:effectLst/>
                          <a:latin typeface="Cambria Math" panose="02040503050406030204" pitchFamily="18" charset="0"/>
                          <a:ea typeface="Calibri" panose="020F0502020204030204" pitchFamily="34" charset="0"/>
                        </a:rPr>
                        <m:t>=</m:t>
                      </m:r>
                      <m:sSup>
                        <m:sSupPr>
                          <m:ctrlPr>
                            <a:rPr lang="en-GB" i="1">
                              <a:solidFill>
                                <a:srgbClr val="000000"/>
                              </a:solidFill>
                              <a:effectLst/>
                              <a:latin typeface="Cambria Math" panose="02040503050406030204" pitchFamily="18" charset="0"/>
                              <a:ea typeface="Calibri" panose="020F0502020204030204" pitchFamily="34" charset="0"/>
                            </a:rPr>
                          </m:ctrlPr>
                        </m:sSupPr>
                        <m:e>
                          <m:r>
                            <a:rPr lang="en-GB" i="1">
                              <a:solidFill>
                                <a:srgbClr val="000000"/>
                              </a:solidFill>
                              <a:effectLst/>
                              <a:latin typeface="Cambria Math" panose="02040503050406030204" pitchFamily="18" charset="0"/>
                              <a:ea typeface="Calibri" panose="020F0502020204030204" pitchFamily="34" charset="0"/>
                            </a:rPr>
                            <m:t>𝜎</m:t>
                          </m:r>
                        </m:e>
                        <m:sup>
                          <m:r>
                            <a:rPr lang="en-GB" i="1">
                              <a:solidFill>
                                <a:srgbClr val="000000"/>
                              </a:solidFill>
                              <a:effectLst/>
                              <a:latin typeface="Cambria Math" panose="02040503050406030204" pitchFamily="18" charset="0"/>
                              <a:ea typeface="Calibri" panose="020F0502020204030204" pitchFamily="34" charset="0"/>
                            </a:rPr>
                            <m:t>2</m:t>
                          </m:r>
                        </m:sup>
                      </m:sSup>
                      <m:r>
                        <a:rPr lang="en-GB" i="1">
                          <a:solidFill>
                            <a:srgbClr val="000000"/>
                          </a:solidFill>
                          <a:effectLst/>
                          <a:latin typeface="Cambria Math" panose="02040503050406030204" pitchFamily="18" charset="0"/>
                          <a:ea typeface="Calibri" panose="020F0502020204030204" pitchFamily="34" charset="0"/>
                        </a:rPr>
                        <m:t>=</m:t>
                      </m:r>
                      <m:r>
                        <a:rPr lang="en-US" i="1">
                          <a:solidFill>
                            <a:srgbClr val="000000"/>
                          </a:solidFill>
                          <a:effectLst/>
                          <a:latin typeface="Cambria Math" panose="02040503050406030204" pitchFamily="18" charset="0"/>
                          <a:ea typeface="Calibri" panose="020F0502020204030204" pitchFamily="34" charset="0"/>
                        </a:rPr>
                        <m:t>𝜆</m:t>
                      </m:r>
                      <m:r>
                        <a:rPr lang="en-US" i="1">
                          <a:solidFill>
                            <a:srgbClr val="000000"/>
                          </a:solidFill>
                          <a:effectLst/>
                          <a:latin typeface="Cambria Math" panose="02040503050406030204" pitchFamily="18" charset="0"/>
                          <a:ea typeface="Calibri" panose="020F0502020204030204" pitchFamily="34" charset="0"/>
                        </a:rPr>
                        <m:t>𝑡</m:t>
                      </m:r>
                    </m:oMath>
                  </m:oMathPara>
                </a14:m>
                <a:endParaRPr lang="en-GB" dirty="0">
                  <a:solidFill>
                    <a:srgbClr val="000000"/>
                  </a:solidFill>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E0949160-60E1-6FF9-781E-4FC4A8BC1AAF}"/>
                  </a:ext>
                </a:extLst>
              </p:cNvPr>
              <p:cNvSpPr>
                <a:spLocks noGrp="1" noRot="1" noChangeAspect="1" noMove="1" noResize="1" noEditPoints="1" noAdjustHandles="1" noChangeArrowheads="1" noChangeShapeType="1" noTextEdit="1"/>
              </p:cNvSpPr>
              <p:nvPr>
                <p:ph idx="1"/>
              </p:nvPr>
            </p:nvSpPr>
            <p:spPr>
              <a:blipFill>
                <a:blip r:embed="rId2"/>
                <a:stretch>
                  <a:fillRect l="-406" t="-1261"/>
                </a:stretch>
              </a:blipFill>
            </p:spPr>
            <p:txBody>
              <a:bodyPr/>
              <a:lstStyle/>
              <a:p>
                <a:r>
                  <a:rPr lang="en-GB">
                    <a:noFill/>
                  </a:rPr>
                  <a:t> </a:t>
                </a:r>
              </a:p>
            </p:txBody>
          </p:sp>
        </mc:Fallback>
      </mc:AlternateContent>
    </p:spTree>
    <p:extLst>
      <p:ext uri="{BB962C8B-B14F-4D97-AF65-F5344CB8AC3E}">
        <p14:creationId xmlns:p14="http://schemas.microsoft.com/office/powerpoint/2010/main" val="2228851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8FB099-CFBA-A43E-DAC0-DBE5215108A6}"/>
                  </a:ext>
                </a:extLst>
              </p:cNvPr>
              <p:cNvSpPr>
                <a:spLocks noGrp="1"/>
              </p:cNvSpPr>
              <p:nvPr>
                <p:ph idx="1"/>
              </p:nvPr>
            </p:nvSpPr>
            <p:spPr>
              <a:xfrm>
                <a:off x="838200" y="1773936"/>
                <a:ext cx="10515600" cy="4403027"/>
              </a:xfrm>
            </p:spPr>
            <p:txBody>
              <a:bodyPr>
                <a:normAutofit/>
              </a:bodyPr>
              <a:lstStyle/>
              <a:p>
                <a:pPr marL="0" indent="0">
                  <a:buNone/>
                </a:pPr>
                <a:r>
                  <a:rPr lang="en-US" kern="100" dirty="0">
                    <a:effectLst/>
                    <a:ea typeface="Calibri" panose="020F0502020204030204" pitchFamily="34" charset="0"/>
                  </a:rPr>
                  <a:t>The average number of customers buying coffee every 10 minutes is 4. What is the probability that 6 customers buy coffee in a given 10 minutes?</a:t>
                </a:r>
                <a:endParaRPr lang="en-US" kern="100" dirty="0">
                  <a:ea typeface="Calibri" panose="020F0502020204030204" pitchFamily="34" charset="0"/>
                </a:endParaRPr>
              </a:p>
              <a:p>
                <a:pPr marL="0" indent="0">
                  <a:lnSpc>
                    <a:spcPct val="200000"/>
                  </a:lnSpc>
                  <a:spcAft>
                    <a:spcPts val="800"/>
                  </a:spcAft>
                  <a:buNone/>
                </a:pPr>
                <a:r>
                  <a:rPr lang="en-US" kern="100" dirty="0">
                    <a:effectLst/>
                    <a:ea typeface="Calibri" panose="020F0502020204030204" pitchFamily="34" charset="0"/>
                  </a:rPr>
                  <a:t>Let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𝑥</m:t>
                    </m:r>
                    <m:r>
                      <a:rPr lang="en-US" i="1" kern="100">
                        <a:effectLst/>
                        <a:latin typeface="Cambria Math" panose="02040503050406030204" pitchFamily="18" charset="0"/>
                        <a:ea typeface="Calibri" panose="020F0502020204030204" pitchFamily="34" charset="0"/>
                        <a:cs typeface="Times New Roman" panose="02020603050405020304" pitchFamily="18" charset="0"/>
                      </a:rPr>
                      <m:t>=6</m:t>
                    </m:r>
                  </m:oMath>
                </a14:m>
                <a:r>
                  <a:rPr lang="en-US" kern="100" dirty="0">
                    <a:effectLst/>
                    <a:ea typeface="Calibri" panose="020F0502020204030204" pitchFamily="34" charset="0"/>
                  </a:rPr>
                  <a:t> and </a:t>
                </a:r>
                <a14:m>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𝜆</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m:t>
                    </m:r>
                    <m:r>
                      <a:rPr lang="en-US" i="1" kern="100">
                        <a:effectLst/>
                        <a:latin typeface="Cambria Math" panose="02040503050406030204" pitchFamily="18" charset="0"/>
                        <a:ea typeface="Calibri" panose="020F0502020204030204" pitchFamily="34" charset="0"/>
                        <a:cs typeface="Times New Roman" panose="02020603050405020304" pitchFamily="18" charset="0"/>
                      </a:rPr>
                      <m:t>=4</m:t>
                    </m:r>
                  </m:oMath>
                </a14:m>
                <a:r>
                  <a:rPr lang="en-US" kern="100" dirty="0">
                    <a:effectLst/>
                    <a:ea typeface="Times New Roman" panose="02020603050405020304" pitchFamily="18" charset="0"/>
                  </a:rPr>
                  <a:t>, thus:</a:t>
                </a:r>
                <a:endParaRPr lang="en-GB" kern="100" dirty="0">
                  <a:effectLst/>
                  <a:ea typeface="Calibri" panose="020F0502020204030204" pitchFamily="34" charset="0"/>
                </a:endParaRPr>
              </a:p>
              <a:p>
                <a:pPr marL="0" indent="0">
                  <a:lnSpc>
                    <a:spcPct val="200000"/>
                  </a:lnSpc>
                  <a:spcAft>
                    <a:spcPts val="800"/>
                  </a:spcAft>
                  <a:buNone/>
                </a:pPr>
                <a14:m>
                  <m:oMathPara xmlns:m="http://schemas.openxmlformats.org/officeDocument/2006/math">
                    <m:oMathParaPr>
                      <m:jc m:val="centerGroup"/>
                    </m:oMathParaPr>
                    <m:oMath xmlns:m="http://schemas.openxmlformats.org/officeDocument/2006/math">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d>
                        <m:d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US" i="1" kern="100">
                              <a:effectLst/>
                              <a:latin typeface="Cambria Math" panose="02040503050406030204" pitchFamily="18" charset="0"/>
                              <a:ea typeface="Calibri" panose="020F0502020204030204" pitchFamily="34" charset="0"/>
                              <a:cs typeface="Times New Roman" panose="02020603050405020304" pitchFamily="18" charset="0"/>
                            </a:rPr>
                            <m:t>6;4</m:t>
                          </m:r>
                        </m:e>
                      </m:d>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−4</m:t>
                              </m:r>
                            </m:sup>
                          </m:sSup>
                          <m:sSup>
                            <m:sSupPr>
                              <m:ctrlPr>
                                <a:rPr lang="en-GB" i="1" kern="100">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kern="100">
                                  <a:effectLst/>
                                  <a:latin typeface="Cambria Math" panose="02040503050406030204" pitchFamily="18" charset="0"/>
                                  <a:ea typeface="Calibri" panose="020F0502020204030204" pitchFamily="34" charset="0"/>
                                  <a:cs typeface="Times New Roman" panose="02020603050405020304" pitchFamily="18" charset="0"/>
                                </a:rPr>
                                <m:t>(4)</m:t>
                              </m:r>
                            </m:e>
                            <m:sup>
                              <m:r>
                                <a:rPr lang="en-US" i="1" kern="100">
                                  <a:effectLst/>
                                  <a:latin typeface="Cambria Math" panose="02040503050406030204" pitchFamily="18" charset="0"/>
                                  <a:ea typeface="Calibri" panose="020F0502020204030204" pitchFamily="34" charset="0"/>
                                  <a:cs typeface="Times New Roman" panose="02020603050405020304" pitchFamily="18" charset="0"/>
                                </a:rPr>
                                <m:t>6</m:t>
                              </m:r>
                            </m:sup>
                          </m:sSup>
                        </m:num>
                        <m:den>
                          <m:r>
                            <a:rPr lang="en-US" i="1" kern="100">
                              <a:effectLst/>
                              <a:latin typeface="Cambria Math" panose="02040503050406030204" pitchFamily="18" charset="0"/>
                              <a:ea typeface="Calibri" panose="020F0502020204030204" pitchFamily="34" charset="0"/>
                              <a:cs typeface="Times New Roman" panose="02020603050405020304" pitchFamily="18" charset="0"/>
                            </a:rPr>
                            <m:t>6!</m:t>
                          </m:r>
                        </m:den>
                      </m:f>
                      <m:r>
                        <a:rPr lang="en-US" i="1" kern="100">
                          <a:effectLst/>
                          <a:latin typeface="Cambria Math" panose="02040503050406030204" pitchFamily="18" charset="0"/>
                          <a:ea typeface="Calibri" panose="020F0502020204030204" pitchFamily="34" charset="0"/>
                          <a:cs typeface="Times New Roman" panose="02020603050405020304" pitchFamily="18" charset="0"/>
                        </a:rPr>
                        <m:t>=0.1042 (</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𝑡𝑜</m:t>
                      </m:r>
                      <m:r>
                        <a:rPr lang="en-US" i="1" kern="100">
                          <a:effectLst/>
                          <a:latin typeface="Cambria Math" panose="02040503050406030204" pitchFamily="18" charset="0"/>
                          <a:ea typeface="Calibri" panose="020F0502020204030204" pitchFamily="34" charset="0"/>
                          <a:cs typeface="Times New Roman" panose="02020603050405020304" pitchFamily="18" charset="0"/>
                        </a:rPr>
                        <m:t> 4 </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𝑑</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r>
                        <a:rPr lang="en-US" i="1" kern="100">
                          <a:effectLst/>
                          <a:latin typeface="Cambria Math" panose="02040503050406030204" pitchFamily="18" charset="0"/>
                          <a:ea typeface="Calibri" panose="020F0502020204030204" pitchFamily="34" charset="0"/>
                          <a:cs typeface="Times New Roman" panose="02020603050405020304" pitchFamily="18" charset="0"/>
                        </a:rPr>
                        <m:t>𝑝</m:t>
                      </m:r>
                      <m:r>
                        <a:rPr lang="en-US" i="1" kern="10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GB" kern="100" dirty="0">
                  <a:effectLst/>
                  <a:ea typeface="Calibri" panose="020F0502020204030204" pitchFamily="34" charset="0"/>
                </a:endParaRPr>
              </a:p>
              <a:p>
                <a:endParaRPr lang="en-GB" kern="100" dirty="0">
                  <a:effectLst/>
                  <a:ea typeface="Calibri" panose="020F0502020204030204" pitchFamily="34" charset="0"/>
                </a:endParaRPr>
              </a:p>
              <a:p>
                <a:endParaRPr lang="en-GB" dirty="0"/>
              </a:p>
            </p:txBody>
          </p:sp>
        </mc:Choice>
        <mc:Fallback xmlns="">
          <p:sp>
            <p:nvSpPr>
              <p:cNvPr id="3" name="Content Placeholder 2">
                <a:extLst>
                  <a:ext uri="{FF2B5EF4-FFF2-40B4-BE49-F238E27FC236}">
                    <a16:creationId xmlns:a16="http://schemas.microsoft.com/office/drawing/2014/main" id="{788FB099-CFBA-A43E-DAC0-DBE5215108A6}"/>
                  </a:ext>
                </a:extLst>
              </p:cNvPr>
              <p:cNvSpPr>
                <a:spLocks noGrp="1" noRot="1" noChangeAspect="1" noMove="1" noResize="1" noEditPoints="1" noAdjustHandles="1" noChangeArrowheads="1" noChangeShapeType="1" noTextEdit="1"/>
              </p:cNvSpPr>
              <p:nvPr>
                <p:ph idx="1"/>
              </p:nvPr>
            </p:nvSpPr>
            <p:spPr>
              <a:xfrm>
                <a:off x="838200" y="1773936"/>
                <a:ext cx="10515600" cy="4403027"/>
              </a:xfrm>
              <a:blipFill>
                <a:blip r:embed="rId2"/>
                <a:stretch>
                  <a:fillRect l="-522" t="-1247"/>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D197E879-951A-A5B6-D1B6-03F7601D552A}"/>
              </a:ext>
            </a:extLst>
          </p:cNvPr>
          <p:cNvSpPr>
            <a:spLocks noGrp="1"/>
          </p:cNvSpPr>
          <p:nvPr>
            <p:ph type="title"/>
          </p:nvPr>
        </p:nvSpPr>
        <p:spPr>
          <a:xfrm>
            <a:off x="838200" y="365125"/>
            <a:ext cx="10515600" cy="1325563"/>
          </a:xfrm>
        </p:spPr>
        <p:txBody>
          <a:bodyPr/>
          <a:lstStyle/>
          <a:p>
            <a:r>
              <a:rPr lang="en-US" dirty="0"/>
              <a:t>Example 7.5</a:t>
            </a:r>
            <a:endParaRPr lang="en-GB" dirty="0"/>
          </a:p>
        </p:txBody>
      </p:sp>
    </p:spTree>
    <p:extLst>
      <p:ext uri="{BB962C8B-B14F-4D97-AF65-F5344CB8AC3E}">
        <p14:creationId xmlns:p14="http://schemas.microsoft.com/office/powerpoint/2010/main" val="1922917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A834D-15F6-465C-AB32-3DF751F7DCF3}"/>
              </a:ext>
            </a:extLst>
          </p:cNvPr>
          <p:cNvSpPr>
            <a:spLocks noGrp="1"/>
          </p:cNvSpPr>
          <p:nvPr>
            <p:ph type="title"/>
          </p:nvPr>
        </p:nvSpPr>
        <p:spPr/>
        <p:txBody>
          <a:bodyPr/>
          <a:lstStyle/>
          <a:p>
            <a:r>
              <a:rPr lang="en-US" dirty="0"/>
              <a:t>Example 7.5 (continued)</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48F6F4-A530-E3BC-987B-69B8FE62D330}"/>
                  </a:ext>
                </a:extLst>
              </p:cNvPr>
              <p:cNvSpPr>
                <a:spLocks noGrp="1"/>
              </p:cNvSpPr>
              <p:nvPr>
                <p:ph idx="1"/>
              </p:nvPr>
            </p:nvSpPr>
            <p:spPr>
              <a:xfrm>
                <a:off x="838200" y="2136521"/>
                <a:ext cx="10515600" cy="945007"/>
              </a:xfrm>
            </p:spPr>
            <p:txBody>
              <a:bodyPr>
                <a:normAutofit/>
              </a:bodyPr>
              <a:lstStyle/>
              <a:p>
                <a:pPr marL="0" indent="0">
                  <a:buNone/>
                </a:pPr>
                <a:r>
                  <a:rPr lang="en-US" dirty="0">
                    <a:effectLst/>
                    <a:ea typeface="Calibri" panose="020F0502020204030204" pitchFamily="34" charset="0"/>
                  </a:rPr>
                  <a:t>We can extend this example by considering other values of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n-US" dirty="0">
                    <a:effectLst/>
                    <a:ea typeface="Times New Roman" panose="02020603050405020304" pitchFamily="18" charset="0"/>
                  </a:rPr>
                  <a:t>. Substituting other values of </a:t>
                </a:r>
                <a14:m>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dirty="0">
                    <a:effectLst/>
                    <a:ea typeface="Times New Roman" panose="02020603050405020304" pitchFamily="18" charset="0"/>
                  </a:rPr>
                  <a:t>, we obtain</a:t>
                </a:r>
                <a:endParaRPr lang="en-GB" dirty="0"/>
              </a:p>
            </p:txBody>
          </p:sp>
        </mc:Choice>
        <mc:Fallback xmlns="">
          <p:sp>
            <p:nvSpPr>
              <p:cNvPr id="3" name="Content Placeholder 2">
                <a:extLst>
                  <a:ext uri="{FF2B5EF4-FFF2-40B4-BE49-F238E27FC236}">
                    <a16:creationId xmlns:a16="http://schemas.microsoft.com/office/drawing/2014/main" id="{1F48F6F4-A530-E3BC-987B-69B8FE62D330}"/>
                  </a:ext>
                </a:extLst>
              </p:cNvPr>
              <p:cNvSpPr>
                <a:spLocks noGrp="1" noRot="1" noChangeAspect="1" noMove="1" noResize="1" noEditPoints="1" noAdjustHandles="1" noChangeArrowheads="1" noChangeShapeType="1" noTextEdit="1"/>
              </p:cNvSpPr>
              <p:nvPr>
                <p:ph idx="1"/>
              </p:nvPr>
            </p:nvSpPr>
            <p:spPr>
              <a:xfrm>
                <a:off x="838200" y="2136521"/>
                <a:ext cx="10515600" cy="945007"/>
              </a:xfrm>
              <a:blipFill>
                <a:blip r:embed="rId2"/>
                <a:stretch>
                  <a:fillRect l="-522" t="-576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568EFD2-18F3-606E-E4A5-A4A22DBA23EF}"/>
                  </a:ext>
                </a:extLst>
              </p:cNvPr>
              <p:cNvGraphicFramePr>
                <a:graphicFrameLocks noGrp="1"/>
              </p:cNvGraphicFramePr>
              <p:nvPr>
                <p:extLst>
                  <p:ext uri="{D42A27DB-BD31-4B8C-83A1-F6EECF244321}">
                    <p14:modId xmlns:p14="http://schemas.microsoft.com/office/powerpoint/2010/main" val="1896226992"/>
                  </p:ext>
                </p:extLst>
              </p:nvPr>
            </p:nvGraphicFramePr>
            <p:xfrm>
              <a:off x="1444752" y="3081528"/>
              <a:ext cx="9071865" cy="2544064"/>
            </p:xfrm>
            <a:graphic>
              <a:graphicData uri="http://schemas.openxmlformats.org/drawingml/2006/table">
                <a:tbl>
                  <a:tblPr firstRow="1" firstCol="1" bandRow="1">
                    <a:tableStyleId>{5C22544A-7EE6-4342-B048-85BDC9FD1C3A}</a:tableStyleId>
                  </a:tblPr>
                  <a:tblGrid>
                    <a:gridCol w="1495675">
                      <a:extLst>
                        <a:ext uri="{9D8B030D-6E8A-4147-A177-3AD203B41FA5}">
                          <a16:colId xmlns:a16="http://schemas.microsoft.com/office/drawing/2014/main" val="2303609182"/>
                        </a:ext>
                      </a:extLst>
                    </a:gridCol>
                    <a:gridCol w="927485">
                      <a:extLst>
                        <a:ext uri="{9D8B030D-6E8A-4147-A177-3AD203B41FA5}">
                          <a16:colId xmlns:a16="http://schemas.microsoft.com/office/drawing/2014/main" val="3341833004"/>
                        </a:ext>
                      </a:extLst>
                    </a:gridCol>
                    <a:gridCol w="958654">
                      <a:extLst>
                        <a:ext uri="{9D8B030D-6E8A-4147-A177-3AD203B41FA5}">
                          <a16:colId xmlns:a16="http://schemas.microsoft.com/office/drawing/2014/main" val="81710463"/>
                        </a:ext>
                      </a:extLst>
                    </a:gridCol>
                    <a:gridCol w="1142539">
                      <a:extLst>
                        <a:ext uri="{9D8B030D-6E8A-4147-A177-3AD203B41FA5}">
                          <a16:colId xmlns:a16="http://schemas.microsoft.com/office/drawing/2014/main" val="744438661"/>
                        </a:ext>
                      </a:extLst>
                    </a:gridCol>
                    <a:gridCol w="1142539">
                      <a:extLst>
                        <a:ext uri="{9D8B030D-6E8A-4147-A177-3AD203B41FA5}">
                          <a16:colId xmlns:a16="http://schemas.microsoft.com/office/drawing/2014/main" val="2374937533"/>
                        </a:ext>
                      </a:extLst>
                    </a:gridCol>
                    <a:gridCol w="1142539">
                      <a:extLst>
                        <a:ext uri="{9D8B030D-6E8A-4147-A177-3AD203B41FA5}">
                          <a16:colId xmlns:a16="http://schemas.microsoft.com/office/drawing/2014/main" val="3315228242"/>
                        </a:ext>
                      </a:extLst>
                    </a:gridCol>
                    <a:gridCol w="1142539">
                      <a:extLst>
                        <a:ext uri="{9D8B030D-6E8A-4147-A177-3AD203B41FA5}">
                          <a16:colId xmlns:a16="http://schemas.microsoft.com/office/drawing/2014/main" val="3927726271"/>
                        </a:ext>
                      </a:extLst>
                    </a:gridCol>
                    <a:gridCol w="1119895">
                      <a:extLst>
                        <a:ext uri="{9D8B030D-6E8A-4147-A177-3AD203B41FA5}">
                          <a16:colId xmlns:a16="http://schemas.microsoft.com/office/drawing/2014/main" val="1663971115"/>
                        </a:ext>
                      </a:extLst>
                    </a:gridCol>
                  </a:tblGrid>
                  <a:tr h="1751143">
                    <a:tc>
                      <a:txBody>
                        <a:bodyPr/>
                        <a:lstStyle/>
                        <a:p>
                          <a:pP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Number of customers buying coffee in 10 minutes </a:t>
                          </a:r>
                          <a14:m>
                            <m:oMath xmlns:m="http://schemas.openxmlformats.org/officeDocument/2006/math">
                              <m:r>
                                <a:rPr lang="en-US" sz="1800" kern="100">
                                  <a:solidFill>
                                    <a:sysClr val="windowText" lastClr="000000"/>
                                  </a:solidFill>
                                  <a:effectLst/>
                                  <a:latin typeface="Cambria Math" panose="02040503050406030204" pitchFamily="18" charset="0"/>
                                </a:rPr>
                                <m:t>(</m:t>
                              </m:r>
                              <m:r>
                                <a:rPr lang="en-US" sz="1800" kern="100">
                                  <a:solidFill>
                                    <a:sysClr val="windowText" lastClr="000000"/>
                                  </a:solidFill>
                                  <a:effectLst/>
                                  <a:latin typeface="Cambria Math" panose="02040503050406030204" pitchFamily="18" charset="0"/>
                                </a:rPr>
                                <m:t>𝑥</m:t>
                              </m:r>
                              <m:r>
                                <a:rPr lang="en-US" sz="1800" kern="100">
                                  <a:solidFill>
                                    <a:sysClr val="windowText" lastClr="000000"/>
                                  </a:solidFill>
                                  <a:effectLst/>
                                  <a:latin typeface="Cambria Math" panose="02040503050406030204" pitchFamily="18" charset="0"/>
                                </a:rPr>
                                <m:t>)</m:t>
                              </m:r>
                            </m:oMath>
                          </a14:m>
                          <a:endParaRPr lang="en-GB" sz="1800" kern="100" dirty="0">
                            <a:solidFill>
                              <a:sysClr val="windowText" lastClr="000000"/>
                            </a:solidFill>
                            <a:effectLst/>
                            <a:latin typeface="Arial" panose="020B060402020202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0</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1</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2</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3</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4</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5</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6</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399771"/>
                      </a:ext>
                    </a:extLst>
                  </a:tr>
                  <a:tr h="792921">
                    <a:tc>
                      <a:txBody>
                        <a:bodyPr/>
                        <a:lstStyle/>
                        <a:p>
                          <a:pPr>
                            <a:lnSpc>
                              <a:spcPct val="100000"/>
                            </a:lnSpc>
                            <a:spcAft>
                              <a:spcPts val="800"/>
                            </a:spcAft>
                          </a:pPr>
                          <a14:m>
                            <m:oMathPara xmlns:m="http://schemas.openxmlformats.org/officeDocument/2006/math">
                              <m:oMathParaPr>
                                <m:jc m:val="left"/>
                              </m:oMathParaPr>
                              <m:oMath xmlns:m="http://schemas.openxmlformats.org/officeDocument/2006/math">
                                <m:r>
                                  <a:rPr lang="en-US" sz="1800" kern="100" smtClean="0">
                                    <a:solidFill>
                                      <a:sysClr val="windowText" lastClr="000000"/>
                                    </a:solidFill>
                                    <a:effectLst/>
                                    <a:latin typeface="Cambria Math" panose="02040503050406030204" pitchFamily="18" charset="0"/>
                                  </a:rPr>
                                  <m:t>𝑝</m:t>
                                </m:r>
                                <m:d>
                                  <m:dPr>
                                    <m:ctrlPr>
                                      <a:rPr lang="en-GB" sz="1800" i="1" kern="100">
                                        <a:solidFill>
                                          <a:sysClr val="windowText" lastClr="000000"/>
                                        </a:solidFill>
                                        <a:effectLst/>
                                        <a:latin typeface="Cambria Math" panose="02040503050406030204" pitchFamily="18" charset="0"/>
                                      </a:rPr>
                                    </m:ctrlPr>
                                  </m:dPr>
                                  <m:e>
                                    <m:r>
                                      <a:rPr lang="en-US" sz="1800" kern="100">
                                        <a:solidFill>
                                          <a:sysClr val="windowText" lastClr="000000"/>
                                        </a:solidFill>
                                        <a:effectLst/>
                                        <a:latin typeface="Cambria Math" panose="02040503050406030204" pitchFamily="18" charset="0"/>
                                      </a:rPr>
                                      <m:t>𝑥</m:t>
                                    </m:r>
                                    <m:r>
                                      <a:rPr lang="en-US" sz="1800" kern="100">
                                        <a:solidFill>
                                          <a:sysClr val="windowText" lastClr="000000"/>
                                        </a:solidFill>
                                        <a:effectLst/>
                                        <a:latin typeface="Cambria Math" panose="02040503050406030204" pitchFamily="18" charset="0"/>
                                      </a:rPr>
                                      <m:t>;</m:t>
                                    </m:r>
                                    <m:r>
                                      <a:rPr lang="en-US" sz="1800" kern="100">
                                        <a:solidFill>
                                          <a:sysClr val="windowText" lastClr="000000"/>
                                        </a:solidFill>
                                        <a:effectLst/>
                                        <a:latin typeface="Cambria Math" panose="02040503050406030204" pitchFamily="18" charset="0"/>
                                      </a:rPr>
                                      <m:t>𝜆</m:t>
                                    </m:r>
                                    <m:r>
                                      <a:rPr lang="en-US" sz="1800" kern="100">
                                        <a:solidFill>
                                          <a:sysClr val="windowText" lastClr="000000"/>
                                        </a:solidFill>
                                        <a:effectLst/>
                                        <a:latin typeface="Cambria Math" panose="02040503050406030204" pitchFamily="18" charset="0"/>
                                      </a:rPr>
                                      <m:t>𝑡</m:t>
                                    </m:r>
                                  </m:e>
                                </m:d>
                              </m:oMath>
                            </m:oMathPara>
                          </a14:m>
                          <a:endParaRPr lang="en-GB" sz="1800" kern="100" dirty="0">
                            <a:solidFill>
                              <a:sysClr val="windowText" lastClr="000000"/>
                            </a:solidFill>
                            <a:effectLst/>
                            <a:latin typeface="Arial" panose="020B0604020202020204" pitchFamily="34" charset="0"/>
                            <a:cs typeface="Arial" panose="020B0604020202020204" pitchFamily="34" charset="0"/>
                          </a:endParaRPr>
                        </a:p>
                        <a:p>
                          <a:pP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 </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800" kern="0" dirty="0">
                              <a:solidFill>
                                <a:sysClr val="windowText" lastClr="000000"/>
                              </a:solidFill>
                              <a:effectLst/>
                              <a:latin typeface="Arial" panose="020B0604020202020204" pitchFamily="34" charset="0"/>
                              <a:cs typeface="Arial" panose="020B0604020202020204" pitchFamily="34" charset="0"/>
                            </a:rPr>
                            <a:t>0.0183</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0.0733</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0.1465</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a:solidFill>
                                <a:sysClr val="windowText" lastClr="000000"/>
                              </a:solidFill>
                              <a:effectLst/>
                              <a:latin typeface="Arial" panose="020B0604020202020204" pitchFamily="34" charset="0"/>
                              <a:cs typeface="Arial" panose="020B0604020202020204" pitchFamily="34" charset="0"/>
                            </a:rPr>
                            <a:t>0.1954</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0.1954</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0.1563</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0.1042</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2903323"/>
                      </a:ext>
                    </a:extLst>
                  </a:tr>
                </a:tbl>
              </a:graphicData>
            </a:graphic>
          </p:graphicFrame>
        </mc:Choice>
        <mc:Fallback xmlns="">
          <p:graphicFrame>
            <p:nvGraphicFramePr>
              <p:cNvPr id="4" name="Table 3">
                <a:extLst>
                  <a:ext uri="{FF2B5EF4-FFF2-40B4-BE49-F238E27FC236}">
                    <a16:creationId xmlns:a16="http://schemas.microsoft.com/office/drawing/2014/main" id="{6568EFD2-18F3-606E-E4A5-A4A22DBA23EF}"/>
                  </a:ext>
                </a:extLst>
              </p:cNvPr>
              <p:cNvGraphicFramePr>
                <a:graphicFrameLocks noGrp="1"/>
              </p:cNvGraphicFramePr>
              <p:nvPr>
                <p:extLst>
                  <p:ext uri="{D42A27DB-BD31-4B8C-83A1-F6EECF244321}">
                    <p14:modId xmlns:p14="http://schemas.microsoft.com/office/powerpoint/2010/main" val="1896226992"/>
                  </p:ext>
                </p:extLst>
              </p:nvPr>
            </p:nvGraphicFramePr>
            <p:xfrm>
              <a:off x="1444752" y="3081528"/>
              <a:ext cx="9071865" cy="2544064"/>
            </p:xfrm>
            <a:graphic>
              <a:graphicData uri="http://schemas.openxmlformats.org/drawingml/2006/table">
                <a:tbl>
                  <a:tblPr firstRow="1" firstCol="1" bandRow="1">
                    <a:tableStyleId>{5C22544A-7EE6-4342-B048-85BDC9FD1C3A}</a:tableStyleId>
                  </a:tblPr>
                  <a:tblGrid>
                    <a:gridCol w="1495675">
                      <a:extLst>
                        <a:ext uri="{9D8B030D-6E8A-4147-A177-3AD203B41FA5}">
                          <a16:colId xmlns:a16="http://schemas.microsoft.com/office/drawing/2014/main" val="2303609182"/>
                        </a:ext>
                      </a:extLst>
                    </a:gridCol>
                    <a:gridCol w="927485">
                      <a:extLst>
                        <a:ext uri="{9D8B030D-6E8A-4147-A177-3AD203B41FA5}">
                          <a16:colId xmlns:a16="http://schemas.microsoft.com/office/drawing/2014/main" val="3341833004"/>
                        </a:ext>
                      </a:extLst>
                    </a:gridCol>
                    <a:gridCol w="958654">
                      <a:extLst>
                        <a:ext uri="{9D8B030D-6E8A-4147-A177-3AD203B41FA5}">
                          <a16:colId xmlns:a16="http://schemas.microsoft.com/office/drawing/2014/main" val="81710463"/>
                        </a:ext>
                      </a:extLst>
                    </a:gridCol>
                    <a:gridCol w="1142539">
                      <a:extLst>
                        <a:ext uri="{9D8B030D-6E8A-4147-A177-3AD203B41FA5}">
                          <a16:colId xmlns:a16="http://schemas.microsoft.com/office/drawing/2014/main" val="744438661"/>
                        </a:ext>
                      </a:extLst>
                    </a:gridCol>
                    <a:gridCol w="1142539">
                      <a:extLst>
                        <a:ext uri="{9D8B030D-6E8A-4147-A177-3AD203B41FA5}">
                          <a16:colId xmlns:a16="http://schemas.microsoft.com/office/drawing/2014/main" val="2374937533"/>
                        </a:ext>
                      </a:extLst>
                    </a:gridCol>
                    <a:gridCol w="1142539">
                      <a:extLst>
                        <a:ext uri="{9D8B030D-6E8A-4147-A177-3AD203B41FA5}">
                          <a16:colId xmlns:a16="http://schemas.microsoft.com/office/drawing/2014/main" val="3315228242"/>
                        </a:ext>
                      </a:extLst>
                    </a:gridCol>
                    <a:gridCol w="1142539">
                      <a:extLst>
                        <a:ext uri="{9D8B030D-6E8A-4147-A177-3AD203B41FA5}">
                          <a16:colId xmlns:a16="http://schemas.microsoft.com/office/drawing/2014/main" val="3927726271"/>
                        </a:ext>
                      </a:extLst>
                    </a:gridCol>
                    <a:gridCol w="1119895">
                      <a:extLst>
                        <a:ext uri="{9D8B030D-6E8A-4147-A177-3AD203B41FA5}">
                          <a16:colId xmlns:a16="http://schemas.microsoft.com/office/drawing/2014/main" val="1663971115"/>
                        </a:ext>
                      </a:extLst>
                    </a:gridCol>
                  </a:tblGrid>
                  <a:tr h="1751143">
                    <a:tc>
                      <a:txBody>
                        <a:bodyPr/>
                        <a:lstStyle/>
                        <a:p>
                          <a:endParaRPr lang="en-US"/>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4167" r="-508163" b="-45486"/>
                          </a:stretch>
                        </a:blip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0</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1</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2</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3</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4</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5</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Aft>
                              <a:spcPts val="800"/>
                            </a:spcAft>
                          </a:pPr>
                          <a:r>
                            <a:rPr lang="en-US" sz="1800" kern="100" dirty="0">
                              <a:solidFill>
                                <a:sysClr val="windowText" lastClr="000000"/>
                              </a:solidFill>
                              <a:effectLst/>
                              <a:latin typeface="Arial" panose="020B0604020202020204" pitchFamily="34" charset="0"/>
                              <a:cs typeface="Arial" panose="020B0604020202020204" pitchFamily="34" charset="0"/>
                            </a:rPr>
                            <a:t>6</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399771"/>
                      </a:ext>
                    </a:extLst>
                  </a:tr>
                  <a:tr h="792921">
                    <a:tc>
                      <a:txBody>
                        <a:bodyPr/>
                        <a:lstStyle/>
                        <a:p>
                          <a:endParaRPr lang="en-US"/>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230769" r="-508163" b="-769"/>
                          </a:stretch>
                        </a:blipFill>
                      </a:tcPr>
                    </a:tc>
                    <a:tc>
                      <a:txBody>
                        <a:bodyPr/>
                        <a:lstStyle/>
                        <a:p>
                          <a:pPr algn="ctr" latinLnBrk="1">
                            <a:lnSpc>
                              <a:spcPct val="10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800" kern="0" dirty="0">
                              <a:solidFill>
                                <a:sysClr val="windowText" lastClr="000000"/>
                              </a:solidFill>
                              <a:effectLst/>
                              <a:latin typeface="Arial" panose="020B0604020202020204" pitchFamily="34" charset="0"/>
                              <a:cs typeface="Arial" panose="020B0604020202020204" pitchFamily="34" charset="0"/>
                            </a:rPr>
                            <a:t>0.0183</a:t>
                          </a:r>
                          <a:endParaRPr lang="en-GB" sz="1800" kern="1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0.0733</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0.1465</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a:solidFill>
                                <a:sysClr val="windowText" lastClr="000000"/>
                              </a:solidFill>
                              <a:effectLst/>
                              <a:latin typeface="Arial" panose="020B0604020202020204" pitchFamily="34" charset="0"/>
                              <a:cs typeface="Arial" panose="020B0604020202020204" pitchFamily="34" charset="0"/>
                            </a:rPr>
                            <a:t>0.1954</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0.1954</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0.1563</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GB" sz="1800" kern="100" dirty="0">
                              <a:solidFill>
                                <a:sysClr val="windowText" lastClr="000000"/>
                              </a:solidFill>
                              <a:effectLst/>
                              <a:latin typeface="Arial" panose="020B0604020202020204" pitchFamily="34" charset="0"/>
                              <a:cs typeface="Arial" panose="020B0604020202020204" pitchFamily="34" charset="0"/>
                            </a:rPr>
                            <a:t>0.1042</a:t>
                          </a: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2903323"/>
                      </a:ext>
                    </a:extLst>
                  </a:tr>
                </a:tbl>
              </a:graphicData>
            </a:graphic>
          </p:graphicFrame>
        </mc:Fallback>
      </mc:AlternateContent>
    </p:spTree>
    <p:extLst>
      <p:ext uri="{BB962C8B-B14F-4D97-AF65-F5344CB8AC3E}">
        <p14:creationId xmlns:p14="http://schemas.microsoft.com/office/powerpoint/2010/main" val="1030205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43CD-7CA6-F5A5-A07F-3E286C878C34}"/>
              </a:ext>
            </a:extLst>
          </p:cNvPr>
          <p:cNvSpPr>
            <a:spLocks noGrp="1"/>
          </p:cNvSpPr>
          <p:nvPr>
            <p:ph type="title"/>
          </p:nvPr>
        </p:nvSpPr>
        <p:spPr/>
        <p:txBody>
          <a:bodyPr/>
          <a:lstStyle/>
          <a:p>
            <a:r>
              <a:rPr lang="en-US" dirty="0"/>
              <a:t>Example 7.5 (continued)</a:t>
            </a:r>
            <a:endParaRPr lang="en-GB" dirty="0"/>
          </a:p>
        </p:txBody>
      </p:sp>
      <p:pic>
        <p:nvPicPr>
          <p:cNvPr id="4" name="Picture 3">
            <a:extLst>
              <a:ext uri="{FF2B5EF4-FFF2-40B4-BE49-F238E27FC236}">
                <a16:creationId xmlns:a16="http://schemas.microsoft.com/office/drawing/2014/main" id="{894E29B7-FD0E-1A57-441D-B0358D6C30FD}"/>
              </a:ext>
            </a:extLst>
          </p:cNvPr>
          <p:cNvPicPr>
            <a:picLocks noChangeAspect="1"/>
          </p:cNvPicPr>
          <p:nvPr/>
        </p:nvPicPr>
        <p:blipFill>
          <a:blip r:embed="rId2"/>
          <a:stretch>
            <a:fillRect/>
          </a:stretch>
        </p:blipFill>
        <p:spPr>
          <a:xfrm>
            <a:off x="2002535" y="1949338"/>
            <a:ext cx="7755857" cy="4362562"/>
          </a:xfrm>
          <a:prstGeom prst="rect">
            <a:avLst/>
          </a:prstGeom>
        </p:spPr>
      </p:pic>
    </p:spTree>
    <p:extLst>
      <p:ext uri="{BB962C8B-B14F-4D97-AF65-F5344CB8AC3E}">
        <p14:creationId xmlns:p14="http://schemas.microsoft.com/office/powerpoint/2010/main" val="2328735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12B0-7684-AC7B-D61F-7B98D511D99D}"/>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E641A10B-BAE2-F45D-3273-F577C96A05C4}"/>
              </a:ext>
            </a:extLst>
          </p:cNvPr>
          <p:cNvSpPr>
            <a:spLocks noGrp="1"/>
          </p:cNvSpPr>
          <p:nvPr>
            <p:ph idx="1"/>
          </p:nvPr>
        </p:nvSpPr>
        <p:spPr/>
        <p:txBody>
          <a:bodyPr/>
          <a:lstStyle/>
          <a:p>
            <a:r>
              <a:rPr lang="en-GB" dirty="0"/>
              <a:t>These are a handful of discrete distributions.</a:t>
            </a:r>
          </a:p>
          <a:p>
            <a:r>
              <a:rPr lang="en-GB" dirty="0"/>
              <a:t>Many of them of common and well used in the statistics world.</a:t>
            </a:r>
          </a:p>
          <a:p>
            <a:r>
              <a:rPr lang="en-GB" dirty="0"/>
              <a:t>There are many more for you to explore.</a:t>
            </a:r>
          </a:p>
        </p:txBody>
      </p:sp>
    </p:spTree>
    <p:extLst>
      <p:ext uri="{BB962C8B-B14F-4D97-AF65-F5344CB8AC3E}">
        <p14:creationId xmlns:p14="http://schemas.microsoft.com/office/powerpoint/2010/main" val="1940223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TotalTime>
  <Words>2165</Words>
  <Application>Microsoft Office PowerPoint</Application>
  <PresentationFormat>Widescreen</PresentationFormat>
  <Paragraphs>191</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Aptos</vt:lpstr>
      <vt:lpstr>Aptos Display</vt:lpstr>
      <vt:lpstr>Arial</vt:lpstr>
      <vt:lpstr>Calibri</vt:lpstr>
      <vt:lpstr>Cambria Math</vt:lpstr>
      <vt:lpstr>Consolas</vt:lpstr>
      <vt:lpstr>Console</vt:lpstr>
      <vt:lpstr>Courier New</vt:lpstr>
      <vt:lpstr>Symbol</vt:lpstr>
      <vt:lpstr>Times New Roman</vt:lpstr>
      <vt:lpstr>Office Theme</vt:lpstr>
      <vt:lpstr>Introduction to Probability and Statistics 4CM521</vt:lpstr>
      <vt:lpstr>Learning Outcomes</vt:lpstr>
      <vt:lpstr>Introduction</vt:lpstr>
      <vt:lpstr>Discrete Uniform Distribution</vt:lpstr>
      <vt:lpstr>Statistical properties of the discrete uniform distribution</vt:lpstr>
      <vt:lpstr>Example 7.1</vt:lpstr>
      <vt:lpstr>Example 7.1 (continued)</vt:lpstr>
      <vt:lpstr>Binomial Distribution</vt:lpstr>
      <vt:lpstr>Definition of the Bernoulli trial</vt:lpstr>
      <vt:lpstr>Statistical properties of the Bernoulli trial</vt:lpstr>
      <vt:lpstr>Example 7.2</vt:lpstr>
      <vt:lpstr>Example 7.2 (continued)</vt:lpstr>
      <vt:lpstr>Example 7.2 (continued)</vt:lpstr>
      <vt:lpstr>Example 7.2 (continued)</vt:lpstr>
      <vt:lpstr>Example 7.2 (continued)</vt:lpstr>
      <vt:lpstr>Example 7.2 (continued)</vt:lpstr>
      <vt:lpstr>Example 7.2 (continued)</vt:lpstr>
      <vt:lpstr>Example 7.2 (continued)</vt:lpstr>
      <vt:lpstr>Additional notes</vt:lpstr>
      <vt:lpstr>Negative Binomial Distribution</vt:lpstr>
      <vt:lpstr>Negative Binomial Distribution (continued)</vt:lpstr>
      <vt:lpstr>Derivation</vt:lpstr>
      <vt:lpstr>Definition</vt:lpstr>
      <vt:lpstr>Example 7.3</vt:lpstr>
      <vt:lpstr>PowerPoint Presentation</vt:lpstr>
      <vt:lpstr>Geometric Distribution</vt:lpstr>
      <vt:lpstr>Example 7.4</vt:lpstr>
      <vt:lpstr>Example 7.4 (continued)</vt:lpstr>
      <vt:lpstr>Note</vt:lpstr>
      <vt:lpstr>Poisson Distribution</vt:lpstr>
      <vt:lpstr>Properties of Poisson process</vt:lpstr>
      <vt:lpstr>Poisson Definition</vt:lpstr>
      <vt:lpstr>Definition</vt:lpstr>
      <vt:lpstr>Statistical properties</vt:lpstr>
      <vt:lpstr>Example 7.5</vt:lpstr>
      <vt:lpstr>Example 7.5 (continued)</vt:lpstr>
      <vt:lpstr>Example 7.5 (continued)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 Sutton</dc:creator>
  <cp:lastModifiedBy>Jack Sutton</cp:lastModifiedBy>
  <cp:revision>1</cp:revision>
  <dcterms:created xsi:type="dcterms:W3CDTF">2025-02-07T11:18:47Z</dcterms:created>
  <dcterms:modified xsi:type="dcterms:W3CDTF">2025-02-17T09:59:36Z</dcterms:modified>
</cp:coreProperties>
</file>