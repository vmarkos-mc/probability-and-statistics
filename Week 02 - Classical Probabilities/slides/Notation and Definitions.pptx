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57" r:id="rId5"/>
    <p:sldId id="272" r:id="rId6"/>
    <p:sldId id="273" r:id="rId7"/>
    <p:sldId id="274" r:id="rId8"/>
    <p:sldId id="259" r:id="rId9"/>
    <p:sldId id="260" r:id="rId10"/>
    <p:sldId id="275" r:id="rId11"/>
    <p:sldId id="268" r:id="rId12"/>
    <p:sldId id="261" r:id="rId13"/>
    <p:sldId id="276" r:id="rId14"/>
    <p:sldId id="262" r:id="rId15"/>
    <p:sldId id="277" r:id="rId16"/>
    <p:sldId id="263" r:id="rId17"/>
    <p:sldId id="264" r:id="rId18"/>
    <p:sldId id="265" r:id="rId19"/>
    <p:sldId id="266" r:id="rId20"/>
    <p:sldId id="267" r:id="rId21"/>
    <p:sldId id="269" r:id="rId22"/>
  </p:sldIdLst>
  <p:sldSz cx="12192000" cy="6858000"/>
  <p:notesSz cx="7099300" cy="9385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DD181E-B680-4E73-BA1D-DA0CBCD21C9F}" v="9" dt="2024-10-01T10:05:49.5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63" d="100"/>
          <a:sy n="63" d="100"/>
        </p:scale>
        <p:origin x="7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Sutton" userId="ff762cc7-8b85-4d5d-84fc-d80ed39daf4b" providerId="ADAL" clId="{79DD181E-B680-4E73-BA1D-DA0CBCD21C9F}"/>
    <pc:docChg chg="undo custSel modSld">
      <pc:chgData name="Jack Sutton" userId="ff762cc7-8b85-4d5d-84fc-d80ed39daf4b" providerId="ADAL" clId="{79DD181E-B680-4E73-BA1D-DA0CBCD21C9F}" dt="2024-10-01T10:05:49.505" v="17"/>
      <pc:docMkLst>
        <pc:docMk/>
      </pc:docMkLst>
      <pc:sldChg chg="modSp mod">
        <pc:chgData name="Jack Sutton" userId="ff762cc7-8b85-4d5d-84fc-d80ed39daf4b" providerId="ADAL" clId="{79DD181E-B680-4E73-BA1D-DA0CBCD21C9F}" dt="2024-10-01T10:03:55.022" v="13" actId="20577"/>
        <pc:sldMkLst>
          <pc:docMk/>
          <pc:sldMk cId="3439139053" sldId="262"/>
        </pc:sldMkLst>
        <pc:spChg chg="mod">
          <ac:chgData name="Jack Sutton" userId="ff762cc7-8b85-4d5d-84fc-d80ed39daf4b" providerId="ADAL" clId="{79DD181E-B680-4E73-BA1D-DA0CBCD21C9F}" dt="2024-10-01T10:03:55.022" v="13" actId="20577"/>
          <ac:spMkLst>
            <pc:docMk/>
            <pc:sldMk cId="3439139053" sldId="262"/>
            <ac:spMk id="3" creationId="{6CE656C1-CDF6-2F17-1335-97445341BE37}"/>
          </ac:spMkLst>
        </pc:spChg>
      </pc:sldChg>
      <pc:sldChg chg="modAnim">
        <pc:chgData name="Jack Sutton" userId="ff762cc7-8b85-4d5d-84fc-d80ed39daf4b" providerId="ADAL" clId="{79DD181E-B680-4E73-BA1D-DA0CBCD21C9F}" dt="2024-10-01T10:05:20.353" v="14"/>
        <pc:sldMkLst>
          <pc:docMk/>
          <pc:sldMk cId="243930922" sldId="264"/>
        </pc:sldMkLst>
      </pc:sldChg>
      <pc:sldChg chg="modAnim">
        <pc:chgData name="Jack Sutton" userId="ff762cc7-8b85-4d5d-84fc-d80ed39daf4b" providerId="ADAL" clId="{79DD181E-B680-4E73-BA1D-DA0CBCD21C9F}" dt="2024-10-01T10:05:30.235" v="15"/>
        <pc:sldMkLst>
          <pc:docMk/>
          <pc:sldMk cId="763644005" sldId="265"/>
        </pc:sldMkLst>
      </pc:sldChg>
      <pc:sldChg chg="modAnim">
        <pc:chgData name="Jack Sutton" userId="ff762cc7-8b85-4d5d-84fc-d80ed39daf4b" providerId="ADAL" clId="{79DD181E-B680-4E73-BA1D-DA0CBCD21C9F}" dt="2024-10-01T10:05:44.241" v="16"/>
        <pc:sldMkLst>
          <pc:docMk/>
          <pc:sldMk cId="363610548" sldId="266"/>
        </pc:sldMkLst>
      </pc:sldChg>
      <pc:sldChg chg="modAnim">
        <pc:chgData name="Jack Sutton" userId="ff762cc7-8b85-4d5d-84fc-d80ed39daf4b" providerId="ADAL" clId="{79DD181E-B680-4E73-BA1D-DA0CBCD21C9F}" dt="2024-10-01T10:05:49.505" v="17"/>
        <pc:sldMkLst>
          <pc:docMk/>
          <pc:sldMk cId="817517183" sldId="267"/>
        </pc:sldMkLst>
      </pc:sldChg>
      <pc:sldChg chg="modSp mod">
        <pc:chgData name="Jack Sutton" userId="ff762cc7-8b85-4d5d-84fc-d80ed39daf4b" providerId="ADAL" clId="{79DD181E-B680-4E73-BA1D-DA0CBCD21C9F}" dt="2024-10-01T10:00:20.744" v="0" actId="20577"/>
        <pc:sldMkLst>
          <pc:docMk/>
          <pc:sldMk cId="3930045562" sldId="271"/>
        </pc:sldMkLst>
        <pc:spChg chg="mod">
          <ac:chgData name="Jack Sutton" userId="ff762cc7-8b85-4d5d-84fc-d80ed39daf4b" providerId="ADAL" clId="{79DD181E-B680-4E73-BA1D-DA0CBCD21C9F}" dt="2024-10-01T10:00:20.744" v="0" actId="20577"/>
          <ac:spMkLst>
            <pc:docMk/>
            <pc:sldMk cId="3930045562" sldId="271"/>
            <ac:spMk id="3" creationId="{CFE3D6FF-5658-BF45-7F43-A3ABC6110F5C}"/>
          </ac:spMkLst>
        </pc:spChg>
      </pc:sldChg>
      <pc:sldChg chg="modAnim">
        <pc:chgData name="Jack Sutton" userId="ff762cc7-8b85-4d5d-84fc-d80ed39daf4b" providerId="ADAL" clId="{79DD181E-B680-4E73-BA1D-DA0CBCD21C9F}" dt="2024-10-01T10:01:35.293" v="9"/>
        <pc:sldMkLst>
          <pc:docMk/>
          <pc:sldMk cId="3596624939" sldId="272"/>
        </pc:sldMkLst>
      </pc:sldChg>
      <pc:sldChg chg="modSp mod">
        <pc:chgData name="Jack Sutton" userId="ff762cc7-8b85-4d5d-84fc-d80ed39daf4b" providerId="ADAL" clId="{79DD181E-B680-4E73-BA1D-DA0CBCD21C9F}" dt="2024-10-01T10:01:31.927" v="7" actId="20577"/>
        <pc:sldMkLst>
          <pc:docMk/>
          <pc:sldMk cId="444925686" sldId="273"/>
        </pc:sldMkLst>
        <pc:spChg chg="mod">
          <ac:chgData name="Jack Sutton" userId="ff762cc7-8b85-4d5d-84fc-d80ed39daf4b" providerId="ADAL" clId="{79DD181E-B680-4E73-BA1D-DA0CBCD21C9F}" dt="2024-10-01T10:01:31.927" v="7" actId="20577"/>
          <ac:spMkLst>
            <pc:docMk/>
            <pc:sldMk cId="444925686" sldId="273"/>
            <ac:spMk id="3" creationId="{4908BBA3-C1B4-51DE-A0B6-ED727A493826}"/>
          </ac:spMkLst>
        </pc:spChg>
      </pc:sldChg>
      <pc:sldChg chg="modAnim">
        <pc:chgData name="Jack Sutton" userId="ff762cc7-8b85-4d5d-84fc-d80ed39daf4b" providerId="ADAL" clId="{79DD181E-B680-4E73-BA1D-DA0CBCD21C9F}" dt="2024-10-01T10:01:46.867" v="10"/>
        <pc:sldMkLst>
          <pc:docMk/>
          <pc:sldMk cId="1273450886" sldId="274"/>
        </pc:sldMkLst>
      </pc:sldChg>
      <pc:sldChg chg="modAnim">
        <pc:chgData name="Jack Sutton" userId="ff762cc7-8b85-4d5d-84fc-d80ed39daf4b" providerId="ADAL" clId="{79DD181E-B680-4E73-BA1D-DA0CBCD21C9F}" dt="2024-10-01T10:03:05.033" v="11"/>
        <pc:sldMkLst>
          <pc:docMk/>
          <pc:sldMk cId="228399478" sldId="27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44753\OneDrive%20-%20University%20of%20Derby\Desktop\Teaching\UoD\Statistical%20Methods\data\weight_loss_data.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Aptos" panose="020B0004020202020204" pitchFamily="34" charset="0"/>
                <a:ea typeface="+mn-ea"/>
                <a:cs typeface="+mn-cs"/>
              </a:defRPr>
            </a:pPr>
            <a:r>
              <a:rPr lang="en-US"/>
              <a:t>How many cats do the students in my class have?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Aptos" panose="020B0004020202020204" pitchFamily="34"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Number of students</c:v>
                </c:pt>
              </c:strCache>
            </c:strRef>
          </c:tx>
          <c:spPr>
            <a:solidFill>
              <a:schemeClr val="accent1"/>
            </a:solidFill>
            <a:ln>
              <a:noFill/>
            </a:ln>
            <a:effectLst/>
          </c:spPr>
          <c:invertIfNegative val="0"/>
          <c:cat>
            <c:numRef>
              <c:f>Sheet1!$A$2:$A$5</c:f>
              <c:numCache>
                <c:formatCode>General</c:formatCode>
                <c:ptCount val="4"/>
                <c:pt idx="0">
                  <c:v>0</c:v>
                </c:pt>
                <c:pt idx="1">
                  <c:v>1</c:v>
                </c:pt>
                <c:pt idx="2">
                  <c:v>2</c:v>
                </c:pt>
                <c:pt idx="3">
                  <c:v>5</c:v>
                </c:pt>
              </c:numCache>
            </c:numRef>
          </c:cat>
          <c:val>
            <c:numRef>
              <c:f>Sheet1!$B$2:$B$5</c:f>
              <c:numCache>
                <c:formatCode>General</c:formatCode>
                <c:ptCount val="4"/>
                <c:pt idx="0">
                  <c:v>13</c:v>
                </c:pt>
                <c:pt idx="1">
                  <c:v>5</c:v>
                </c:pt>
                <c:pt idx="2">
                  <c:v>7</c:v>
                </c:pt>
                <c:pt idx="3">
                  <c:v>1</c:v>
                </c:pt>
              </c:numCache>
            </c:numRef>
          </c:val>
          <c:extLst>
            <c:ext xmlns:c16="http://schemas.microsoft.com/office/drawing/2014/chart" uri="{C3380CC4-5D6E-409C-BE32-E72D297353CC}">
              <c16:uniqueId val="{00000000-EFE1-48AE-92B8-843D4B3EA130}"/>
            </c:ext>
          </c:extLst>
        </c:ser>
        <c:dLbls>
          <c:showLegendKey val="0"/>
          <c:showVal val="0"/>
          <c:showCatName val="0"/>
          <c:showSerName val="0"/>
          <c:showPercent val="0"/>
          <c:showBubbleSize val="0"/>
        </c:dLbls>
        <c:gapWidth val="219"/>
        <c:overlap val="-27"/>
        <c:axId val="1613121791"/>
        <c:axId val="1605342143"/>
      </c:barChart>
      <c:catAx>
        <c:axId val="161312179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Aptos" panose="020B0004020202020204" pitchFamily="34" charset="0"/>
                    <a:ea typeface="+mn-ea"/>
                    <a:cs typeface="+mn-cs"/>
                  </a:defRPr>
                </a:pPr>
                <a:r>
                  <a:rPr lang="en-GB"/>
                  <a:t>Number of cats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1605342143"/>
        <c:crosses val="autoZero"/>
        <c:auto val="1"/>
        <c:lblAlgn val="ctr"/>
        <c:lblOffset val="100"/>
        <c:noMultiLvlLbl val="0"/>
      </c:catAx>
      <c:valAx>
        <c:axId val="16053421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Aptos" panose="020B0004020202020204" pitchFamily="34" charset="0"/>
                    <a:ea typeface="+mn-ea"/>
                    <a:cs typeface="+mn-cs"/>
                  </a:defRPr>
                </a:pPr>
                <a:r>
                  <a:rPr lang="en-GB"/>
                  <a:t>Number of Students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1613121791"/>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weight_loss_data!$B$2:$B$17</cx:f>
        <cx:lvl ptCount="16" formatCode="General">
          <cx:pt idx="0">95.299999999999997</cx:pt>
          <cx:pt idx="1">87.5</cx:pt>
          <cx:pt idx="2">102.40000000000001</cx:pt>
          <cx:pt idx="3">98.599999999999994</cx:pt>
          <cx:pt idx="4">93.400000000000006</cx:pt>
          <cx:pt idx="5">105.09999999999999</cx:pt>
          <cx:pt idx="6">95.099999999999994</cx:pt>
          <cx:pt idx="7">87.700000000000003</cx:pt>
          <cx:pt idx="8">104.3</cx:pt>
          <cx:pt idx="9">128.40000000000001</cx:pt>
          <cx:pt idx="10">85.900000000000006</cx:pt>
          <cx:pt idx="11">91.700000000000003</cx:pt>
          <cx:pt idx="12">94.700000000000003</cx:pt>
          <cx:pt idx="13">104.3</cx:pt>
          <cx:pt idx="14">111.2</cx:pt>
          <cx:pt idx="15">101.8</cx:pt>
        </cx:lvl>
      </cx:numDim>
    </cx:data>
  </cx:chartData>
  <cx:chart>
    <cx:title pos="t" align="ctr" overlay="0">
      <cx:tx>
        <cx:rich>
          <a:bodyPr spcFirstLastPara="1" vertOverflow="ellipsis" horzOverflow="overflow" wrap="square" lIns="0" tIns="0" rIns="0" bIns="0" anchor="ctr" anchorCtr="1"/>
          <a:lstStyle/>
          <a:p>
            <a:pPr algn="ctr" rtl="0">
              <a:defRPr>
                <a:latin typeface="Aptos" panose="020B0004020202020204" pitchFamily="34" charset="0"/>
                <a:ea typeface="Aptos" panose="020B0004020202020204" pitchFamily="34" charset="0"/>
                <a:cs typeface="Aptos" panose="020B0004020202020204" pitchFamily="34" charset="0"/>
              </a:defRPr>
            </a:pPr>
            <a:r>
              <a:rPr lang="en-US" sz="1400" b="0" i="0" u="none" strike="noStrike" baseline="0" dirty="0">
                <a:solidFill>
                  <a:sysClr val="windowText" lastClr="000000">
                    <a:lumMod val="65000"/>
                    <a:lumOff val="35000"/>
                  </a:sysClr>
                </a:solidFill>
                <a:latin typeface="Aptos" panose="020B0004020202020204" pitchFamily="34" charset="0"/>
              </a:rPr>
              <a:t>Initial Weight of </a:t>
            </a:r>
            <a:r>
              <a:rPr lang="en-GB" sz="1400" b="0" i="0" u="none" strike="noStrike" baseline="0" dirty="0">
                <a:solidFill>
                  <a:srgbClr val="202124"/>
                </a:solidFill>
                <a:effectLst/>
                <a:latin typeface="Aptos" panose="020B0004020202020204" pitchFamily="34" charset="0"/>
              </a:rPr>
              <a:t>P</a:t>
            </a:r>
            <a:r>
              <a:rPr lang="en-GB" b="0" i="0" dirty="0">
                <a:solidFill>
                  <a:srgbClr val="202124"/>
                </a:solidFill>
                <a:effectLst/>
                <a:latin typeface="Aptos" panose="020B0004020202020204" pitchFamily="34" charset="0"/>
              </a:rPr>
              <a:t>atient</a:t>
            </a:r>
            <a:r>
              <a:rPr lang="en-US" sz="1400" b="0" i="0" u="none" strike="noStrike" baseline="0" dirty="0">
                <a:solidFill>
                  <a:sysClr val="windowText" lastClr="000000">
                    <a:lumMod val="65000"/>
                    <a:lumOff val="35000"/>
                  </a:sysClr>
                </a:solidFill>
                <a:latin typeface="Aptos" panose="020B0004020202020204" pitchFamily="34" charset="0"/>
              </a:rPr>
              <a:t> Before Study Period</a:t>
            </a:r>
          </a:p>
        </cx:rich>
      </cx:tx>
    </cx:title>
    <cx:plotArea>
      <cx:plotAreaRegion>
        <cx:series layoutId="clusteredColumn" uniqueId="{1D524F17-541A-4857-A410-22800D0D9EDE}">
          <cx:tx>
            <cx:txData>
              <cx:f>weight_loss_data!$B$1</cx:f>
              <cx:v>Initial_weight</cx:v>
            </cx:txData>
          </cx:tx>
          <cx:dataId val="0"/>
          <cx:layoutPr>
            <cx:binning intervalClosed="r"/>
          </cx:layoutPr>
        </cx:series>
      </cx:plotAreaRegion>
      <cx:axis id="0">
        <cx:catScaling gapWidth="0"/>
        <cx:tickLabels/>
        <cx:txPr>
          <a:bodyPr vertOverflow="overflow" horzOverflow="overflow" wrap="square" lIns="0" tIns="0" rIns="0" bIns="0"/>
          <a:lstStyle/>
          <a:p>
            <a:pPr algn="ctr" rtl="0">
              <a:defRPr sz="900" b="0" i="0">
                <a:solidFill>
                  <a:srgbClr val="595959"/>
                </a:solidFill>
                <a:latin typeface="Aptos" panose="020B0004020202020204" pitchFamily="34" charset="0"/>
                <a:ea typeface="Aptos" panose="020B0004020202020204" pitchFamily="34" charset="0"/>
                <a:cs typeface="Aptos" panose="020B0004020202020204" pitchFamily="34" charset="0"/>
              </a:defRPr>
            </a:pPr>
            <a:endParaRPr lang="en-GB">
              <a:latin typeface="Aptos" panose="020B0004020202020204" pitchFamily="34" charset="0"/>
            </a:endParaRPr>
          </a:p>
        </cx:txPr>
      </cx:axis>
      <cx:axis id="1">
        <cx:valScaling/>
        <cx:majorGridlines/>
        <cx:tickLabels/>
        <cx:txPr>
          <a:bodyPr vertOverflow="overflow" horzOverflow="overflow" wrap="square" lIns="0" tIns="0" rIns="0" bIns="0"/>
          <a:lstStyle/>
          <a:p>
            <a:pPr algn="ctr" rtl="0">
              <a:defRPr sz="900" b="0" i="0">
                <a:solidFill>
                  <a:srgbClr val="595959"/>
                </a:solidFill>
                <a:latin typeface="Aptos" panose="020B0004020202020204" pitchFamily="34" charset="0"/>
                <a:ea typeface="Aptos" panose="020B0004020202020204" pitchFamily="34" charset="0"/>
                <a:cs typeface="Aptos" panose="020B0004020202020204" pitchFamily="34" charset="0"/>
              </a:defRPr>
            </a:pPr>
            <a:endParaRPr lang="en-GB">
              <a:latin typeface="Aptos" panose="020B0004020202020204" pitchFamily="34"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2B51E-B6E5-3234-FC99-E1FD7116AD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C18B7DB-2D49-4A5E-EF38-C364E40A21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DC5FB68-5D16-EAC6-2E4A-7AEA8BA6F58B}"/>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5" name="Footer Placeholder 4">
            <a:extLst>
              <a:ext uri="{FF2B5EF4-FFF2-40B4-BE49-F238E27FC236}">
                <a16:creationId xmlns:a16="http://schemas.microsoft.com/office/drawing/2014/main" id="{E3FE485B-F07D-5FE2-CDD4-3DF45D0B49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1B2193-8B5F-E12A-50D3-44EBE546AA73}"/>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95053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833E4-537B-8DC5-6204-3438112BA77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2FBB99-D8F3-027F-55E5-2E1B87C8D0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78F963C-0E49-2E24-FDC9-CE2E0428CB7B}"/>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5" name="Footer Placeholder 4">
            <a:extLst>
              <a:ext uri="{FF2B5EF4-FFF2-40B4-BE49-F238E27FC236}">
                <a16:creationId xmlns:a16="http://schemas.microsoft.com/office/drawing/2014/main" id="{D01B198D-130D-5A4D-9F95-E5898275AB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99A4ED-931E-0415-6142-CEBC32A8A596}"/>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429579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2C45-96D6-F8C4-461D-4AFD799262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BB445C3-C296-F5A2-03FD-E99212ECC7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411CD3-6DD0-995F-7442-B3B678268F69}"/>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5" name="Footer Placeholder 4">
            <a:extLst>
              <a:ext uri="{FF2B5EF4-FFF2-40B4-BE49-F238E27FC236}">
                <a16:creationId xmlns:a16="http://schemas.microsoft.com/office/drawing/2014/main" id="{2B3A825D-0A7F-72BB-C3C4-095A9C778B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636C9A-A325-C5B1-51CB-D9D67C95FE29}"/>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4073019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5632-C487-5342-8DA5-0D9F587C86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0F2D422-A733-0CBD-3931-D7056E6E5E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97438A7-6B6B-4DF7-B98F-15102D8BEA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570B9CC-B21A-CFD8-59E2-EDC34C920912}"/>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6" name="Footer Placeholder 5">
            <a:extLst>
              <a:ext uri="{FF2B5EF4-FFF2-40B4-BE49-F238E27FC236}">
                <a16:creationId xmlns:a16="http://schemas.microsoft.com/office/drawing/2014/main" id="{A1CF8C51-3A94-4D6B-ED6F-0A6B4CF142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24D9EE6-DFC0-2383-75F1-2B7F7148ECB0}"/>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3826998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7A18A-31DF-9265-311A-3C52BC1055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E695377-D479-C205-F7FC-3031A3204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7100BE-C181-80C3-1327-510CFDEA3C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F75F18-DBA0-6670-FC4A-BE6663EE0F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9BC9AA-A6C8-416E-B7DE-1482F6DAFC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962EE0F-704E-F527-E5A3-BB6542B1A8B1}"/>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8" name="Footer Placeholder 7">
            <a:extLst>
              <a:ext uri="{FF2B5EF4-FFF2-40B4-BE49-F238E27FC236}">
                <a16:creationId xmlns:a16="http://schemas.microsoft.com/office/drawing/2014/main" id="{02E6FC40-0491-9F9F-5167-1E0E3D00A0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25A155B-0FD0-59C1-13AA-4BE49A117E8F}"/>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3650642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D735-697E-ED4D-40C3-6271C78DC6D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998A4D4-DB5B-BFB1-00B7-6386908D9683}"/>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4" name="Footer Placeholder 3">
            <a:extLst>
              <a:ext uri="{FF2B5EF4-FFF2-40B4-BE49-F238E27FC236}">
                <a16:creationId xmlns:a16="http://schemas.microsoft.com/office/drawing/2014/main" id="{EFC90CDF-550E-E08A-CD59-CE990B43CDD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E0C75B3-3281-714A-099D-22260E6B749D}"/>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3187596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ACB84A-B0AA-C803-DED7-AFD5533B7EF1}"/>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3" name="Footer Placeholder 2">
            <a:extLst>
              <a:ext uri="{FF2B5EF4-FFF2-40B4-BE49-F238E27FC236}">
                <a16:creationId xmlns:a16="http://schemas.microsoft.com/office/drawing/2014/main" id="{902AE2E7-3235-1B1F-F712-B2C44B7CEBE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27156E0-A8B8-85D1-F143-7C44CFFB6928}"/>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384912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57D2-CAEC-DBC2-5023-1BCBC7537C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07920FA-972D-EE08-4AC2-4B58CEF251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FF22663-6025-54C8-8DAB-C40517D5A3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CA4412-3AD1-839A-7191-293EFF095070}"/>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6" name="Footer Placeholder 5">
            <a:extLst>
              <a:ext uri="{FF2B5EF4-FFF2-40B4-BE49-F238E27FC236}">
                <a16:creationId xmlns:a16="http://schemas.microsoft.com/office/drawing/2014/main" id="{06CB6E07-A762-F5B9-CD90-0F006EBC42D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E9E1FC-A9A9-96D4-1978-427C6650F1FC}"/>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1782393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BC13-594C-787B-81F0-63E49FB0D0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C7E7E1F-0F7B-2AF0-9804-407AF1D0D5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B931E75-3B6E-2777-3EE6-E2C565F067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C6FA4-4105-4D11-8258-678571DD90E7}"/>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6" name="Footer Placeholder 5">
            <a:extLst>
              <a:ext uri="{FF2B5EF4-FFF2-40B4-BE49-F238E27FC236}">
                <a16:creationId xmlns:a16="http://schemas.microsoft.com/office/drawing/2014/main" id="{B8BFA401-FF9B-7D67-CF55-F9987F6CD7D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A249795-5DEE-14B8-C583-136C4DEF58AB}"/>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2581030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B935-DCEF-CC7F-9C39-832EF5B6D79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0D8924D-8FDC-2F6E-458B-09EF282B88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C788D2-1053-0C3A-3E45-52207B89AB22}"/>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5" name="Footer Placeholder 4">
            <a:extLst>
              <a:ext uri="{FF2B5EF4-FFF2-40B4-BE49-F238E27FC236}">
                <a16:creationId xmlns:a16="http://schemas.microsoft.com/office/drawing/2014/main" id="{B8E43406-AE36-CBA1-9055-3F299D4D15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99ECFC-D42B-A837-85B2-2883729D70E9}"/>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1770849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3A177B-E31A-F379-FEA6-81673D385D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FD99BF-255D-34FA-7EC0-6131A87C7C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814CCD-0163-3A96-2A7A-5FE5B1169ED1}"/>
              </a:ext>
            </a:extLst>
          </p:cNvPr>
          <p:cNvSpPr>
            <a:spLocks noGrp="1"/>
          </p:cNvSpPr>
          <p:nvPr>
            <p:ph type="dt" sz="half" idx="10"/>
          </p:nvPr>
        </p:nvSpPr>
        <p:spPr/>
        <p:txBody>
          <a:bodyPr/>
          <a:lstStyle/>
          <a:p>
            <a:fld id="{D5B9FED5-8C8F-4FA3-9C17-16CCDCE4DDFC}" type="datetimeFigureOut">
              <a:rPr lang="en-GB" smtClean="0"/>
              <a:t>01/10/2024</a:t>
            </a:fld>
            <a:endParaRPr lang="en-GB"/>
          </a:p>
        </p:txBody>
      </p:sp>
      <p:sp>
        <p:nvSpPr>
          <p:cNvPr id="5" name="Footer Placeholder 4">
            <a:extLst>
              <a:ext uri="{FF2B5EF4-FFF2-40B4-BE49-F238E27FC236}">
                <a16:creationId xmlns:a16="http://schemas.microsoft.com/office/drawing/2014/main" id="{E599937E-CC89-A85C-FB1C-42194092A4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433F88-CB88-FF9C-DBF1-40FCCC8710EE}"/>
              </a:ext>
            </a:extLst>
          </p:cNvPr>
          <p:cNvSpPr>
            <a:spLocks noGrp="1"/>
          </p:cNvSpPr>
          <p:nvPr>
            <p:ph type="sldNum" sz="quarter" idx="12"/>
          </p:nvPr>
        </p:nvSpPr>
        <p:spPr/>
        <p:txBody>
          <a:bodyPr/>
          <a:lstStyle/>
          <a:p>
            <a:fld id="{97D9D7D5-21CF-451D-A5AD-A9A6F61000D0}" type="slidenum">
              <a:rPr lang="en-GB" smtClean="0"/>
              <a:t>‹#›</a:t>
            </a:fld>
            <a:endParaRPr lang="en-GB"/>
          </a:p>
        </p:txBody>
      </p:sp>
    </p:spTree>
    <p:extLst>
      <p:ext uri="{BB962C8B-B14F-4D97-AF65-F5344CB8AC3E}">
        <p14:creationId xmlns:p14="http://schemas.microsoft.com/office/powerpoint/2010/main" val="128539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AAE1F7-5564-4229-D7DB-4813437AAC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9A0106-B1E2-3FC2-0E69-F9C55B4955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18BF50-D4EB-6099-CBD1-F567A25B85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B9FED5-8C8F-4FA3-9C17-16CCDCE4DDFC}" type="datetimeFigureOut">
              <a:rPr lang="en-GB" smtClean="0"/>
              <a:t>01/10/2024</a:t>
            </a:fld>
            <a:endParaRPr lang="en-GB"/>
          </a:p>
        </p:txBody>
      </p:sp>
      <p:sp>
        <p:nvSpPr>
          <p:cNvPr id="5" name="Footer Placeholder 4">
            <a:extLst>
              <a:ext uri="{FF2B5EF4-FFF2-40B4-BE49-F238E27FC236}">
                <a16:creationId xmlns:a16="http://schemas.microsoft.com/office/drawing/2014/main" id="{79A7BF0C-04C3-3A98-D208-F2FA763AE0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29AF53E-5727-51EA-4920-26CF1D800B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D9D7D5-21CF-451D-A5AD-A9A6F61000D0}" type="slidenum">
              <a:rPr lang="en-GB" smtClean="0"/>
              <a:t>‹#›</a:t>
            </a:fld>
            <a:endParaRPr lang="en-GB"/>
          </a:p>
        </p:txBody>
      </p:sp>
    </p:spTree>
    <p:extLst>
      <p:ext uri="{BB962C8B-B14F-4D97-AF65-F5344CB8AC3E}">
        <p14:creationId xmlns:p14="http://schemas.microsoft.com/office/powerpoint/2010/main" val="1569829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stats.gla.ac.uk/steps/glossary/basic_definitions.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stats.gla.ac.uk/steps/glossary/basic_definitions.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stats.gla.ac.uk/steps/glossary/basic_definitions.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en.wikipedia.org/wiki/NG_postcode_area"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stats.gla.ac.uk/steps/glossary/basic_definitions.html#stat" TargetMode="External"/><Relationship Id="rId2" Type="http://schemas.openxmlformats.org/officeDocument/2006/relationships/hyperlink" Target="http://www.stats.gla.ac.uk/steps/glossary/basic_definitions.html#para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4/relationships/chartEx" Target="../charts/chartEx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play.kahoot.it/v2/?quizId=76569fcb-343b-4b5e-bbe4-a2a3bde0160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0607-DB42-4AF5-6659-091A8888194E}"/>
              </a:ext>
            </a:extLst>
          </p:cNvPr>
          <p:cNvSpPr>
            <a:spLocks noGrp="1"/>
          </p:cNvSpPr>
          <p:nvPr>
            <p:ph type="ctrTitle"/>
          </p:nvPr>
        </p:nvSpPr>
        <p:spPr/>
        <p:txBody>
          <a:bodyPr>
            <a:normAutofit fontScale="90000"/>
          </a:bodyPr>
          <a:lstStyle/>
          <a:p>
            <a:pPr>
              <a:lnSpc>
                <a:spcPct val="100000"/>
              </a:lnSpc>
              <a:spcAft>
                <a:spcPts val="800"/>
              </a:spcAft>
            </a:pPr>
            <a:r>
              <a:rPr lang="en-US" dirty="0">
                <a:latin typeface="Arial" panose="020B0604020202020204" pitchFamily="34" charset="0"/>
                <a:cs typeface="Arial" panose="020B0604020202020204" pitchFamily="34" charset="0"/>
              </a:rPr>
              <a:t>Introduction to Probability and Statistics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4CM521</a:t>
            </a:r>
            <a:endParaRPr lang="en-GB" dirty="0">
              <a:latin typeface="Aptos" panose="020B0004020202020204" pitchFamily="34" charset="0"/>
            </a:endParaRPr>
          </a:p>
        </p:txBody>
      </p:sp>
      <p:sp>
        <p:nvSpPr>
          <p:cNvPr id="3" name="Subtitle 2">
            <a:extLst>
              <a:ext uri="{FF2B5EF4-FFF2-40B4-BE49-F238E27FC236}">
                <a16:creationId xmlns:a16="http://schemas.microsoft.com/office/drawing/2014/main" id="{55E8D3A6-9878-C782-1619-FDAF47D8897F}"/>
              </a:ext>
            </a:extLst>
          </p:cNvPr>
          <p:cNvSpPr>
            <a:spLocks noGrp="1"/>
          </p:cNvSpPr>
          <p:nvPr>
            <p:ph type="subTitle" idx="1"/>
          </p:nvPr>
        </p:nvSpPr>
        <p:spPr/>
        <p:txBody>
          <a:bodyPr>
            <a:normAutofit/>
          </a:bodyPr>
          <a:lstStyle/>
          <a:p>
            <a:r>
              <a:rPr lang="en-US" sz="5400" dirty="0">
                <a:latin typeface="Arial" panose="020B0604020202020204" pitchFamily="34" charset="0"/>
                <a:cs typeface="Arial" panose="020B0604020202020204" pitchFamily="34" charset="0"/>
              </a:rPr>
              <a:t>Notation and Definitions</a:t>
            </a:r>
            <a:endParaRPr lang="en-GB" sz="5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5154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AEF9C-6C22-9BB2-BB07-3880EB31707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Learning outcomes</a:t>
            </a:r>
            <a:endParaRPr lang="en-GB"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EAABC4-BDB9-208F-593B-0569C437FC2A}"/>
                  </a:ext>
                </a:extLst>
              </p:cNvPr>
              <p:cNvSpPr>
                <a:spLocks noGrp="1"/>
              </p:cNvSpPr>
              <p:nvPr>
                <p:ph idx="1"/>
              </p:nvPr>
            </p:nvSpPr>
            <p:spPr/>
            <p:txBody>
              <a:bodyPr/>
              <a:lstStyle/>
              <a:p>
                <a:pPr marL="0" indent="0">
                  <a:lnSpc>
                    <a:spcPct val="100000"/>
                  </a:lnSpc>
                  <a:spcBef>
                    <a:spcPts val="0"/>
                  </a:spcBef>
                  <a:spcAft>
                    <a:spcPts val="800"/>
                  </a:spcAft>
                  <a:buNone/>
                </a:pPr>
                <a:r>
                  <a:rPr lang="en-US" sz="1800" kern="100" dirty="0">
                    <a:effectLst/>
                    <a:latin typeface="Arial" panose="020B0604020202020204" pitchFamily="34" charset="0"/>
                    <a:ea typeface="Calibri" panose="020F0502020204030204" pitchFamily="34" charset="0"/>
                    <a:cs typeface="Arial" panose="020B0604020202020204" pitchFamily="34" charset="0"/>
                  </a:rPr>
                  <a:t>At the end of this section, you must be able to:</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0000"/>
                  </a:lnSpc>
                  <a:spcBef>
                    <a:spcPts val="0"/>
                  </a:spcBef>
                  <a:spcAft>
                    <a:spcPts val="800"/>
                  </a:spcAft>
                  <a:buFont typeface="Symbol" panose="05050102010706020507" pitchFamily="18" charset="2"/>
                  <a:buChar char=""/>
                </a:pPr>
                <a:r>
                  <a:rPr lang="en-GB" sz="1800" kern="100" dirty="0">
                    <a:effectLst/>
                    <a:latin typeface="Arial" panose="020B0604020202020204" pitchFamily="34" charset="0"/>
                    <a:ea typeface="Calibri" panose="020F0502020204030204" pitchFamily="34" charset="0"/>
                    <a:cs typeface="Arial" panose="020B0604020202020204" pitchFamily="34" charset="0"/>
                  </a:rPr>
                  <a:t>Understand and define fundamental symbols used in statistics.</a:t>
                </a:r>
              </a:p>
              <a:p>
                <a:pPr marL="342900" lvl="0" indent="-342900">
                  <a:lnSpc>
                    <a:spcPct val="100000"/>
                  </a:lnSpc>
                  <a:spcBef>
                    <a:spcPts val="0"/>
                  </a:spcBef>
                  <a:spcAft>
                    <a:spcPts val="800"/>
                  </a:spcAft>
                  <a:buFont typeface="Symbol" panose="05050102010706020507" pitchFamily="18" charset="2"/>
                  <a:buChar char=""/>
                </a:pPr>
                <a:r>
                  <a:rPr lang="en-GB" sz="1800" kern="100" dirty="0">
                    <a:effectLst/>
                    <a:latin typeface="Arial" panose="020B0604020202020204" pitchFamily="34" charset="0"/>
                    <a:ea typeface="Calibri" panose="020F0502020204030204" pitchFamily="34" charset="0"/>
                    <a:cs typeface="Arial" panose="020B0604020202020204" pitchFamily="34" charset="0"/>
                  </a:rPr>
                  <a:t>Develop the ability to read and write statistical notation fluently.</a:t>
                </a:r>
              </a:p>
              <a:p>
                <a:pPr marL="342900" lvl="0" indent="-342900">
                  <a:lnSpc>
                    <a:spcPct val="100000"/>
                  </a:lnSpc>
                  <a:spcBef>
                    <a:spcPts val="0"/>
                  </a:spcBef>
                  <a:spcAft>
                    <a:spcPts val="800"/>
                  </a:spcAft>
                  <a:buFont typeface="Symbol" panose="05050102010706020507" pitchFamily="18" charset="2"/>
                  <a:buChar char=""/>
                </a:pPr>
                <a:r>
                  <a:rPr lang="en-GB" sz="1800" kern="100" dirty="0">
                    <a:effectLst/>
                    <a:latin typeface="Arial" panose="020B0604020202020204" pitchFamily="34" charset="0"/>
                    <a:ea typeface="Calibri" panose="020F0502020204030204" pitchFamily="34" charset="0"/>
                    <a:cs typeface="Arial" panose="020B0604020202020204" pitchFamily="34" charset="0"/>
                  </a:rPr>
                  <a:t>Distinguish between population parameters </a:t>
                </a:r>
                <a14:m>
                  <m:oMath xmlns:m="http://schemas.openxmlformats.org/officeDocument/2006/math">
                    <m:r>
                      <a:rPr lang="en-GB" sz="1800" i="1" kern="100">
                        <a:effectLst/>
                        <a:latin typeface="Cambria Math" panose="02040503050406030204" pitchFamily="18" charset="0"/>
                        <a:ea typeface="Calibri" panose="020F0502020204030204" pitchFamily="34" charset="0"/>
                        <a:cs typeface="Arial" panose="020B0604020202020204" pitchFamily="34" charset="0"/>
                      </a:rPr>
                      <m:t>(</m:t>
                    </m:r>
                    <m:r>
                      <a:rPr lang="en-GB" sz="1800" i="1" kern="100">
                        <a:effectLst/>
                        <a:latin typeface="Cambria Math" panose="02040503050406030204" pitchFamily="18" charset="0"/>
                        <a:ea typeface="Calibri" panose="020F0502020204030204" pitchFamily="34" charset="0"/>
                        <a:cs typeface="Arial" panose="020B0604020202020204" pitchFamily="34" charset="0"/>
                      </a:rPr>
                      <m:t>𝜇</m:t>
                    </m:r>
                    <m:r>
                      <a:rPr lang="en-GB" sz="1800" i="1" kern="100">
                        <a:effectLst/>
                        <a:latin typeface="Cambria Math" panose="02040503050406030204" pitchFamily="18" charset="0"/>
                        <a:ea typeface="Calibri" panose="020F0502020204030204" pitchFamily="34" charset="0"/>
                        <a:cs typeface="Arial" panose="020B0604020202020204" pitchFamily="34" charset="0"/>
                      </a:rPr>
                      <m:t>,</m:t>
                    </m:r>
                    <m:r>
                      <m:rPr>
                        <m:nor/>
                      </m:rPr>
                      <a:rPr lang="en-GB" sz="1800" kern="100">
                        <a:effectLst/>
                        <a:latin typeface="Arial" panose="020B0604020202020204" pitchFamily="34" charset="0"/>
                        <a:ea typeface="Calibri" panose="020F0502020204030204" pitchFamily="34" charset="0"/>
                        <a:cs typeface="Arial" panose="020B0604020202020204" pitchFamily="34" charset="0"/>
                      </a:rPr>
                      <m:t> </m:t>
                    </m:r>
                    <m:sSup>
                      <m:sSupPr>
                        <m:ctrlPr>
                          <a:rPr lang="en-GB" sz="1800" i="1" kern="100">
                            <a:effectLst/>
                            <a:latin typeface="Cambria Math" panose="02040503050406030204" pitchFamily="18" charset="0"/>
                            <a:ea typeface="Calibri" panose="020F0502020204030204" pitchFamily="34" charset="0"/>
                            <a:cs typeface="Arial" panose="020B0604020202020204" pitchFamily="34" charset="0"/>
                          </a:rPr>
                        </m:ctrlPr>
                      </m:sSupPr>
                      <m:e>
                        <m:r>
                          <a:rPr lang="en-GB" sz="1800" i="1" kern="100">
                            <a:effectLst/>
                            <a:latin typeface="Cambria Math" panose="02040503050406030204" pitchFamily="18" charset="0"/>
                            <a:ea typeface="Calibri" panose="020F0502020204030204" pitchFamily="34" charset="0"/>
                            <a:cs typeface="Arial" panose="020B0604020202020204" pitchFamily="34" charset="0"/>
                          </a:rPr>
                          <m:t>𝜎</m:t>
                        </m:r>
                      </m:e>
                      <m:sup>
                        <m:r>
                          <a:rPr lang="en-GB" sz="1800" i="1" kern="100">
                            <a:effectLst/>
                            <a:latin typeface="Cambria Math" panose="02040503050406030204" pitchFamily="18" charset="0"/>
                            <a:ea typeface="Calibri" panose="020F0502020204030204" pitchFamily="34" charset="0"/>
                            <a:cs typeface="Arial" panose="020B0604020202020204" pitchFamily="34" charset="0"/>
                          </a:rPr>
                          <m:t>2</m:t>
                        </m:r>
                      </m:sup>
                    </m:sSup>
                    <m:r>
                      <a:rPr lang="en-GB" sz="1800" i="1" kern="100">
                        <a:effectLst/>
                        <a:latin typeface="Cambria Math" panose="02040503050406030204" pitchFamily="18" charset="0"/>
                        <a:ea typeface="Calibri" panose="020F0502020204030204" pitchFamily="34" charset="0"/>
                        <a:cs typeface="Arial" panose="020B0604020202020204" pitchFamily="34" charset="0"/>
                      </a:rPr>
                      <m:t>)</m:t>
                    </m:r>
                  </m:oMath>
                </a14:m>
                <a:r>
                  <a:rPr lang="en-GB" sz="1800" kern="100" dirty="0">
                    <a:effectLst/>
                    <a:latin typeface="Arial" panose="020B0604020202020204" pitchFamily="34" charset="0"/>
                    <a:ea typeface="Calibri" panose="020F0502020204030204" pitchFamily="34" charset="0"/>
                    <a:cs typeface="Arial" panose="020B0604020202020204" pitchFamily="34" charset="0"/>
                  </a:rPr>
                  <a:t> and sample statistics (</a:t>
                </a:r>
                <a14:m>
                  <m:oMath xmlns:m="http://schemas.openxmlformats.org/officeDocument/2006/math">
                    <m:acc>
                      <m:accPr>
                        <m:chr m:val="̅"/>
                        <m:ctrlPr>
                          <a:rPr lang="en-GB" sz="1800" i="1" kern="100">
                            <a:effectLst/>
                            <a:latin typeface="Cambria Math" panose="02040503050406030204" pitchFamily="18" charset="0"/>
                            <a:ea typeface="Calibri" panose="020F0502020204030204" pitchFamily="34" charset="0"/>
                            <a:cs typeface="Arial" panose="020B0604020202020204" pitchFamily="34" charset="0"/>
                          </a:rPr>
                        </m:ctrlPr>
                      </m:accPr>
                      <m:e>
                        <m:r>
                          <a:rPr lang="en-GB" sz="1800" i="1" kern="100">
                            <a:effectLst/>
                            <a:latin typeface="Cambria Math" panose="02040503050406030204" pitchFamily="18" charset="0"/>
                            <a:ea typeface="Calibri" panose="020F0502020204030204" pitchFamily="34" charset="0"/>
                            <a:cs typeface="Arial" panose="020B0604020202020204" pitchFamily="34" charset="0"/>
                          </a:rPr>
                          <m:t>𝑋</m:t>
                        </m:r>
                      </m:e>
                    </m:acc>
                    <m:r>
                      <a:rPr lang="en-GB" sz="1800" i="1" kern="100">
                        <a:effectLst/>
                        <a:latin typeface="Cambria Math" panose="02040503050406030204" pitchFamily="18" charset="0"/>
                        <a:ea typeface="Calibri" panose="020F0502020204030204" pitchFamily="34" charset="0"/>
                        <a:cs typeface="Arial" panose="020B0604020202020204" pitchFamily="34" charset="0"/>
                      </a:rPr>
                      <m:t>, </m:t>
                    </m:r>
                    <m:sSup>
                      <m:sSupPr>
                        <m:ctrlPr>
                          <a:rPr lang="en-GB" sz="1800" i="1" kern="100">
                            <a:effectLst/>
                            <a:latin typeface="Cambria Math" panose="02040503050406030204" pitchFamily="18" charset="0"/>
                            <a:ea typeface="Calibri" panose="020F0502020204030204" pitchFamily="34" charset="0"/>
                            <a:cs typeface="Arial" panose="020B0604020202020204" pitchFamily="34" charset="0"/>
                          </a:rPr>
                        </m:ctrlPr>
                      </m:sSupPr>
                      <m:e>
                        <m:r>
                          <a:rPr lang="en-GB" sz="1800" i="1" kern="100">
                            <a:effectLst/>
                            <a:latin typeface="Cambria Math" panose="02040503050406030204" pitchFamily="18" charset="0"/>
                            <a:ea typeface="Calibri" panose="020F0502020204030204" pitchFamily="34" charset="0"/>
                            <a:cs typeface="Arial" panose="020B0604020202020204" pitchFamily="34" charset="0"/>
                          </a:rPr>
                          <m:t>𝑠</m:t>
                        </m:r>
                      </m:e>
                      <m:sup>
                        <m:r>
                          <a:rPr lang="en-GB" sz="1800" i="1" kern="100">
                            <a:effectLst/>
                            <a:latin typeface="Cambria Math" panose="02040503050406030204" pitchFamily="18" charset="0"/>
                            <a:ea typeface="Calibri" panose="020F0502020204030204" pitchFamily="34" charset="0"/>
                            <a:cs typeface="Arial" panose="020B0604020202020204" pitchFamily="34" charset="0"/>
                          </a:rPr>
                          <m:t>2</m:t>
                        </m:r>
                      </m:sup>
                    </m:sSup>
                  </m:oMath>
                </a14:m>
                <a:r>
                  <a:rPr lang="en-GB" sz="1800" kern="100" dirty="0">
                    <a:effectLst/>
                    <a:latin typeface="Arial" panose="020B0604020202020204" pitchFamily="34" charset="0"/>
                    <a:ea typeface="Calibri" panose="020F0502020204030204" pitchFamily="34" charset="0"/>
                    <a:cs typeface="Arial" panose="020B0604020202020204" pitchFamily="34" charset="0"/>
                  </a:rPr>
                  <a:t>).</a:t>
                </a:r>
              </a:p>
              <a:p>
                <a:pPr marL="0" indent="0">
                  <a:lnSpc>
                    <a:spcPct val="100000"/>
                  </a:lnSpc>
                  <a:spcBef>
                    <a:spcPts val="0"/>
                  </a:spcBef>
                  <a:spcAft>
                    <a:spcPts val="800"/>
                  </a:spcAft>
                  <a:buNone/>
                </a:pPr>
                <a:endParaRPr lang="en-GB"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31EAABC4-BDB9-208F-593B-0569C437FC2A}"/>
                  </a:ext>
                </a:extLst>
              </p:cNvPr>
              <p:cNvSpPr>
                <a:spLocks noGrp="1" noRot="1" noChangeAspect="1" noMove="1" noResize="1" noEditPoints="1" noAdjustHandles="1" noChangeArrowheads="1" noChangeShapeType="1" noTextEdit="1"/>
              </p:cNvSpPr>
              <p:nvPr>
                <p:ph idx="1"/>
              </p:nvPr>
            </p:nvSpPr>
            <p:spPr>
              <a:blipFill>
                <a:blip r:embed="rId2"/>
                <a:stretch>
                  <a:fillRect l="-522" t="-700"/>
                </a:stretch>
              </a:blipFill>
            </p:spPr>
            <p:txBody>
              <a:bodyPr/>
              <a:lstStyle/>
              <a:p>
                <a:r>
                  <a:rPr lang="en-GB">
                    <a:noFill/>
                  </a:rPr>
                  <a:t> </a:t>
                </a:r>
              </a:p>
            </p:txBody>
          </p:sp>
        </mc:Fallback>
      </mc:AlternateContent>
    </p:spTree>
    <p:extLst>
      <p:ext uri="{BB962C8B-B14F-4D97-AF65-F5344CB8AC3E}">
        <p14:creationId xmlns:p14="http://schemas.microsoft.com/office/powerpoint/2010/main" val="1696462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533-E9A0-008C-6467-BAE7E778F74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Introduction</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FE3D6FF-5658-BF45-7F43-A3ABC6110F5C}"/>
              </a:ext>
            </a:extLst>
          </p:cNvPr>
          <p:cNvSpPr>
            <a:spLocks noGrp="1"/>
          </p:cNvSpPr>
          <p:nvPr>
            <p:ph idx="1"/>
          </p:nvPr>
        </p:nvSpPr>
        <p:spPr/>
        <p:txBody>
          <a:bodyPr/>
          <a:lstStyle/>
          <a:p>
            <a:r>
              <a:rPr lang="en-GB" sz="1800" dirty="0">
                <a:effectLst/>
                <a:latin typeface="Arial" panose="020B0604020202020204" pitchFamily="34" charset="0"/>
                <a:ea typeface="Calibri" panose="020F0502020204030204" pitchFamily="34" charset="0"/>
                <a:cs typeface="Arial" panose="020B0604020202020204" pitchFamily="34" charset="0"/>
              </a:rPr>
              <a:t>Statistics, a powerful discipline within the realm of mathematics, plays a pivotal role in transforming raw data into meaningful insights and informed decisions.</a:t>
            </a:r>
          </a:p>
          <a:p>
            <a:r>
              <a:rPr lang="en-GB" sz="1800" dirty="0">
                <a:effectLst/>
                <a:latin typeface="Arial" panose="020B0604020202020204" pitchFamily="34" charset="0"/>
                <a:ea typeface="Calibri" panose="020F0502020204030204" pitchFamily="34" charset="0"/>
                <a:cs typeface="Arial" panose="020B0604020202020204" pitchFamily="34" charset="0"/>
              </a:rPr>
              <a:t>It provides a systematic framework for collecting, organising, analysing, interpreting, presenting, and drawing conclusions from data.</a:t>
            </a:r>
            <a:endParaRPr lang="en-GB" sz="1800" dirty="0">
              <a:latin typeface="Arial" panose="020B0604020202020204" pitchFamily="34" charset="0"/>
              <a:ea typeface="Calibri" panose="020F0502020204030204" pitchFamily="34" charset="0"/>
              <a:cs typeface="Arial" panose="020B0604020202020204" pitchFamily="34" charset="0"/>
            </a:endParaRPr>
          </a:p>
          <a:p>
            <a:r>
              <a:rPr lang="en-GB" sz="1800" kern="100" dirty="0">
                <a:effectLst/>
                <a:latin typeface="Arial" panose="020B0604020202020204" pitchFamily="34" charset="0"/>
                <a:ea typeface="Calibri" panose="020F0502020204030204" pitchFamily="34" charset="0"/>
                <a:cs typeface="Arial" panose="020B0604020202020204" pitchFamily="34" charset="0"/>
              </a:rPr>
              <a:t>In essence, statistics is the science of learning from data.</a:t>
            </a:r>
          </a:p>
          <a:p>
            <a:pPr marL="0" indent="0">
              <a:buNone/>
            </a:pPr>
            <a:endParaRPr lang="en-GB" dirty="0"/>
          </a:p>
        </p:txBody>
      </p:sp>
    </p:spTree>
    <p:extLst>
      <p:ext uri="{BB962C8B-B14F-4D97-AF65-F5344CB8AC3E}">
        <p14:creationId xmlns:p14="http://schemas.microsoft.com/office/powerpoint/2010/main" val="3930045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C55B2-07E7-DFA2-51FB-5A0A2668B334}"/>
              </a:ext>
            </a:extLst>
          </p:cNvPr>
          <p:cNvSpPr>
            <a:spLocks noGrp="1"/>
          </p:cNvSpPr>
          <p:nvPr>
            <p:ph idx="1"/>
          </p:nvPr>
        </p:nvSpPr>
        <p:spPr>
          <a:xfrm>
            <a:off x="838200" y="1673353"/>
            <a:ext cx="10515600" cy="4503610"/>
          </a:xfrm>
        </p:spPr>
        <p:txBody>
          <a:bodyPr>
            <a:normAutofit/>
          </a:bodyPr>
          <a:lstStyle/>
          <a:p>
            <a:pPr marL="0" indent="0">
              <a:lnSpc>
                <a:spcPct val="100000"/>
              </a:lnSpc>
              <a:spcBef>
                <a:spcPts val="0"/>
              </a:spcBef>
              <a:spcAft>
                <a:spcPts val="800"/>
              </a:spcAft>
              <a:buNone/>
            </a:pPr>
            <a:r>
              <a:rPr lang="en-US" sz="1800" dirty="0">
                <a:latin typeface="Arial" panose="020B0604020202020204" pitchFamily="34" charset="0"/>
                <a:cs typeface="Arial" panose="020B0604020202020204" pitchFamily="34" charset="0"/>
              </a:rPr>
              <a:t>Population</a:t>
            </a:r>
            <a:r>
              <a:rPr lang="en-US" sz="1800" baseline="30000" dirty="0">
                <a:latin typeface="Arial" panose="020B0604020202020204" pitchFamily="34" charset="0"/>
                <a:cs typeface="Arial" panose="020B0604020202020204" pitchFamily="34" charset="0"/>
              </a:rPr>
              <a:t>1</a:t>
            </a:r>
            <a:r>
              <a:rPr lang="en-US" sz="1800" kern="100" dirty="0">
                <a:latin typeface="Arial" panose="020B0604020202020204" pitchFamily="34" charset="0"/>
                <a:ea typeface="Calibri" panose="020F0502020204030204" pitchFamily="34" charset="0"/>
                <a:cs typeface="Arial" panose="020B0604020202020204" pitchFamily="34" charset="0"/>
              </a:rPr>
              <a:t>: </a:t>
            </a:r>
            <a:r>
              <a:rPr lang="en-US" sz="1800" kern="100" dirty="0">
                <a:effectLst/>
                <a:latin typeface="Arial" panose="020B0604020202020204" pitchFamily="34" charset="0"/>
                <a:ea typeface="Calibri" panose="020F0502020204030204" pitchFamily="34" charset="0"/>
                <a:cs typeface="Arial" panose="020B0604020202020204" pitchFamily="34" charset="0"/>
              </a:rPr>
              <a:t>A</a:t>
            </a:r>
            <a:r>
              <a:rPr lang="en-US" sz="1800" kern="100" dirty="0">
                <a:solidFill>
                  <a:srgbClr val="FF0000"/>
                </a:solidFill>
                <a:effectLst/>
                <a:latin typeface="Arial" panose="020B0604020202020204" pitchFamily="34" charset="0"/>
                <a:ea typeface="Calibri" panose="020F0502020204030204" pitchFamily="34" charset="0"/>
                <a:cs typeface="Arial" panose="020B0604020202020204" pitchFamily="34" charset="0"/>
              </a:rPr>
              <a:t> population</a:t>
            </a:r>
            <a:r>
              <a:rPr lang="en-US" sz="1800" kern="100" dirty="0">
                <a:effectLst/>
                <a:latin typeface="Arial" panose="020B0604020202020204" pitchFamily="34" charset="0"/>
                <a:ea typeface="Calibri" panose="020F0502020204030204" pitchFamily="34" charset="0"/>
                <a:cs typeface="Arial" panose="020B0604020202020204" pitchFamily="34" charset="0"/>
              </a:rPr>
              <a:t> is any entire collection of people, animals, plants or things from which we may collect data. It is the entire group we are interested in, which we wish to describe or draw conclusions about.</a:t>
            </a: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3200" dirty="0"/>
          </a:p>
        </p:txBody>
      </p:sp>
      <p:sp>
        <p:nvSpPr>
          <p:cNvPr id="5" name="TextBox 4">
            <a:extLst>
              <a:ext uri="{FF2B5EF4-FFF2-40B4-BE49-F238E27FC236}">
                <a16:creationId xmlns:a16="http://schemas.microsoft.com/office/drawing/2014/main" id="{BBE39EDC-B879-59B4-6A39-AAE8003B3329}"/>
              </a:ext>
            </a:extLst>
          </p:cNvPr>
          <p:cNvSpPr txBox="1"/>
          <p:nvPr/>
        </p:nvSpPr>
        <p:spPr>
          <a:xfrm>
            <a:off x="64008" y="6492875"/>
            <a:ext cx="12127992" cy="369332"/>
          </a:xfrm>
          <a:prstGeom prst="rect">
            <a:avLst/>
          </a:prstGeom>
          <a:noFill/>
        </p:spPr>
        <p:txBody>
          <a:bodyPr wrap="square">
            <a:spAutoFit/>
          </a:bodyPr>
          <a:lstStyle/>
          <a:p>
            <a:pPr algn="r"/>
            <a:r>
              <a:rPr lang="en-GB" sz="1800" baseline="30000" dirty="0">
                <a:effectLst/>
                <a:latin typeface="Aptos" panose="020B0004020202020204" pitchFamily="34" charset="0"/>
                <a:ea typeface="Calibri" panose="020F0502020204030204" pitchFamily="34" charset="0"/>
                <a:cs typeface="Times New Roman" panose="02020603050405020304" pitchFamily="18" charset="0"/>
              </a:rPr>
              <a:t>1. </a:t>
            </a:r>
            <a:r>
              <a:rPr lang="en-GB" sz="1800" u="sng" baseline="30000" dirty="0">
                <a:solidFill>
                  <a:srgbClr val="0563C1"/>
                </a:solidFill>
                <a:effectLst/>
                <a:latin typeface="Aptos" panose="020B0004020202020204" pitchFamily="34" charset="0"/>
                <a:ea typeface="Calibri" panose="020F0502020204030204" pitchFamily="34" charset="0"/>
                <a:cs typeface="Times New Roman" panose="02020603050405020304" pitchFamily="18" charset="0"/>
                <a:hlinkClick r:id="rId2"/>
              </a:rPr>
              <a:t>http://www.stats.gla.ac.uk/steps/glossary/basic_definitions.html</a:t>
            </a:r>
            <a:endParaRPr lang="en-GB" dirty="0">
              <a:latin typeface="Aptos" panose="020B0004020202020204" pitchFamily="34" charset="0"/>
            </a:endParaRPr>
          </a:p>
        </p:txBody>
      </p:sp>
      <p:sp>
        <p:nvSpPr>
          <p:cNvPr id="6" name="Title 5">
            <a:extLst>
              <a:ext uri="{FF2B5EF4-FFF2-40B4-BE49-F238E27FC236}">
                <a16:creationId xmlns:a16="http://schemas.microsoft.com/office/drawing/2014/main" id="{671375B4-744A-C77A-C760-1D21B5B4B32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Population definition</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6982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C55B2-07E7-DFA2-51FB-5A0A2668B334}"/>
              </a:ext>
            </a:extLst>
          </p:cNvPr>
          <p:cNvSpPr>
            <a:spLocks noGrp="1"/>
          </p:cNvSpPr>
          <p:nvPr>
            <p:ph idx="1"/>
          </p:nvPr>
        </p:nvSpPr>
        <p:spPr>
          <a:xfrm>
            <a:off x="838200" y="1673353"/>
            <a:ext cx="10515600" cy="4503610"/>
          </a:xfrm>
        </p:spPr>
        <p:txBody>
          <a:bodyPr>
            <a:normAutofit/>
          </a:bodyPr>
          <a:lstStyle/>
          <a:p>
            <a:pPr marL="0" indent="0">
              <a:lnSpc>
                <a:spcPct val="100000"/>
              </a:lnSpc>
              <a:spcBef>
                <a:spcPts val="0"/>
              </a:spcBef>
              <a:spcAft>
                <a:spcPts val="800"/>
              </a:spcAft>
              <a:buNone/>
            </a:pPr>
            <a:r>
              <a:rPr lang="en-US" sz="1800" kern="100" dirty="0">
                <a:latin typeface="Arial" panose="020B0604020202020204" pitchFamily="34" charset="0"/>
                <a:ea typeface="Calibri" panose="020F0502020204030204" pitchFamily="34" charset="0"/>
                <a:cs typeface="Arial" panose="020B0604020202020204" pitchFamily="34" charset="0"/>
              </a:rPr>
              <a:t>Suppose an election is happening soon. We want to do a study looking at who people in the United Kingdom will vote. What is the </a:t>
            </a:r>
            <a:r>
              <a:rPr lang="en-US" sz="1800" kern="100" dirty="0">
                <a:solidFill>
                  <a:srgbClr val="FF0000"/>
                </a:solidFill>
                <a:latin typeface="Arial" panose="020B0604020202020204" pitchFamily="34" charset="0"/>
                <a:ea typeface="Calibri" panose="020F0502020204030204" pitchFamily="34" charset="0"/>
                <a:cs typeface="Arial" panose="020B0604020202020204" pitchFamily="34" charset="0"/>
              </a:rPr>
              <a:t>population</a:t>
            </a:r>
            <a:r>
              <a:rPr lang="en-US" sz="1800" kern="100" dirty="0">
                <a:latin typeface="Arial" panose="020B0604020202020204" pitchFamily="34" charset="0"/>
                <a:ea typeface="Calibri" panose="020F0502020204030204" pitchFamily="34" charset="0"/>
                <a:cs typeface="Arial" panose="020B0604020202020204" pitchFamily="34" charset="0"/>
              </a:rPr>
              <a:t> for this study?</a:t>
            </a:r>
          </a:p>
          <a:p>
            <a:pPr marL="0" indent="0">
              <a:lnSpc>
                <a:spcPct val="100000"/>
              </a:lnSpc>
              <a:spcBef>
                <a:spcPts val="0"/>
              </a:spcBef>
              <a:spcAft>
                <a:spcPts val="800"/>
              </a:spcAft>
              <a:buNone/>
            </a:pPr>
            <a:r>
              <a:rPr lang="en-US" sz="1800" u="sng" kern="100" dirty="0">
                <a:latin typeface="Arial" panose="020B0604020202020204" pitchFamily="34" charset="0"/>
                <a:ea typeface="Calibri" panose="020F0502020204030204" pitchFamily="34" charset="0"/>
                <a:cs typeface="Arial" panose="020B0604020202020204" pitchFamily="34" charset="0"/>
              </a:rPr>
              <a:t>Solution</a:t>
            </a:r>
            <a:endParaRPr lang="en-GB" sz="1800" kern="100" dirty="0">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1800" i="1" kern="100" dirty="0">
                <a:latin typeface="Arial" panose="020B0604020202020204" pitchFamily="34" charset="0"/>
                <a:ea typeface="Calibri" panose="020F0502020204030204" pitchFamily="34" charset="0"/>
                <a:cs typeface="Arial" panose="020B0604020202020204" pitchFamily="34" charset="0"/>
              </a:rPr>
              <a:t>All people who have registered to vote by the deadline.</a:t>
            </a:r>
            <a:endParaRPr lang="en-GB" sz="1800" kern="100" dirty="0">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3200" dirty="0"/>
          </a:p>
        </p:txBody>
      </p:sp>
      <p:sp>
        <p:nvSpPr>
          <p:cNvPr id="5" name="TextBox 4">
            <a:extLst>
              <a:ext uri="{FF2B5EF4-FFF2-40B4-BE49-F238E27FC236}">
                <a16:creationId xmlns:a16="http://schemas.microsoft.com/office/drawing/2014/main" id="{BBE39EDC-B879-59B4-6A39-AAE8003B3329}"/>
              </a:ext>
            </a:extLst>
          </p:cNvPr>
          <p:cNvSpPr txBox="1"/>
          <p:nvPr/>
        </p:nvSpPr>
        <p:spPr>
          <a:xfrm>
            <a:off x="64008" y="6492875"/>
            <a:ext cx="12127992" cy="369332"/>
          </a:xfrm>
          <a:prstGeom prst="rect">
            <a:avLst/>
          </a:prstGeom>
          <a:noFill/>
        </p:spPr>
        <p:txBody>
          <a:bodyPr wrap="square">
            <a:spAutoFit/>
          </a:bodyPr>
          <a:lstStyle/>
          <a:p>
            <a:pPr algn="r"/>
            <a:r>
              <a:rPr lang="en-GB" sz="1800" baseline="30000" dirty="0">
                <a:effectLst/>
                <a:latin typeface="Aptos" panose="020B0004020202020204" pitchFamily="34" charset="0"/>
                <a:ea typeface="Calibri" panose="020F0502020204030204" pitchFamily="34" charset="0"/>
                <a:cs typeface="Times New Roman" panose="02020603050405020304" pitchFamily="18" charset="0"/>
              </a:rPr>
              <a:t>1. </a:t>
            </a:r>
            <a:r>
              <a:rPr lang="en-GB" sz="1800" u="sng" baseline="30000" dirty="0">
                <a:solidFill>
                  <a:srgbClr val="0563C1"/>
                </a:solidFill>
                <a:effectLst/>
                <a:latin typeface="Aptos" panose="020B0004020202020204" pitchFamily="34" charset="0"/>
                <a:ea typeface="Calibri" panose="020F0502020204030204" pitchFamily="34" charset="0"/>
                <a:cs typeface="Times New Roman" panose="02020603050405020304" pitchFamily="18" charset="0"/>
                <a:hlinkClick r:id="rId2"/>
              </a:rPr>
              <a:t>http://www.stats.gla.ac.uk/steps/glossary/basic_definitions.html</a:t>
            </a:r>
            <a:endParaRPr lang="en-GB" dirty="0">
              <a:latin typeface="Aptos" panose="020B0004020202020204" pitchFamily="34" charset="0"/>
            </a:endParaRPr>
          </a:p>
        </p:txBody>
      </p:sp>
      <p:sp>
        <p:nvSpPr>
          <p:cNvPr id="6" name="Title 5">
            <a:extLst>
              <a:ext uri="{FF2B5EF4-FFF2-40B4-BE49-F238E27FC236}">
                <a16:creationId xmlns:a16="http://schemas.microsoft.com/office/drawing/2014/main" id="{671375B4-744A-C77A-C760-1D21B5B4B325}"/>
              </a:ext>
            </a:extLst>
          </p:cNvPr>
          <p:cNvSpPr>
            <a:spLocks noGrp="1"/>
          </p:cNvSpPr>
          <p:nvPr>
            <p:ph type="title"/>
          </p:nvPr>
        </p:nvSpPr>
        <p:spPr/>
        <p:txBody>
          <a:bodyPr/>
          <a:lstStyle/>
          <a:p>
            <a:r>
              <a:rPr lang="en-US" sz="4400" kern="100" dirty="0">
                <a:latin typeface="Arial" panose="020B0604020202020204" pitchFamily="34" charset="0"/>
                <a:ea typeface="Calibri" panose="020F0502020204030204" pitchFamily="34" charset="0"/>
                <a:cs typeface="Arial" panose="020B0604020202020204" pitchFamily="34" charset="0"/>
              </a:rPr>
              <a:t>Example 2.1</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662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08BBA3-C1B4-51DE-A0B6-ED727A493826}"/>
              </a:ext>
            </a:extLst>
          </p:cNvPr>
          <p:cNvSpPr>
            <a:spLocks noGrp="1"/>
          </p:cNvSpPr>
          <p:nvPr>
            <p:ph idx="1"/>
          </p:nvPr>
        </p:nvSpPr>
        <p:spPr/>
        <p:txBody>
          <a:bodyPr>
            <a:normAutofit/>
          </a:bodyPr>
          <a:lstStyle/>
          <a:p>
            <a:pPr marL="0" indent="0">
              <a:lnSpc>
                <a:spcPct val="110000"/>
              </a:lnSpc>
              <a:spcBef>
                <a:spcPts val="0"/>
              </a:spcBef>
              <a:spcAft>
                <a:spcPts val="800"/>
              </a:spcAft>
              <a:buNone/>
            </a:pPr>
            <a:r>
              <a:rPr lang="en-US" sz="1800" dirty="0">
                <a:latin typeface="Arial" panose="020B0604020202020204" pitchFamily="34" charset="0"/>
                <a:cs typeface="Arial" panose="020B0604020202020204" pitchFamily="34" charset="0"/>
              </a:rPr>
              <a:t>Sample</a:t>
            </a:r>
            <a:r>
              <a:rPr lang="en-US" sz="1800" baseline="30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a:t>
            </a:r>
            <a:r>
              <a:rPr lang="en-US" sz="1800" kern="100" dirty="0">
                <a:effectLst/>
                <a:latin typeface="Arial" panose="020B0604020202020204" pitchFamily="34" charset="0"/>
                <a:ea typeface="Calibri" panose="020F0502020204030204" pitchFamily="34" charset="0"/>
                <a:cs typeface="Arial" panose="020B0604020202020204" pitchFamily="34" charset="0"/>
              </a:rPr>
              <a:t>In practice, it is almost impossible to study the entire population. Thus, we need a smaller group which represents the population. We call this group a </a:t>
            </a:r>
            <a:r>
              <a:rPr lang="en-US" sz="1800" kern="100" dirty="0">
                <a:solidFill>
                  <a:srgbClr val="FF0000"/>
                </a:solidFill>
                <a:effectLst/>
                <a:latin typeface="Arial" panose="020B0604020202020204" pitchFamily="34" charset="0"/>
                <a:ea typeface="Calibri" panose="020F0502020204030204" pitchFamily="34" charset="0"/>
                <a:cs typeface="Arial" panose="020B0604020202020204" pitchFamily="34" charset="0"/>
              </a:rPr>
              <a:t>sample</a:t>
            </a:r>
            <a:r>
              <a:rPr lang="en-US" sz="1800" kern="100" dirty="0">
                <a:effectLst/>
                <a:latin typeface="Arial" panose="020B0604020202020204" pitchFamily="34" charset="0"/>
                <a:ea typeface="Calibri" panose="020F0502020204030204" pitchFamily="34" charset="0"/>
                <a:cs typeface="Arial" panose="020B0604020202020204" pitchFamily="34" charset="0"/>
              </a:rPr>
              <a:t> and define it as a group of units selected from the population. For each population there are many possible samples.</a:t>
            </a:r>
          </a:p>
          <a:p>
            <a:pPr marL="0" indent="0">
              <a:lnSpc>
                <a:spcPct val="110000"/>
              </a:lnSpc>
              <a:spcBef>
                <a:spcPts val="0"/>
              </a:spcBef>
              <a:spcAft>
                <a:spcPts val="800"/>
              </a:spcAft>
              <a:buNone/>
            </a:pPr>
            <a:r>
              <a:rPr lang="en-US" sz="1800" dirty="0">
                <a:latin typeface="Arial" panose="020B0604020202020204" pitchFamily="34" charset="0"/>
                <a:cs typeface="Arial" panose="020B0604020202020204" pitchFamily="34" charset="0"/>
              </a:rPr>
              <a:t>A sample is generally selected for study because the population is too large to study in its entirety. The sample should be representative of the population. This is often best achieved by random sampling.</a:t>
            </a:r>
            <a:endParaRPr lang="en-GB" sz="1800" dirty="0">
              <a:latin typeface="Arial" panose="020B0604020202020204" pitchFamily="34" charset="0"/>
              <a:cs typeface="Arial" panose="020B0604020202020204" pitchFamily="34" charset="0"/>
            </a:endParaRPr>
          </a:p>
          <a:p>
            <a:pPr marL="0" indent="0">
              <a:lnSpc>
                <a:spcPct val="110000"/>
              </a:lnSpc>
              <a:spcBef>
                <a:spcPts val="0"/>
              </a:spcBef>
              <a:spcAft>
                <a:spcPts val="800"/>
              </a:spcAft>
              <a:buNone/>
            </a:pPr>
            <a:r>
              <a:rPr lang="en-US" sz="1800" dirty="0">
                <a:latin typeface="Arial" panose="020B0604020202020204" pitchFamily="34" charset="0"/>
                <a:cs typeface="Arial" panose="020B0604020202020204" pitchFamily="34" charset="0"/>
              </a:rPr>
              <a:t>It is important that the researcher/investigator has a complete and precise definition of the population before collecting the sample, including a description of the members to be included.</a:t>
            </a:r>
            <a:endParaRPr lang="en-US" sz="1800" kern="100" dirty="0">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sz="2000" kern="100" dirty="0">
              <a:effectLst/>
              <a:latin typeface="Aptos" panose="020B0004020202020204" pitchFamily="34" charset="0"/>
              <a:ea typeface="Calibri" panose="020F0502020204030204" pitchFamily="34" charset="0"/>
              <a:cs typeface="Times New Roman" panose="02020603050405020304" pitchFamily="18" charset="0"/>
            </a:endParaRPr>
          </a:p>
          <a:p>
            <a:endParaRPr lang="en-GB" dirty="0"/>
          </a:p>
        </p:txBody>
      </p:sp>
      <p:sp>
        <p:nvSpPr>
          <p:cNvPr id="5" name="TextBox 4">
            <a:extLst>
              <a:ext uri="{FF2B5EF4-FFF2-40B4-BE49-F238E27FC236}">
                <a16:creationId xmlns:a16="http://schemas.microsoft.com/office/drawing/2014/main" id="{16776FC9-E305-09F4-6BD3-CB6A7D82E403}"/>
              </a:ext>
            </a:extLst>
          </p:cNvPr>
          <p:cNvSpPr txBox="1"/>
          <p:nvPr/>
        </p:nvSpPr>
        <p:spPr>
          <a:xfrm>
            <a:off x="0" y="6492875"/>
            <a:ext cx="12192000" cy="369332"/>
          </a:xfrm>
          <a:prstGeom prst="rect">
            <a:avLst/>
          </a:prstGeom>
          <a:noFill/>
        </p:spPr>
        <p:txBody>
          <a:bodyPr wrap="square">
            <a:spAutoFit/>
          </a:bodyPr>
          <a:lstStyle/>
          <a:p>
            <a:pPr algn="r"/>
            <a:r>
              <a:rPr lang="en-GB" sz="1800" baseline="30000" dirty="0">
                <a:effectLst/>
                <a:latin typeface="Aptos" panose="020B0004020202020204" pitchFamily="34" charset="0"/>
                <a:ea typeface="Calibri" panose="020F0502020204030204" pitchFamily="34" charset="0"/>
                <a:cs typeface="Times New Roman" panose="02020603050405020304" pitchFamily="18" charset="0"/>
              </a:rPr>
              <a:t>2. </a:t>
            </a:r>
            <a:r>
              <a:rPr lang="en-GB" sz="1800" u="sng" baseline="30000" dirty="0">
                <a:solidFill>
                  <a:srgbClr val="0563C1"/>
                </a:solidFill>
                <a:effectLst/>
                <a:latin typeface="Aptos" panose="020B0004020202020204" pitchFamily="34" charset="0"/>
                <a:ea typeface="Calibri" panose="020F0502020204030204" pitchFamily="34" charset="0"/>
                <a:cs typeface="Times New Roman" panose="02020603050405020304" pitchFamily="18" charset="0"/>
                <a:hlinkClick r:id="rId2"/>
              </a:rPr>
              <a:t>http://www.stats.gla.ac.uk/steps/glossary/basic_definitions.html</a:t>
            </a:r>
            <a:endParaRPr lang="en-GB" dirty="0">
              <a:latin typeface="Aptos" panose="020B0004020202020204" pitchFamily="34" charset="0"/>
            </a:endParaRPr>
          </a:p>
        </p:txBody>
      </p:sp>
      <p:sp>
        <p:nvSpPr>
          <p:cNvPr id="4" name="Title 5">
            <a:extLst>
              <a:ext uri="{FF2B5EF4-FFF2-40B4-BE49-F238E27FC236}">
                <a16:creationId xmlns:a16="http://schemas.microsoft.com/office/drawing/2014/main" id="{350D4954-C1CD-8CD1-C44A-22AE54268A2D}"/>
              </a:ext>
            </a:extLst>
          </p:cNvPr>
          <p:cNvSpPr>
            <a:spLocks noGrp="1"/>
          </p:cNvSpPr>
          <p:nvPr>
            <p:ph type="title"/>
          </p:nvPr>
        </p:nvSpPr>
        <p:spPr>
          <a:xfrm>
            <a:off x="838200" y="365125"/>
            <a:ext cx="10515600" cy="1325563"/>
          </a:xfrm>
        </p:spPr>
        <p:txBody>
          <a:bodyPr/>
          <a:lstStyle/>
          <a:p>
            <a:r>
              <a:rPr lang="en-US" dirty="0">
                <a:latin typeface="Arial" panose="020B0604020202020204" pitchFamily="34" charset="0"/>
                <a:cs typeface="Arial" panose="020B0604020202020204" pitchFamily="34" charset="0"/>
              </a:rPr>
              <a:t>Sample definition</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4925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CB45-252D-64EB-0687-EB17FA779530}"/>
              </a:ext>
            </a:extLst>
          </p:cNvPr>
          <p:cNvSpPr>
            <a:spLocks noGrp="1"/>
          </p:cNvSpPr>
          <p:nvPr>
            <p:ph type="title"/>
          </p:nvPr>
        </p:nvSpPr>
        <p:spPr/>
        <p:txBody>
          <a:bodyPr/>
          <a:lstStyle/>
          <a:p>
            <a:r>
              <a:rPr lang="en-US" sz="4400" kern="100" dirty="0">
                <a:effectLst/>
                <a:latin typeface="Arial" panose="020B0604020202020204" pitchFamily="34" charset="0"/>
                <a:ea typeface="Calibri" panose="020F0502020204030204" pitchFamily="34" charset="0"/>
                <a:cs typeface="Arial" panose="020B0604020202020204" pitchFamily="34" charset="0"/>
              </a:rPr>
              <a:t>Ex</a:t>
            </a:r>
            <a:r>
              <a:rPr lang="en-US" sz="44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ample 2.2.</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14BE3B7-CA30-C256-35AA-3E9C5C852E8E}"/>
              </a:ext>
            </a:extLst>
          </p:cNvPr>
          <p:cNvSpPr>
            <a:spLocks noGrp="1"/>
          </p:cNvSpPr>
          <p:nvPr>
            <p:ph idx="1"/>
          </p:nvPr>
        </p:nvSpPr>
        <p:spPr/>
        <p:txBody>
          <a:bodyPr/>
          <a:lstStyle/>
          <a:p>
            <a:pPr marL="0" indent="0">
              <a:lnSpc>
                <a:spcPct val="100000"/>
              </a:lnSpc>
              <a:spcBef>
                <a:spcPts val="0"/>
              </a:spcBef>
              <a:spcAft>
                <a:spcPts val="800"/>
              </a:spcAft>
              <a:buNone/>
            </a:pPr>
            <a:r>
              <a:rPr lang="en-US"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All registered voters in Nottingham can be considered as a sample from the population for the study described in Example 2.1. Is this a good sample?</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1800" u="sng" kern="100" dirty="0">
                <a:effectLst/>
                <a:latin typeface="Arial" panose="020B0604020202020204" pitchFamily="34" charset="0"/>
                <a:ea typeface="Calibri" panose="020F0502020204030204" pitchFamily="34" charset="0"/>
                <a:cs typeface="Arial" panose="020B0604020202020204" pitchFamily="34" charset="0"/>
              </a:rPr>
              <a:t>Solution</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1800" kern="100" dirty="0">
                <a:effectLst/>
                <a:latin typeface="Arial" panose="020B0604020202020204" pitchFamily="34" charset="0"/>
                <a:ea typeface="Calibri" panose="020F0502020204030204" pitchFamily="34" charset="0"/>
                <a:cs typeface="Arial" panose="020B0604020202020204" pitchFamily="34" charset="0"/>
              </a:rPr>
              <a:t>Not really. Nottingham doesn’t represent the UK as a whole. (Nobody registered to vote in Nottingham will be voting SNP or Plaid Cymru!)</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27345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F8FE95-22E2-0705-CBE2-38C6E5EAB502}"/>
              </a:ext>
            </a:extLst>
          </p:cNvPr>
          <p:cNvSpPr>
            <a:spLocks noGrp="1"/>
          </p:cNvSpPr>
          <p:nvPr>
            <p:ph idx="1"/>
          </p:nvPr>
        </p:nvSpPr>
        <p:spPr>
          <a:xfrm>
            <a:off x="838200" y="1764791"/>
            <a:ext cx="10515600" cy="3511297"/>
          </a:xfrm>
        </p:spPr>
        <p:txBody>
          <a:bodyPr>
            <a:normAutofit/>
          </a:bodyPr>
          <a:lstStyle/>
          <a:p>
            <a:pPr marL="0" indent="0">
              <a:lnSpc>
                <a:spcPct val="100000"/>
              </a:lnSpc>
              <a:spcBef>
                <a:spcPts val="0"/>
              </a:spcBef>
              <a:spcAft>
                <a:spcPts val="800"/>
              </a:spcAft>
              <a:buNone/>
            </a:pPr>
            <a:r>
              <a:rPr lang="en-US" sz="1800" kern="100" dirty="0">
                <a:effectLst/>
                <a:latin typeface="Arial" panose="020B0604020202020204" pitchFamily="34" charset="0"/>
                <a:ea typeface="Calibri" panose="020F0502020204030204" pitchFamily="34" charset="0"/>
                <a:cs typeface="Arial" panose="020B0604020202020204" pitchFamily="34" charset="0"/>
              </a:rPr>
              <a:t>An investigator is interested in the crime rate in different areas of Nottingham. To identify areas for their study, they use Nottingham postcodes (see </a:t>
            </a:r>
            <a:r>
              <a:rPr lang="en-US"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2"/>
              </a:rPr>
              <a:t>http://en.wikipedia.org/wiki/NG_postcode_area</a:t>
            </a:r>
            <a:r>
              <a:rPr lang="en-US" sz="1800" kern="100" dirty="0">
                <a:effectLst/>
                <a:latin typeface="Arial" panose="020B0604020202020204" pitchFamily="34" charset="0"/>
                <a:ea typeface="Calibri" panose="020F0502020204030204" pitchFamily="34" charset="0"/>
                <a:cs typeface="Arial" panose="020B0604020202020204" pitchFamily="34" charset="0"/>
              </a:rPr>
              <a:t>). They decide to make their conclusion based on the 5 selected postcodes from all NG postcodes sorted alphabetically. Therefore,</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solidFill>
                  <a:srgbClr val="FF0000"/>
                </a:solidFill>
                <a:effectLst/>
                <a:latin typeface="Arial" panose="020B0604020202020204" pitchFamily="34" charset="0"/>
                <a:ea typeface="Calibri" panose="020F0502020204030204" pitchFamily="34" charset="0"/>
                <a:cs typeface="Arial" panose="020B0604020202020204" pitchFamily="34" charset="0"/>
              </a:rPr>
              <a:t>Population of interest </a:t>
            </a:r>
            <a:r>
              <a:rPr lang="en-US" sz="1800" kern="100" dirty="0">
                <a:effectLst/>
                <a:latin typeface="Arial" panose="020B0604020202020204" pitchFamily="34" charset="0"/>
                <a:ea typeface="Calibri" panose="020F0502020204030204" pitchFamily="34" charset="0"/>
                <a:cs typeface="Arial" panose="020B0604020202020204" pitchFamily="34" charset="0"/>
              </a:rPr>
              <a:t>– Every postcode in the list</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solidFill>
                  <a:srgbClr val="FF0000"/>
                </a:solidFill>
                <a:effectLst/>
                <a:latin typeface="Arial" panose="020B0604020202020204" pitchFamily="34" charset="0"/>
                <a:ea typeface="Calibri" panose="020F0502020204030204" pitchFamily="34" charset="0"/>
                <a:cs typeface="Arial" panose="020B0604020202020204" pitchFamily="34" charset="0"/>
              </a:rPr>
              <a:t>Sample</a:t>
            </a:r>
            <a:r>
              <a:rPr lang="en-US" sz="1800" kern="100" dirty="0">
                <a:effectLst/>
                <a:latin typeface="Arial" panose="020B0604020202020204" pitchFamily="34" charset="0"/>
                <a:ea typeface="Calibri" panose="020F0502020204030204" pitchFamily="34" charset="0"/>
                <a:cs typeface="Arial" panose="020B0604020202020204" pitchFamily="34" charset="0"/>
              </a:rPr>
              <a:t> – NG1, NG2 NG3, NG4 and NG5</a:t>
            </a:r>
            <a:endParaRPr lang="en-US" sz="1800" i="1" kern="1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1800" i="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Criticisms of the study </a:t>
            </a:r>
            <a:r>
              <a:rPr lang="en-US" sz="1800" i="1" kern="100" dirty="0">
                <a:effectLst/>
                <a:latin typeface="Arial" panose="020B0604020202020204" pitchFamily="34" charset="0"/>
                <a:ea typeface="Calibri" panose="020F0502020204030204" pitchFamily="34" charset="0"/>
                <a:cs typeface="Arial" panose="020B0604020202020204" pitchFamily="34" charset="0"/>
              </a:rPr>
              <a:t>– Doesn’t represent the entire area. NG1-5 postcodes are all close to Nottingham city </a:t>
            </a:r>
            <a:r>
              <a:rPr lang="en-US" sz="1800" i="1" kern="100" dirty="0" err="1">
                <a:effectLst/>
                <a:latin typeface="Arial" panose="020B0604020202020204" pitchFamily="34" charset="0"/>
                <a:ea typeface="Calibri" panose="020F0502020204030204" pitchFamily="34" charset="0"/>
                <a:cs typeface="Arial" panose="020B0604020202020204" pitchFamily="34" charset="0"/>
              </a:rPr>
              <a:t>centre</a:t>
            </a:r>
            <a:r>
              <a:rPr lang="en-US" sz="1800" i="1" kern="100" dirty="0">
                <a:effectLst/>
                <a:latin typeface="Arial" panose="020B0604020202020204" pitchFamily="34" charset="0"/>
                <a:ea typeface="Calibri" panose="020F0502020204030204" pitchFamily="34" charset="0"/>
                <a:cs typeface="Arial" panose="020B0604020202020204" pitchFamily="34" charset="0"/>
              </a:rPr>
              <a:t> but the NG postcode region includes very different areas.</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endParaRPr lang="en-GB" dirty="0"/>
          </a:p>
        </p:txBody>
      </p:sp>
      <p:sp>
        <p:nvSpPr>
          <p:cNvPr id="2" name="Title 1">
            <a:extLst>
              <a:ext uri="{FF2B5EF4-FFF2-40B4-BE49-F238E27FC236}">
                <a16:creationId xmlns:a16="http://schemas.microsoft.com/office/drawing/2014/main" id="{3DA0C761-C1F7-5552-79B2-B17A8AF9DB28}"/>
              </a:ext>
            </a:extLst>
          </p:cNvPr>
          <p:cNvSpPr>
            <a:spLocks noGrp="1"/>
          </p:cNvSpPr>
          <p:nvPr>
            <p:ph type="title"/>
          </p:nvPr>
        </p:nvSpPr>
        <p:spPr>
          <a:xfrm>
            <a:off x="838200" y="365125"/>
            <a:ext cx="10515600" cy="1325563"/>
          </a:xfrm>
        </p:spPr>
        <p:txBody>
          <a:bodyPr/>
          <a:lstStyle/>
          <a:p>
            <a:r>
              <a:rPr lang="en-US" sz="4400" kern="100" dirty="0">
                <a:effectLst/>
                <a:latin typeface="Arial" panose="020B0604020202020204" pitchFamily="34" charset="0"/>
                <a:ea typeface="Calibri" panose="020F0502020204030204" pitchFamily="34" charset="0"/>
                <a:cs typeface="Arial" panose="020B0604020202020204" pitchFamily="34" charset="0"/>
              </a:rPr>
              <a:t>Example 2.3.</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8066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972BC-A5DC-28CB-A2FC-2B11F595654F}"/>
              </a:ext>
            </a:extLst>
          </p:cNvPr>
          <p:cNvSpPr>
            <a:spLocks noGrp="1"/>
          </p:cNvSpPr>
          <p:nvPr>
            <p:ph type="title"/>
          </p:nvPr>
        </p:nvSpPr>
        <p:spPr/>
        <p:txBody>
          <a:bodyPr>
            <a:normAutofit/>
          </a:bodyPr>
          <a:lstStyle/>
          <a:p>
            <a:r>
              <a:rPr lang="en-US" dirty="0">
                <a:effectLst/>
                <a:latin typeface="Arial" panose="020B0604020202020204" pitchFamily="34" charset="0"/>
                <a:ea typeface="Calibri" panose="020F0502020204030204" pitchFamily="34" charset="0"/>
                <a:cs typeface="Arial" panose="020B0604020202020204" pitchFamily="34" charset="0"/>
              </a:rPr>
              <a:t>Parameters</a:t>
            </a:r>
            <a:r>
              <a:rPr lang="en-US" baseline="30000" dirty="0">
                <a:effectLst/>
                <a:latin typeface="Arial" panose="020B0604020202020204" pitchFamily="34" charset="0"/>
                <a:ea typeface="Calibri" panose="020F0502020204030204" pitchFamily="34" charset="0"/>
                <a:cs typeface="Arial" panose="020B0604020202020204" pitchFamily="34" charset="0"/>
              </a:rPr>
              <a:t>3</a:t>
            </a:r>
            <a:r>
              <a:rPr lang="en-US" dirty="0">
                <a:effectLst/>
                <a:latin typeface="Arial" panose="020B0604020202020204" pitchFamily="34" charset="0"/>
                <a:ea typeface="Calibri" panose="020F0502020204030204" pitchFamily="34" charset="0"/>
                <a:cs typeface="Arial" panose="020B0604020202020204" pitchFamily="34" charset="0"/>
              </a:rPr>
              <a:t> and Statistics</a:t>
            </a:r>
            <a:r>
              <a:rPr lang="en-US" baseline="30000" dirty="0">
                <a:effectLst/>
                <a:latin typeface="Arial" panose="020B0604020202020204" pitchFamily="34" charset="0"/>
                <a:ea typeface="Calibri" panose="020F0502020204030204" pitchFamily="34" charset="0"/>
                <a:cs typeface="Arial" panose="020B0604020202020204" pitchFamily="34" charset="0"/>
              </a:rPr>
              <a:t>4 </a:t>
            </a:r>
            <a:r>
              <a:rPr lang="en-US" dirty="0">
                <a:effectLst/>
                <a:latin typeface="Arial" panose="020B0604020202020204" pitchFamily="34" charset="0"/>
                <a:ea typeface="Calibri" panose="020F0502020204030204" pitchFamily="34" charset="0"/>
                <a:cs typeface="Arial" panose="020B0604020202020204" pitchFamily="34" charset="0"/>
              </a:rPr>
              <a:t>definitions</a:t>
            </a:r>
            <a:endParaRPr lang="en-GB" kern="100" baseline="30000" dirty="0">
              <a:effectLst/>
              <a:latin typeface="Arial" panose="020B0604020202020204" pitchFamily="34" charset="0"/>
              <a:ea typeface="Calibri" panose="020F050202020403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E5F7A3F-369C-0499-4D5E-02AEF12D2D3E}"/>
              </a:ext>
            </a:extLst>
          </p:cNvPr>
          <p:cNvSpPr>
            <a:spLocks noGrp="1"/>
          </p:cNvSpPr>
          <p:nvPr>
            <p:ph idx="1"/>
          </p:nvPr>
        </p:nvSpPr>
        <p:spPr/>
        <p:txBody>
          <a:bodyPr>
            <a:normAutofit/>
          </a:bodyPr>
          <a:lstStyle/>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A </a:t>
            </a:r>
            <a:r>
              <a:rPr lang="en-US" sz="1800" kern="100" dirty="0">
                <a:solidFill>
                  <a:srgbClr val="FF0000"/>
                </a:solidFill>
                <a:effectLst/>
                <a:latin typeface="Arial" panose="020B0604020202020204" pitchFamily="34" charset="0"/>
                <a:ea typeface="Calibri" panose="020F0502020204030204" pitchFamily="34" charset="0"/>
                <a:cs typeface="Arial" panose="020B0604020202020204" pitchFamily="34" charset="0"/>
              </a:rPr>
              <a:t>parameter</a:t>
            </a:r>
            <a:r>
              <a:rPr lang="en-US" sz="1800" kern="100" dirty="0">
                <a:effectLst/>
                <a:latin typeface="Arial" panose="020B0604020202020204" pitchFamily="34" charset="0"/>
                <a:ea typeface="Calibri" panose="020F0502020204030204" pitchFamily="34" charset="0"/>
                <a:cs typeface="Arial" panose="020B0604020202020204" pitchFamily="34" charset="0"/>
              </a:rPr>
              <a:t> is usually an unknown value (and which therefore must be estimated), used to represent a certain population characteristic. For example, the population mean is a parameter that is often used to indicate the average value of a quantity.</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A </a:t>
            </a:r>
            <a:r>
              <a:rPr lang="en-US" sz="1800" kern="100" dirty="0">
                <a:solidFill>
                  <a:srgbClr val="FF0000"/>
                </a:solidFill>
                <a:effectLst/>
                <a:latin typeface="Arial" panose="020B0604020202020204" pitchFamily="34" charset="0"/>
                <a:ea typeface="Calibri" panose="020F0502020204030204" pitchFamily="34" charset="0"/>
                <a:cs typeface="Arial" panose="020B0604020202020204" pitchFamily="34" charset="0"/>
              </a:rPr>
              <a:t>statistic</a:t>
            </a:r>
            <a:r>
              <a:rPr lang="en-US" sz="1800" kern="100" dirty="0">
                <a:effectLst/>
                <a:latin typeface="Arial" panose="020B0604020202020204" pitchFamily="34" charset="0"/>
                <a:ea typeface="Calibri" panose="020F0502020204030204" pitchFamily="34" charset="0"/>
                <a:cs typeface="Arial" panose="020B0604020202020204" pitchFamily="34" charset="0"/>
              </a:rPr>
              <a:t> is a quantity that is calculated from a sample of data. It is used to give information about unknown parameters in the corresponding population. For example, the average of the data in a sample is used to give information about the overall average in the population from which that sample was drawn.</a:t>
            </a:r>
          </a:p>
        </p:txBody>
      </p:sp>
      <p:sp>
        <p:nvSpPr>
          <p:cNvPr id="7" name="TextBox 6">
            <a:extLst>
              <a:ext uri="{FF2B5EF4-FFF2-40B4-BE49-F238E27FC236}">
                <a16:creationId xmlns:a16="http://schemas.microsoft.com/office/drawing/2014/main" id="{57A05B50-35BD-0FEA-79B4-D11F65DADF8C}"/>
              </a:ext>
            </a:extLst>
          </p:cNvPr>
          <p:cNvSpPr txBox="1"/>
          <p:nvPr/>
        </p:nvSpPr>
        <p:spPr>
          <a:xfrm>
            <a:off x="0" y="6374701"/>
            <a:ext cx="12192000" cy="461665"/>
          </a:xfrm>
          <a:prstGeom prst="rect">
            <a:avLst/>
          </a:prstGeom>
          <a:noFill/>
        </p:spPr>
        <p:txBody>
          <a:bodyPr wrap="square">
            <a:spAutoFit/>
          </a:bodyPr>
          <a:lstStyle/>
          <a:p>
            <a:pPr algn="r"/>
            <a:r>
              <a:rPr lang="en-GB" kern="100" baseline="30000" dirty="0">
                <a:latin typeface="Aptos" panose="020B000402020202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3. </a:t>
            </a:r>
            <a:r>
              <a:rPr lang="en-GB" u="sng" kern="100" baseline="30000" dirty="0">
                <a:solidFill>
                  <a:srgbClr val="0563C1"/>
                </a:solidFill>
                <a:effectLst/>
                <a:latin typeface="Aptos" panose="020B000402020202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http://www.stats.gla.ac.uk/steps/glossary/basic_definitions.html#param</a:t>
            </a:r>
            <a:endParaRPr lang="en-GB" kern="100" baseline="30000" dirty="0">
              <a:effectLst/>
              <a:latin typeface="Aptos" panose="020B0004020202020204" pitchFamily="34" charset="0"/>
              <a:ea typeface="Calibri" panose="020F0502020204030204" pitchFamily="34" charset="0"/>
              <a:cs typeface="Times New Roman" panose="02020603050405020304" pitchFamily="18" charset="0"/>
            </a:endParaRPr>
          </a:p>
          <a:p>
            <a:pPr algn="r"/>
            <a:r>
              <a:rPr lang="en-GB" sz="1200" dirty="0">
                <a:effectLst/>
                <a:latin typeface="Aptos" panose="020B000402020202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4. </a:t>
            </a:r>
            <a:r>
              <a:rPr lang="en-GB" sz="1200" u="sng" dirty="0">
                <a:solidFill>
                  <a:srgbClr val="0563C1"/>
                </a:solidFill>
                <a:effectLst/>
                <a:latin typeface="Aptos" panose="020B000402020202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http://www.stats.gla.ac.uk/steps/glossary/basic_definitions.html#stat</a:t>
            </a:r>
            <a:endParaRPr lang="en-GB" sz="1200" dirty="0">
              <a:latin typeface="Aptos" panose="020B0004020202020204" pitchFamily="34" charset="0"/>
            </a:endParaRPr>
          </a:p>
        </p:txBody>
      </p:sp>
    </p:spTree>
    <p:extLst>
      <p:ext uri="{BB962C8B-B14F-4D97-AF65-F5344CB8AC3E}">
        <p14:creationId xmlns:p14="http://schemas.microsoft.com/office/powerpoint/2010/main" val="4025565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972BC-A5DC-28CB-A2FC-2B11F595654F}"/>
              </a:ext>
            </a:extLst>
          </p:cNvPr>
          <p:cNvSpPr>
            <a:spLocks noGrp="1"/>
          </p:cNvSpPr>
          <p:nvPr>
            <p:ph type="title"/>
          </p:nvPr>
        </p:nvSpPr>
        <p:spPr/>
        <p:txBody>
          <a:bodyPr>
            <a:normAutofit/>
          </a:bodyPr>
          <a:lstStyle/>
          <a:p>
            <a:r>
              <a:rPr lang="en-US" sz="4400" kern="100" dirty="0">
                <a:latin typeface="Arial" panose="020B0604020202020204" pitchFamily="34" charset="0"/>
                <a:ea typeface="Calibri" panose="020F0502020204030204" pitchFamily="34" charset="0"/>
                <a:cs typeface="Arial" panose="020B0604020202020204" pitchFamily="34" charset="0"/>
              </a:rPr>
              <a:t>Example 2.4.</a:t>
            </a:r>
            <a:endParaRPr lang="en-GB" kern="100" baseline="30000" dirty="0">
              <a:effectLst/>
              <a:latin typeface="Arial" panose="020B0604020202020204" pitchFamily="34" charset="0"/>
              <a:ea typeface="Calibri" panose="020F050202020403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E5F7A3F-369C-0499-4D5E-02AEF12D2D3E}"/>
              </a:ext>
            </a:extLst>
          </p:cNvPr>
          <p:cNvSpPr>
            <a:spLocks noGrp="1"/>
          </p:cNvSpPr>
          <p:nvPr>
            <p:ph idx="1"/>
          </p:nvPr>
        </p:nvSpPr>
        <p:spPr/>
        <p:txBody>
          <a:bodyPr>
            <a:normAutofit/>
          </a:bodyPr>
          <a:lstStyle/>
          <a:p>
            <a:pPr marL="0" indent="0">
              <a:lnSpc>
                <a:spcPct val="100000"/>
              </a:lnSpc>
              <a:spcBef>
                <a:spcPts val="0"/>
              </a:spcBef>
              <a:spcAft>
                <a:spcPts val="800"/>
              </a:spcAft>
              <a:buNone/>
            </a:pPr>
            <a:r>
              <a:rPr lang="en-US" sz="2100" kern="100" dirty="0">
                <a:latin typeface="Arial" panose="020B0604020202020204" pitchFamily="34" charset="0"/>
                <a:ea typeface="Calibri" panose="020F0502020204030204" pitchFamily="34" charset="0"/>
                <a:cs typeface="Arial" panose="020B0604020202020204" pitchFamily="34" charset="0"/>
              </a:rPr>
              <a:t>Suppose we want to know what percentage of people in the UK are over 180cm tall. We have a sample of 1000 people from the UK available.</a:t>
            </a:r>
            <a:endParaRPr lang="en-GB" sz="2100" kern="100" dirty="0">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2100" kern="100" dirty="0">
                <a:solidFill>
                  <a:srgbClr val="FF0000"/>
                </a:solidFill>
                <a:latin typeface="Arial" panose="020B0604020202020204" pitchFamily="34" charset="0"/>
                <a:ea typeface="Calibri" panose="020F0502020204030204" pitchFamily="34" charset="0"/>
                <a:cs typeface="Arial" panose="020B0604020202020204" pitchFamily="34" charset="0"/>
              </a:rPr>
              <a:t>Parameter of interest </a:t>
            </a:r>
            <a:r>
              <a:rPr lang="en-US" sz="2100" kern="100" dirty="0">
                <a:latin typeface="Arial" panose="020B0604020202020204" pitchFamily="34" charset="0"/>
                <a:ea typeface="Calibri" panose="020F0502020204030204" pitchFamily="34" charset="0"/>
                <a:cs typeface="Arial" panose="020B0604020202020204" pitchFamily="34" charset="0"/>
              </a:rPr>
              <a:t>- The percentage of people in the population over 180cm tall in the UK.</a:t>
            </a:r>
            <a:endParaRPr lang="en-GB" sz="2100" kern="100" dirty="0">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2100" kern="100" dirty="0">
                <a:solidFill>
                  <a:srgbClr val="FF0000"/>
                </a:solidFill>
                <a:latin typeface="Arial" panose="020B0604020202020204" pitchFamily="34" charset="0"/>
                <a:ea typeface="Calibri" panose="020F0502020204030204" pitchFamily="34" charset="0"/>
                <a:cs typeface="Arial" panose="020B0604020202020204" pitchFamily="34" charset="0"/>
              </a:rPr>
              <a:t>Statistic of interest</a:t>
            </a:r>
            <a:r>
              <a:rPr lang="en-US" sz="2100" kern="100" dirty="0">
                <a:latin typeface="Arial" panose="020B0604020202020204" pitchFamily="34" charset="0"/>
                <a:ea typeface="Calibri" panose="020F0502020204030204" pitchFamily="34" charset="0"/>
                <a:cs typeface="Arial" panose="020B0604020202020204" pitchFamily="34" charset="0"/>
              </a:rPr>
              <a:t> - The percentage of people over 180cm in the sample is a statistic that we could use to estimate our parameter of interest.</a:t>
            </a:r>
            <a:endParaRPr lang="en-GB" sz="2100" kern="100" dirty="0">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dirty="0"/>
          </a:p>
        </p:txBody>
      </p:sp>
    </p:spTree>
    <p:extLst>
      <p:ext uri="{BB962C8B-B14F-4D97-AF65-F5344CB8AC3E}">
        <p14:creationId xmlns:p14="http://schemas.microsoft.com/office/powerpoint/2010/main" val="22839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1AEBB-F41D-BA4B-3B57-199F8E81448C}"/>
              </a:ext>
            </a:extLst>
          </p:cNvPr>
          <p:cNvSpPr>
            <a:spLocks noGrp="1"/>
          </p:cNvSpPr>
          <p:nvPr>
            <p:ph type="title"/>
          </p:nvPr>
        </p:nvSpPr>
        <p:spPr/>
        <p:txBody>
          <a:bodyPr/>
          <a:lstStyle/>
          <a:p>
            <a:r>
              <a:rPr lang="en-GB" dirty="0">
                <a:latin typeface="Arial" panose="020B0604020202020204" pitchFamily="34" charset="0"/>
                <a:cs typeface="Arial" panose="020B0604020202020204" pitchFamily="34" charset="0"/>
              </a:rPr>
              <a:t>Population and sample 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B4A3F-8074-00D1-BDA3-252641E82291}"/>
                  </a:ext>
                </a:extLst>
              </p:cNvPr>
              <p:cNvSpPr>
                <a:spLocks noGrp="1"/>
              </p:cNvSpPr>
              <p:nvPr>
                <p:ph idx="1"/>
              </p:nvPr>
            </p:nvSpPr>
            <p:spPr/>
            <p:txBody>
              <a:bodyPr>
                <a:normAutofit/>
              </a:bodyPr>
              <a:lstStyle/>
              <a:p>
                <a:pPr>
                  <a:lnSpc>
                    <a:spcPct val="100000"/>
                  </a:lnSpc>
                  <a:spcBef>
                    <a:spcPts val="0"/>
                  </a:spcBef>
                  <a:spcAft>
                    <a:spcPts val="800"/>
                  </a:spcAft>
                </a:pPr>
                <a:r>
                  <a:rPr lang="en-GB" sz="1800" dirty="0">
                    <a:latin typeface="Arial" panose="020B0604020202020204" pitchFamily="34" charset="0"/>
                    <a:cs typeface="Arial" panose="020B0604020202020204" pitchFamily="34" charset="0"/>
                  </a:rPr>
                  <a:t>Population parameters</a:t>
                </a:r>
              </a:p>
              <a:p>
                <a:pPr lvl="1">
                  <a:lnSpc>
                    <a:spcPct val="100000"/>
                  </a:lnSpc>
                  <a:spcBef>
                    <a:spcPts val="0"/>
                  </a:spcBef>
                  <a:spcAft>
                    <a:spcPts val="800"/>
                  </a:spcAft>
                  <a:buFont typeface="Courier New" panose="02070309020205020404" pitchFamily="49" charset="0"/>
                  <a:buChar char="o"/>
                </a:pPr>
                <a14:m>
                  <m:oMath xmlns:m="http://schemas.openxmlformats.org/officeDocument/2006/math">
                    <m:r>
                      <a:rPr lang="en-GB" sz="1800" i="1" smtClean="0">
                        <a:effectLst/>
                        <a:latin typeface="Cambria Math" panose="02040503050406030204" pitchFamily="18" charset="0"/>
                        <a:ea typeface="Calibri" panose="020F0502020204030204" pitchFamily="34" charset="0"/>
                        <a:cs typeface="Times New Roman" panose="02020603050405020304" pitchFamily="18" charset="0"/>
                      </a:rPr>
                      <m:t>𝜇</m:t>
                    </m:r>
                  </m:oMath>
                </a14:m>
                <a:r>
                  <a:rPr lang="en-GB" sz="1800" dirty="0">
                    <a:latin typeface="Arial" panose="020B0604020202020204" pitchFamily="34" charset="0"/>
                    <a:cs typeface="Arial" panose="020B0604020202020204" pitchFamily="34" charset="0"/>
                  </a:rPr>
                  <a:t> (mu): Population mean</a:t>
                </a:r>
              </a:p>
              <a:p>
                <a:pPr lvl="1">
                  <a:lnSpc>
                    <a:spcPct val="100000"/>
                  </a:lnSpc>
                  <a:spcBef>
                    <a:spcPts val="0"/>
                  </a:spcBef>
                  <a:spcAft>
                    <a:spcPts val="800"/>
                  </a:spcAft>
                  <a:buFont typeface="Courier New" panose="02070309020205020404" pitchFamily="49" charset="0"/>
                  <a:buChar char="o"/>
                </a:pPr>
                <a14:m>
                  <m:oMath xmlns:m="http://schemas.openxmlformats.org/officeDocument/2006/math">
                    <m:r>
                      <a:rPr lang="en-GB" sz="1800" i="1" smtClean="0">
                        <a:latin typeface="Cambria Math" panose="02040503050406030204" pitchFamily="18" charset="0"/>
                      </a:rPr>
                      <m:t>𝜎</m:t>
                    </m:r>
                  </m:oMath>
                </a14:m>
                <a:r>
                  <a:rPr lang="en-GB" sz="1800" dirty="0">
                    <a:latin typeface="Arial" panose="020B0604020202020204" pitchFamily="34" charset="0"/>
                    <a:cs typeface="Arial" panose="020B0604020202020204" pitchFamily="34" charset="0"/>
                  </a:rPr>
                  <a:t> (sigma): Population standard deviation</a:t>
                </a:r>
              </a:p>
              <a:p>
                <a:pPr lvl="1">
                  <a:lnSpc>
                    <a:spcPct val="100000"/>
                  </a:lnSpc>
                  <a:spcBef>
                    <a:spcPts val="0"/>
                  </a:spcBef>
                  <a:spcAft>
                    <a:spcPts val="800"/>
                  </a:spcAft>
                  <a:buFont typeface="Courier New" panose="02070309020205020404" pitchFamily="49" charset="0"/>
                  <a:buChar char="o"/>
                </a:pPr>
                <a14:m>
                  <m:oMath xmlns:m="http://schemas.openxmlformats.org/officeDocument/2006/math">
                    <m:r>
                      <a:rPr lang="en-GB" sz="1800" i="1" dirty="0" smtClean="0">
                        <a:latin typeface="Cambria Math" panose="02040503050406030204" pitchFamily="18" charset="0"/>
                      </a:rPr>
                      <m:t>𝑁</m:t>
                    </m:r>
                  </m:oMath>
                </a14:m>
                <a:r>
                  <a:rPr lang="en-GB" sz="1800" dirty="0">
                    <a:latin typeface="Arial" panose="020B0604020202020204" pitchFamily="34" charset="0"/>
                    <a:cs typeface="Arial" panose="020B0604020202020204" pitchFamily="34" charset="0"/>
                  </a:rPr>
                  <a:t>: Size of the population</a:t>
                </a:r>
              </a:p>
              <a:p>
                <a:pPr>
                  <a:lnSpc>
                    <a:spcPct val="100000"/>
                  </a:lnSpc>
                  <a:spcBef>
                    <a:spcPts val="0"/>
                  </a:spcBef>
                  <a:spcAft>
                    <a:spcPts val="800"/>
                  </a:spcAft>
                </a:pPr>
                <a:r>
                  <a:rPr lang="en-GB" sz="1800" dirty="0">
                    <a:latin typeface="Arial" panose="020B0604020202020204" pitchFamily="34" charset="0"/>
                    <a:cs typeface="Arial" panose="020B0604020202020204" pitchFamily="34" charset="0"/>
                  </a:rPr>
                  <a:t>Sample statistics</a:t>
                </a:r>
              </a:p>
              <a:p>
                <a:pPr lvl="1">
                  <a:lnSpc>
                    <a:spcPct val="100000"/>
                  </a:lnSpc>
                  <a:spcBef>
                    <a:spcPts val="0"/>
                  </a:spcBef>
                  <a:spcAft>
                    <a:spcPts val="800"/>
                  </a:spcAft>
                  <a:buFont typeface="Courier New" panose="02070309020205020404" pitchFamily="49" charset="0"/>
                  <a:buChar char="o"/>
                </a:pPr>
                <a14:m>
                  <m:oMath xmlns:m="http://schemas.openxmlformats.org/officeDocument/2006/math">
                    <m:acc>
                      <m:accPr>
                        <m:chr m:val="̅"/>
                        <m:ctrlPr>
                          <a:rPr lang="en-GB" sz="1800" i="1" smtClean="0">
                            <a:latin typeface="Cambria Math" panose="02040503050406030204" pitchFamily="18" charset="0"/>
                          </a:rPr>
                        </m:ctrlPr>
                      </m:accPr>
                      <m:e>
                        <m:r>
                          <a:rPr lang="en-GB" sz="1800" b="0" i="1" smtClean="0">
                            <a:latin typeface="Cambria Math" panose="02040503050406030204" pitchFamily="18" charset="0"/>
                          </a:rPr>
                          <m:t>𝑋</m:t>
                        </m:r>
                      </m:e>
                    </m:acc>
                  </m:oMath>
                </a14:m>
                <a:r>
                  <a:rPr lang="en-GB" sz="1800" dirty="0">
                    <a:latin typeface="Arial" panose="020B0604020202020204" pitchFamily="34" charset="0"/>
                    <a:cs typeface="Arial" panose="020B0604020202020204" pitchFamily="34" charset="0"/>
                  </a:rPr>
                  <a:t> (</a:t>
                </a:r>
                <a:r>
                  <a:rPr lang="en-GB" sz="1800" i="1" dirty="0">
                    <a:latin typeface="Arial" panose="020B0604020202020204" pitchFamily="34" charset="0"/>
                    <a:cs typeface="Arial" panose="020B0604020202020204" pitchFamily="34" charset="0"/>
                  </a:rPr>
                  <a:t>x</a:t>
                </a:r>
                <a:r>
                  <a:rPr lang="en-GB" sz="1800" dirty="0">
                    <a:latin typeface="Arial" panose="020B0604020202020204" pitchFamily="34" charset="0"/>
                    <a:cs typeface="Arial" panose="020B0604020202020204" pitchFamily="34" charset="0"/>
                  </a:rPr>
                  <a:t>-bar): Sample mean</a:t>
                </a:r>
              </a:p>
              <a:p>
                <a:pPr lvl="1">
                  <a:lnSpc>
                    <a:spcPct val="100000"/>
                  </a:lnSpc>
                  <a:spcBef>
                    <a:spcPts val="0"/>
                  </a:spcBef>
                  <a:spcAft>
                    <a:spcPts val="800"/>
                  </a:spcAft>
                  <a:buFont typeface="Courier New" panose="02070309020205020404" pitchFamily="49" charset="0"/>
                  <a:buChar char="o"/>
                </a:pPr>
                <a:r>
                  <a:rPr lang="en-GB" sz="1800" dirty="0">
                    <a:latin typeface="Arial" panose="020B0604020202020204" pitchFamily="34" charset="0"/>
                    <a:cs typeface="Arial" panose="020B0604020202020204" pitchFamily="34" charset="0"/>
                  </a:rPr>
                  <a:t>S: Sample standard deviation</a:t>
                </a:r>
              </a:p>
              <a:p>
                <a:pPr lvl="1">
                  <a:lnSpc>
                    <a:spcPct val="100000"/>
                  </a:lnSpc>
                  <a:spcBef>
                    <a:spcPts val="0"/>
                  </a:spcBef>
                  <a:spcAft>
                    <a:spcPts val="800"/>
                  </a:spcAft>
                  <a:buFont typeface="Courier New" panose="02070309020205020404" pitchFamily="49" charset="0"/>
                  <a:buChar char="o"/>
                </a:pPr>
                <a14:m>
                  <m:oMath xmlns:m="http://schemas.openxmlformats.org/officeDocument/2006/math">
                    <m:r>
                      <a:rPr lang="en-GB" sz="1800" i="1" dirty="0" smtClean="0">
                        <a:latin typeface="Cambria Math" panose="02040503050406030204" pitchFamily="18" charset="0"/>
                      </a:rPr>
                      <m:t>𝑛</m:t>
                    </m:r>
                  </m:oMath>
                </a14:m>
                <a:r>
                  <a:rPr lang="en-GB" sz="1800" dirty="0">
                    <a:latin typeface="Arial" panose="020B0604020202020204" pitchFamily="34" charset="0"/>
                    <a:cs typeface="Arial" panose="020B0604020202020204" pitchFamily="34" charset="0"/>
                  </a:rPr>
                  <a:t>: Size of the sample</a:t>
                </a:r>
              </a:p>
              <a:p>
                <a:pPr>
                  <a:lnSpc>
                    <a:spcPct val="100000"/>
                  </a:lnSpc>
                  <a:spcBef>
                    <a:spcPts val="0"/>
                  </a:spcBef>
                  <a:spcAft>
                    <a:spcPts val="800"/>
                  </a:spcAft>
                </a:pPr>
                <a14:m>
                  <m:oMath xmlns:m="http://schemas.openxmlformats.org/officeDocument/2006/math">
                    <m:r>
                      <a:rPr lang="en-GB" sz="1800" i="1" smtClean="0">
                        <a:latin typeface="Cambria Math" panose="02040503050406030204" pitchFamily="18" charset="0"/>
                      </a:rPr>
                      <m:t>𝛴</m:t>
                    </m:r>
                  </m:oMath>
                </a14:m>
                <a:r>
                  <a:rPr lang="en-GB" sz="1800" dirty="0">
                    <a:latin typeface="Arial" panose="020B0604020202020204" pitchFamily="34" charset="0"/>
                    <a:cs typeface="Arial" panose="020B0604020202020204" pitchFamily="34" charset="0"/>
                  </a:rPr>
                  <a:t> (sigma): Summation</a:t>
                </a:r>
              </a:p>
            </p:txBody>
          </p:sp>
        </mc:Choice>
        <mc:Fallback xmlns="">
          <p:sp>
            <p:nvSpPr>
              <p:cNvPr id="3" name="Content Placeholder 2">
                <a:extLst>
                  <a:ext uri="{FF2B5EF4-FFF2-40B4-BE49-F238E27FC236}">
                    <a16:creationId xmlns:a16="http://schemas.microsoft.com/office/drawing/2014/main" id="{AE0B4A3F-8074-00D1-BDA3-252641E82291}"/>
                  </a:ext>
                </a:extLst>
              </p:cNvPr>
              <p:cNvSpPr>
                <a:spLocks noGrp="1" noRot="1" noChangeAspect="1" noMove="1" noResize="1" noEditPoints="1" noAdjustHandles="1" noChangeArrowheads="1" noChangeShapeType="1" noTextEdit="1"/>
              </p:cNvSpPr>
              <p:nvPr>
                <p:ph idx="1"/>
              </p:nvPr>
            </p:nvSpPr>
            <p:spPr>
              <a:blipFill>
                <a:blip r:embed="rId2"/>
                <a:stretch>
                  <a:fillRect l="-406" t="-700"/>
                </a:stretch>
              </a:blipFill>
            </p:spPr>
            <p:txBody>
              <a:bodyPr/>
              <a:lstStyle/>
              <a:p>
                <a:r>
                  <a:rPr lang="en-GB">
                    <a:noFill/>
                  </a:rPr>
                  <a:t> </a:t>
                </a:r>
              </a:p>
            </p:txBody>
          </p:sp>
        </mc:Fallback>
      </mc:AlternateContent>
    </p:spTree>
    <p:extLst>
      <p:ext uri="{BB962C8B-B14F-4D97-AF65-F5344CB8AC3E}">
        <p14:creationId xmlns:p14="http://schemas.microsoft.com/office/powerpoint/2010/main" val="3017393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95F1-0E59-D8FB-1961-C0EEA8F0D81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Taking a Sample</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E8C11EF-80EE-182E-BAE4-00356DC2D283}"/>
              </a:ext>
            </a:extLst>
          </p:cNvPr>
          <p:cNvSpPr>
            <a:spLocks noGrp="1"/>
          </p:cNvSpPr>
          <p:nvPr>
            <p:ph idx="1"/>
          </p:nvPr>
        </p:nvSpPr>
        <p:spPr>
          <a:xfrm>
            <a:off x="838200" y="1690688"/>
            <a:ext cx="10515600" cy="4938712"/>
          </a:xfrm>
        </p:spPr>
        <p:txBody>
          <a:bodyPr>
            <a:normAutofit/>
          </a:bodyPr>
          <a:lstStyle/>
          <a:p>
            <a:pPr>
              <a:lnSpc>
                <a:spcPct val="100000"/>
              </a:lnSpc>
              <a:spcBef>
                <a:spcPts val="0"/>
              </a:spcBef>
              <a:spcAft>
                <a:spcPts val="800"/>
              </a:spcAft>
            </a:pPr>
            <a:r>
              <a:rPr lang="en-US" sz="2100" dirty="0">
                <a:effectLst/>
                <a:latin typeface="Arial" panose="020B0604020202020204" pitchFamily="34" charset="0"/>
                <a:ea typeface="Calibri" panose="020F0502020204030204" pitchFamily="34" charset="0"/>
                <a:cs typeface="Arial" panose="020B0604020202020204" pitchFamily="34" charset="0"/>
              </a:rPr>
              <a:t>Clearly a sample with a reasonable size should be as representative of the population from which it is drawn as possible.</a:t>
            </a:r>
          </a:p>
          <a:p>
            <a:pPr>
              <a:lnSpc>
                <a:spcPct val="100000"/>
              </a:lnSpc>
              <a:spcBef>
                <a:spcPts val="0"/>
              </a:spcBef>
              <a:spcAft>
                <a:spcPts val="800"/>
              </a:spcAft>
            </a:pPr>
            <a:r>
              <a:rPr lang="en-US" sz="2100" dirty="0">
                <a:effectLst/>
                <a:latin typeface="Arial" panose="020B0604020202020204" pitchFamily="34" charset="0"/>
                <a:ea typeface="Calibri" panose="020F0502020204030204" pitchFamily="34" charset="0"/>
                <a:cs typeface="Arial" panose="020B0604020202020204" pitchFamily="34" charset="0"/>
              </a:rPr>
              <a:t>There are many, many examples in the newspapers and magazines of reports and conclusions based on unrepresentative and/or unreasonable small samples.</a:t>
            </a:r>
          </a:p>
          <a:p>
            <a:pPr>
              <a:lnSpc>
                <a:spcPct val="100000"/>
              </a:lnSpc>
              <a:spcBef>
                <a:spcPts val="0"/>
              </a:spcBef>
              <a:spcAft>
                <a:spcPts val="800"/>
              </a:spcAft>
            </a:pPr>
            <a:r>
              <a:rPr lang="en-US" sz="2100" dirty="0">
                <a:latin typeface="Arial" panose="020B0604020202020204" pitchFamily="34" charset="0"/>
                <a:cs typeface="Arial" panose="020B0604020202020204" pitchFamily="34" charset="0"/>
              </a:rPr>
              <a:t>You have already seen such samples in Examples 2.2 and 2.3.</a:t>
            </a:r>
            <a:endParaRPr lang="en-US" sz="2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buNone/>
            </a:pPr>
            <a:endParaRPr lang="en-US" sz="4200" dirty="0">
              <a:latin typeface="Aptos" panose="020B0004020202020204" pitchFamily="34" charset="0"/>
              <a:ea typeface="Calibri" panose="020F0502020204030204" pitchFamily="34" charset="0"/>
              <a:cs typeface="Times New Roman" panose="02020603050405020304" pitchFamily="18" charset="0"/>
            </a:endParaRPr>
          </a:p>
          <a:p>
            <a:pPr marL="0" indent="0">
              <a:buNone/>
            </a:pPr>
            <a:endParaRPr lang="en-GB" sz="3200" dirty="0"/>
          </a:p>
        </p:txBody>
      </p:sp>
    </p:spTree>
    <p:extLst>
      <p:ext uri="{BB962C8B-B14F-4D97-AF65-F5344CB8AC3E}">
        <p14:creationId xmlns:p14="http://schemas.microsoft.com/office/powerpoint/2010/main" val="2239731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95F1-0E59-D8FB-1961-C0EEA8F0D810}"/>
              </a:ext>
            </a:extLst>
          </p:cNvPr>
          <p:cNvSpPr>
            <a:spLocks noGrp="1"/>
          </p:cNvSpPr>
          <p:nvPr>
            <p:ph type="title"/>
          </p:nvPr>
        </p:nvSpPr>
        <p:spPr/>
        <p:txBody>
          <a:bodyPr/>
          <a:lstStyle/>
          <a:p>
            <a:r>
              <a:rPr lang="en-US" sz="4400" kern="100" dirty="0">
                <a:effectLst/>
                <a:latin typeface="Arial" panose="020B0604020202020204" pitchFamily="34" charset="0"/>
                <a:ea typeface="Calibri" panose="020F0502020204030204" pitchFamily="34" charset="0"/>
                <a:cs typeface="Arial" panose="020B0604020202020204" pitchFamily="34" charset="0"/>
              </a:rPr>
              <a:t>Example 2.5.</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E8C11EF-80EE-182E-BAE4-00356DC2D283}"/>
              </a:ext>
            </a:extLst>
          </p:cNvPr>
          <p:cNvSpPr>
            <a:spLocks noGrp="1"/>
          </p:cNvSpPr>
          <p:nvPr>
            <p:ph idx="1"/>
          </p:nvPr>
        </p:nvSpPr>
        <p:spPr>
          <a:xfrm>
            <a:off x="838200" y="1690688"/>
            <a:ext cx="10515600" cy="4938712"/>
          </a:xfrm>
        </p:spPr>
        <p:txBody>
          <a:bodyPr>
            <a:normAutofit/>
          </a:bodyPr>
          <a:lstStyle/>
          <a:p>
            <a:pPr marL="0" indent="0">
              <a:lnSpc>
                <a:spcPct val="120000"/>
              </a:lnSpc>
              <a:spcBef>
                <a:spcPts val="0"/>
              </a:spcBef>
              <a:spcAft>
                <a:spcPts val="800"/>
              </a:spcAft>
              <a:buNone/>
            </a:pPr>
            <a:r>
              <a:rPr lang="en-US" sz="1800" kern="100" dirty="0">
                <a:effectLst/>
                <a:latin typeface="Arial" panose="020B0604020202020204" pitchFamily="34" charset="0"/>
                <a:ea typeface="Calibri" panose="020F0502020204030204" pitchFamily="34" charset="0"/>
                <a:cs typeface="Arial" panose="020B0604020202020204" pitchFamily="34" charset="0"/>
              </a:rPr>
              <a:t>Suppose we want to do a study on what people’s </a:t>
            </a:r>
            <a:r>
              <a:rPr lang="en-US" sz="1800" kern="100" dirty="0" err="1">
                <a:effectLst/>
                <a:latin typeface="Arial" panose="020B0604020202020204" pitchFamily="34" charset="0"/>
                <a:ea typeface="Calibri" panose="020F0502020204030204" pitchFamily="34" charset="0"/>
                <a:cs typeface="Arial" panose="020B0604020202020204" pitchFamily="34" charset="0"/>
              </a:rPr>
              <a:t>favourite</a:t>
            </a:r>
            <a:r>
              <a:rPr lang="en-US" sz="1800" kern="100" dirty="0">
                <a:effectLst/>
                <a:latin typeface="Arial" panose="020B0604020202020204" pitchFamily="34" charset="0"/>
                <a:ea typeface="Calibri" panose="020F0502020204030204" pitchFamily="34" charset="0"/>
                <a:cs typeface="Arial" panose="020B0604020202020204" pitchFamily="34" charset="0"/>
              </a:rPr>
              <a:t> sport is in the UK. Person A stands outside a rugby stadium on match day and ask 10 people to name their </a:t>
            </a:r>
            <a:r>
              <a:rPr lang="en-US" sz="1800" kern="100" dirty="0" err="1">
                <a:effectLst/>
                <a:latin typeface="Arial" panose="020B0604020202020204" pitchFamily="34" charset="0"/>
                <a:ea typeface="Calibri" panose="020F0502020204030204" pitchFamily="34" charset="0"/>
                <a:cs typeface="Arial" panose="020B0604020202020204" pitchFamily="34" charset="0"/>
              </a:rPr>
              <a:t>favourite</a:t>
            </a:r>
            <a:r>
              <a:rPr lang="en-US" sz="1800" kern="100" dirty="0">
                <a:effectLst/>
                <a:latin typeface="Arial" panose="020B0604020202020204" pitchFamily="34" charset="0"/>
                <a:ea typeface="Calibri" panose="020F0502020204030204" pitchFamily="34" charset="0"/>
                <a:cs typeface="Arial" panose="020B0604020202020204" pitchFamily="34" charset="0"/>
              </a:rPr>
              <a:t> sport. Person B stands in Nottingham City Centre and asks 1000 people to name their </a:t>
            </a:r>
            <a:r>
              <a:rPr lang="en-US" sz="1800" kern="100" dirty="0" err="1">
                <a:effectLst/>
                <a:latin typeface="Arial" panose="020B0604020202020204" pitchFamily="34" charset="0"/>
                <a:ea typeface="Calibri" panose="020F0502020204030204" pitchFamily="34" charset="0"/>
                <a:cs typeface="Arial" panose="020B0604020202020204" pitchFamily="34" charset="0"/>
              </a:rPr>
              <a:t>favourite</a:t>
            </a:r>
            <a:r>
              <a:rPr lang="en-US" sz="1800" kern="100" dirty="0">
                <a:effectLst/>
                <a:latin typeface="Arial" panose="020B0604020202020204" pitchFamily="34" charset="0"/>
                <a:ea typeface="Calibri" panose="020F0502020204030204" pitchFamily="34" charset="0"/>
                <a:cs typeface="Arial" panose="020B0604020202020204" pitchFamily="34" charset="0"/>
              </a:rPr>
              <a:t> sport. Whose study is better? Is either perfect?</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spcAft>
                <a:spcPts val="800"/>
              </a:spcAft>
              <a:buNone/>
            </a:pPr>
            <a:r>
              <a:rPr lang="en-US" sz="1800" u="sng" kern="100" dirty="0">
                <a:effectLst/>
                <a:latin typeface="Arial" panose="020B0604020202020204" pitchFamily="34" charset="0"/>
                <a:ea typeface="Calibri" panose="020F0502020204030204" pitchFamily="34" charset="0"/>
                <a:cs typeface="Arial" panose="020B0604020202020204" pitchFamily="34" charset="0"/>
              </a:rPr>
              <a:t>Solution</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0"/>
              </a:spcBef>
              <a:spcAft>
                <a:spcPts val="800"/>
              </a:spcAft>
              <a:buNone/>
            </a:pPr>
            <a:r>
              <a:rPr lang="en-US" sz="1800" kern="100" dirty="0">
                <a:effectLst/>
                <a:latin typeface="Arial" panose="020B0604020202020204" pitchFamily="34" charset="0"/>
                <a:ea typeface="Calibri" panose="020F0502020204030204" pitchFamily="34" charset="0"/>
                <a:cs typeface="Arial" panose="020B0604020202020204" pitchFamily="34" charset="0"/>
              </a:rPr>
              <a:t>Person B’s study is clearly better as they have a larger sample from people that are more representative of the population as a whole. It’s still not perfect though. People in Nottingham alone are probably not representative of the entire UK.</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sz="3200" dirty="0"/>
          </a:p>
        </p:txBody>
      </p:sp>
    </p:spTree>
    <p:extLst>
      <p:ext uri="{BB962C8B-B14F-4D97-AF65-F5344CB8AC3E}">
        <p14:creationId xmlns:p14="http://schemas.microsoft.com/office/powerpoint/2010/main" val="363754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656C1-CDF6-2F17-1335-97445341BE37}"/>
              </a:ext>
            </a:extLst>
          </p:cNvPr>
          <p:cNvSpPr>
            <a:spLocks noGrp="1"/>
          </p:cNvSpPr>
          <p:nvPr>
            <p:ph idx="1"/>
          </p:nvPr>
        </p:nvSpPr>
        <p:spPr>
          <a:xfrm>
            <a:off x="838200" y="1801367"/>
            <a:ext cx="10515600" cy="3068003"/>
          </a:xfrm>
        </p:spPr>
        <p:txBody>
          <a:bodyPr>
            <a:normAutofit/>
          </a:bodyPr>
          <a:lstStyle/>
          <a:p>
            <a:r>
              <a:rPr lang="en-US" sz="1800" dirty="0">
                <a:effectLst/>
                <a:latin typeface="Arial" panose="020B0604020202020204" pitchFamily="34" charset="0"/>
                <a:ea typeface="Calibri" panose="020F0502020204030204" pitchFamily="34" charset="0"/>
                <a:cs typeface="Arial" panose="020B0604020202020204" pitchFamily="34" charset="0"/>
              </a:rPr>
              <a:t>These examples highlight how important it is to select the sample to give an accurate reflection of the characteristics of the whole population.</a:t>
            </a:r>
          </a:p>
          <a:p>
            <a:r>
              <a:rPr lang="en-US" sz="1800" dirty="0">
                <a:effectLst/>
                <a:latin typeface="Arial" panose="020B0604020202020204" pitchFamily="34" charset="0"/>
                <a:ea typeface="Calibri" panose="020F0502020204030204" pitchFamily="34" charset="0"/>
                <a:cs typeface="Arial" panose="020B0604020202020204" pitchFamily="34" charset="0"/>
              </a:rPr>
              <a:t>There are possible ways of choosing a sample from a given population.</a:t>
            </a:r>
          </a:p>
          <a:p>
            <a:pPr lvl="1"/>
            <a:r>
              <a:rPr lang="en-US" sz="1800" dirty="0">
                <a:effectLst/>
                <a:latin typeface="Arial" panose="020B0604020202020204" pitchFamily="34" charset="0"/>
                <a:ea typeface="Calibri" panose="020F0502020204030204" pitchFamily="34" charset="0"/>
                <a:cs typeface="Arial" panose="020B0604020202020204" pitchFamily="34" charset="0"/>
              </a:rPr>
              <a:t>simple random sampling</a:t>
            </a:r>
            <a:endParaRPr lang="en-US" sz="1800" dirty="0">
              <a:latin typeface="Arial" panose="020B0604020202020204" pitchFamily="34" charset="0"/>
              <a:ea typeface="Calibri" panose="020F0502020204030204" pitchFamily="34" charset="0"/>
              <a:cs typeface="Arial" panose="020B0604020202020204" pitchFamily="34" charset="0"/>
            </a:endParaRPr>
          </a:p>
          <a:p>
            <a:pPr lvl="1"/>
            <a:r>
              <a:rPr lang="en-US" sz="1800" dirty="0">
                <a:effectLst/>
                <a:latin typeface="Arial" panose="020B0604020202020204" pitchFamily="34" charset="0"/>
                <a:ea typeface="Calibri" panose="020F0502020204030204" pitchFamily="34" charset="0"/>
                <a:cs typeface="Arial" panose="020B0604020202020204" pitchFamily="34" charset="0"/>
              </a:rPr>
              <a:t>cluster sampling</a:t>
            </a:r>
          </a:p>
          <a:p>
            <a:pPr lvl="1"/>
            <a:r>
              <a:rPr lang="en-US" sz="1800" dirty="0">
                <a:effectLst/>
                <a:latin typeface="Arial" panose="020B0604020202020204" pitchFamily="34" charset="0"/>
                <a:ea typeface="Calibri" panose="020F0502020204030204" pitchFamily="34" charset="0"/>
                <a:cs typeface="Arial" panose="020B0604020202020204" pitchFamily="34" charset="0"/>
              </a:rPr>
              <a:t>systematic sampling</a:t>
            </a:r>
            <a:endParaRPr lang="en-US" sz="1800" dirty="0">
              <a:latin typeface="Arial" panose="020B0604020202020204" pitchFamily="34" charset="0"/>
              <a:ea typeface="Calibri" panose="020F0502020204030204" pitchFamily="34" charset="0"/>
              <a:cs typeface="Arial" panose="020B0604020202020204" pitchFamily="34" charset="0"/>
            </a:endParaRPr>
          </a:p>
          <a:p>
            <a:pPr lvl="1"/>
            <a:r>
              <a:rPr lang="en-US" sz="1800" dirty="0">
                <a:latin typeface="Arial" panose="020B0604020202020204" pitchFamily="34" charset="0"/>
                <a:ea typeface="Calibri" panose="020F0502020204030204" pitchFamily="34" charset="0"/>
                <a:cs typeface="Arial" panose="020B0604020202020204" pitchFamily="34" charset="0"/>
              </a:rPr>
              <a:t>q</a:t>
            </a:r>
            <a:r>
              <a:rPr lang="en-US" sz="1800" dirty="0">
                <a:effectLst/>
                <a:latin typeface="Arial" panose="020B0604020202020204" pitchFamily="34" charset="0"/>
                <a:ea typeface="Calibri" panose="020F0502020204030204" pitchFamily="34" charset="0"/>
                <a:cs typeface="Arial" panose="020B0604020202020204" pitchFamily="34" charset="0"/>
              </a:rPr>
              <a:t>uota sampling</a:t>
            </a:r>
            <a:endParaRPr lang="en-GB" dirty="0">
              <a:latin typeface="Arial" panose="020B0604020202020204" pitchFamily="34" charset="0"/>
              <a:cs typeface="Arial" panose="020B0604020202020204" pitchFamily="34" charset="0"/>
            </a:endParaRPr>
          </a:p>
        </p:txBody>
      </p:sp>
      <p:pic>
        <p:nvPicPr>
          <p:cNvPr id="1026" name="Picture 2" descr="Sampling Methods | Types, Techniques &amp; Examples">
            <a:extLst>
              <a:ext uri="{FF2B5EF4-FFF2-40B4-BE49-F238E27FC236}">
                <a16:creationId xmlns:a16="http://schemas.microsoft.com/office/drawing/2014/main" id="{8CBF4654-C44D-CF27-9C59-0C667F5E95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35" t="8437" r="57961" b="59634"/>
          <a:stretch/>
        </p:blipFill>
        <p:spPr bwMode="auto">
          <a:xfrm>
            <a:off x="591565" y="4399648"/>
            <a:ext cx="2330605" cy="19403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ampling Methods | Types, Techniques &amp; Examples">
            <a:extLst>
              <a:ext uri="{FF2B5EF4-FFF2-40B4-BE49-F238E27FC236}">
                <a16:creationId xmlns:a16="http://schemas.microsoft.com/office/drawing/2014/main" id="{C045B6A8-1497-9CF4-5AAC-EB6BB9421F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970" t="8437" r="9126" b="56392"/>
          <a:stretch/>
        </p:blipFill>
        <p:spPr bwMode="auto">
          <a:xfrm>
            <a:off x="5690276" y="4399648"/>
            <a:ext cx="2330605" cy="21373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ampling Methods | Types, Techniques &amp; Examples">
            <a:extLst>
              <a:ext uri="{FF2B5EF4-FFF2-40B4-BE49-F238E27FC236}">
                <a16:creationId xmlns:a16="http://schemas.microsoft.com/office/drawing/2014/main" id="{5B2F471A-2D07-6837-1DCB-6E148CEF4B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970" t="56339" r="6561" b="15097"/>
          <a:stretch/>
        </p:blipFill>
        <p:spPr bwMode="auto">
          <a:xfrm>
            <a:off x="3055281" y="4399648"/>
            <a:ext cx="2501884" cy="17357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ampling Methods | Types, Techniques &amp; Examples">
            <a:extLst>
              <a:ext uri="{FF2B5EF4-FFF2-40B4-BE49-F238E27FC236}">
                <a16:creationId xmlns:a16="http://schemas.microsoft.com/office/drawing/2014/main" id="{02EFD8D8-9B70-8D56-54F7-212DD4CD76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44" t="56339" r="54939" b="15097"/>
          <a:stretch/>
        </p:blipFill>
        <p:spPr bwMode="auto">
          <a:xfrm>
            <a:off x="8431487" y="4399648"/>
            <a:ext cx="2511707" cy="17357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73E9935-77C1-CED6-33CD-EA74AB149B16}"/>
              </a:ext>
            </a:extLst>
          </p:cNvPr>
          <p:cNvSpPr>
            <a:spLocks noGrp="1"/>
          </p:cNvSpPr>
          <p:nvPr>
            <p:ph type="title"/>
          </p:nvPr>
        </p:nvSpPr>
        <p:spPr>
          <a:xfrm>
            <a:off x="838200" y="365125"/>
            <a:ext cx="10515600" cy="1325563"/>
          </a:xfrm>
        </p:spPr>
        <p:txBody>
          <a:bodyPr/>
          <a:lstStyle/>
          <a:p>
            <a:r>
              <a:rPr lang="en-US" sz="4400" kern="100" dirty="0">
                <a:effectLst/>
                <a:latin typeface="Arial" panose="020B0604020202020204" pitchFamily="34" charset="0"/>
                <a:ea typeface="Calibri" panose="020F0502020204030204" pitchFamily="34" charset="0"/>
                <a:cs typeface="Arial" panose="020B0604020202020204" pitchFamily="34" charset="0"/>
              </a:rPr>
              <a:t>Types of sampling</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9139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0F114-F045-BB8B-F3EB-E7B9BFABDDE5}"/>
              </a:ext>
            </a:extLst>
          </p:cNvPr>
          <p:cNvSpPr>
            <a:spLocks noGrp="1"/>
          </p:cNvSpPr>
          <p:nvPr>
            <p:ph type="title"/>
          </p:nvPr>
        </p:nvSpPr>
        <p:spPr/>
        <p:txBody>
          <a:bodyPr>
            <a:normAutofit/>
          </a:bodyPr>
          <a:lstStyle/>
          <a:p>
            <a:r>
              <a:rPr lang="en-US" dirty="0">
                <a:effectLst/>
                <a:latin typeface="Arial" panose="020B0604020202020204" pitchFamily="34" charset="0"/>
                <a:ea typeface="Calibri" panose="020F0502020204030204" pitchFamily="34" charset="0"/>
              </a:rPr>
              <a:t>Example 2.6</a:t>
            </a:r>
            <a:endParaRPr lang="en-GB" sz="8800" dirty="0"/>
          </a:p>
        </p:txBody>
      </p:sp>
      <p:sp>
        <p:nvSpPr>
          <p:cNvPr id="3" name="Content Placeholder 2">
            <a:extLst>
              <a:ext uri="{FF2B5EF4-FFF2-40B4-BE49-F238E27FC236}">
                <a16:creationId xmlns:a16="http://schemas.microsoft.com/office/drawing/2014/main" id="{1A8BB152-4EAD-3AAB-4CF8-294D9DB90F0E}"/>
              </a:ext>
            </a:extLst>
          </p:cNvPr>
          <p:cNvSpPr>
            <a:spLocks noGrp="1"/>
          </p:cNvSpPr>
          <p:nvPr>
            <p:ph idx="1"/>
          </p:nvPr>
        </p:nvSpPr>
        <p:spPr>
          <a:xfrm>
            <a:off x="838200" y="1463040"/>
            <a:ext cx="10515600" cy="5221224"/>
          </a:xfrm>
        </p:spPr>
        <p:txBody>
          <a:bodyPr>
            <a:noAutofit/>
          </a:bodyPr>
          <a:lstStyle/>
          <a:p>
            <a:pPr>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Do it in </a:t>
            </a:r>
            <a:r>
              <a:rPr lang="en-US" sz="1800" b="1" kern="100" dirty="0">
                <a:effectLst/>
                <a:latin typeface="Arial" panose="020B0604020202020204" pitchFamily="34" charset="0"/>
                <a:ea typeface="Calibri" panose="020F0502020204030204" pitchFamily="34" charset="0"/>
                <a:cs typeface="Times New Roman" panose="02020603050405020304" pitchFamily="18" charset="0"/>
              </a:rPr>
              <a:t>R</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latinLnBrk="1">
              <a:spcAft>
                <a:spcPts val="1000"/>
              </a:spcAft>
            </a:pPr>
            <a:r>
              <a:rPr lang="en-GB" sz="1800" i="1"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#To sample 3 elements from a vector 1:10 without replacement:</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x</a:t>
            </a:r>
            <a:r>
              <a:rPr lang="en-GB" sz="1800"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&lt;-</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sample(</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10</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3</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x</a:t>
            </a:r>
            <a:endParaRPr lang="en-GB" sz="1800" kern="1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[1] 6 3 7</a:t>
            </a:r>
            <a:endParaRPr lang="en-GB" sz="1800" kern="1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en-GB" sz="1800" i="1"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#To sample 3 elements from a vector 1:10 with replacement:</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y</a:t>
            </a:r>
            <a:r>
              <a:rPr lang="en-GB" sz="1800"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&lt;-</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sample(</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10</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3</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replace =</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TRUE)</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y</a:t>
            </a:r>
            <a:endParaRPr lang="en-GB" sz="1800" kern="1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[1] 4 8 7</a:t>
            </a:r>
            <a:endParaRPr lang="en-GB" sz="1800" kern="1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en-GB" sz="1800" i="1"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#Random sample with weighted probabilities</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probabilities</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&lt;-</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c(</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0.2</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0.2</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0.05</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0.05</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0.05</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0.05</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0.1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z</a:t>
            </a:r>
            <a:r>
              <a:rPr lang="en-GB" sz="1800" kern="1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&lt;-</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sample(</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10</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3</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kern="1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prob =</a:t>
            </a: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probabilities)</a:t>
            </a:r>
            <a:b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z</a:t>
            </a:r>
            <a:endParaRPr lang="en-GB" sz="1800" kern="1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en-GB" sz="1800" kern="1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[1] 4 8 3</a:t>
            </a:r>
            <a:endParaRPr lang="en-GB" sz="1800" kern="100" dirty="0">
              <a:effectLst/>
              <a:latin typeface="Consolas" panose="020B0609020204030204" pitchFamily="49" charset="0"/>
              <a:ea typeface="Calibri" panose="020F0502020204030204" pitchFamily="34" charset="0"/>
              <a:cs typeface="Times New Roman" panose="02020603050405020304" pitchFamily="18" charset="0"/>
            </a:endParaRPr>
          </a:p>
          <a:p>
            <a:pPr marL="0" indent="0">
              <a:buNone/>
            </a:pPr>
            <a:endParaRPr lang="en-GB" sz="1800" dirty="0"/>
          </a:p>
        </p:txBody>
      </p:sp>
    </p:spTree>
    <p:extLst>
      <p:ext uri="{BB962C8B-B14F-4D97-AF65-F5344CB8AC3E}">
        <p14:creationId xmlns:p14="http://schemas.microsoft.com/office/powerpoint/2010/main" val="1626236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94D61-CF59-509E-7602-4CAFEF75D3F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Types of Data</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78C23ED-09AD-D9D5-1E3B-28B9CB8F7694}"/>
              </a:ext>
            </a:extLst>
          </p:cNvPr>
          <p:cNvSpPr>
            <a:spLocks noGrp="1"/>
          </p:cNvSpPr>
          <p:nvPr>
            <p:ph idx="1"/>
          </p:nvPr>
        </p:nvSpPr>
        <p:spPr/>
        <p:txBody>
          <a:bodyPr/>
          <a:lstStyle/>
          <a:p>
            <a:r>
              <a:rPr lang="en-US" sz="1800" dirty="0">
                <a:effectLst/>
                <a:latin typeface="Arial" panose="020B0604020202020204" pitchFamily="34" charset="0"/>
                <a:ea typeface="Calibri" panose="020F0502020204030204" pitchFamily="34" charset="0"/>
                <a:cs typeface="Arial" panose="020B0604020202020204" pitchFamily="34" charset="0"/>
              </a:rPr>
              <a:t>The data can be classified into different categories.</a:t>
            </a:r>
          </a:p>
          <a:p>
            <a:r>
              <a:rPr lang="en-US" sz="1800" dirty="0">
                <a:effectLst/>
                <a:latin typeface="Arial" panose="020B0604020202020204" pitchFamily="34" charset="0"/>
                <a:ea typeface="Calibri" panose="020F0502020204030204" pitchFamily="34" charset="0"/>
                <a:cs typeface="Arial" panose="020B0604020202020204" pitchFamily="34" charset="0"/>
              </a:rPr>
              <a:t>We will see that different analytical methods are appropriate for different types of data.</a:t>
            </a:r>
          </a:p>
          <a:p>
            <a:r>
              <a:rPr lang="en-US" sz="1800" kern="100" dirty="0">
                <a:effectLst/>
                <a:latin typeface="Arial" panose="020B0604020202020204" pitchFamily="34" charset="0"/>
                <a:ea typeface="Calibri" panose="020F0502020204030204" pitchFamily="34" charset="0"/>
                <a:cs typeface="Arial" panose="020B0604020202020204" pitchFamily="34" charset="0"/>
              </a:rPr>
              <a:t>The data can be </a:t>
            </a:r>
            <a:r>
              <a:rPr lang="en-US" sz="1800" kern="100" dirty="0" err="1">
                <a:effectLst/>
                <a:latin typeface="Arial" panose="020B0604020202020204" pitchFamily="34" charset="0"/>
                <a:ea typeface="Calibri" panose="020F0502020204030204" pitchFamily="34" charset="0"/>
                <a:cs typeface="Arial" panose="020B0604020202020204" pitchFamily="34" charset="0"/>
              </a:rPr>
              <a:t>categorised</a:t>
            </a:r>
            <a:r>
              <a:rPr lang="en-US" sz="1800" kern="100" dirty="0">
                <a:effectLst/>
                <a:latin typeface="Arial" panose="020B0604020202020204" pitchFamily="34" charset="0"/>
                <a:ea typeface="Calibri" panose="020F0502020204030204" pitchFamily="34" charset="0"/>
                <a:cs typeface="Arial" panose="020B0604020202020204" pitchFamily="34" charset="0"/>
              </a:rPr>
              <a:t> into two main types:</a:t>
            </a:r>
            <a:endParaRPr lang="en-US" sz="1800" dirty="0">
              <a:latin typeface="Arial" panose="020B0604020202020204" pitchFamily="34" charset="0"/>
              <a:ea typeface="Calibri" panose="020F0502020204030204" pitchFamily="34" charset="0"/>
              <a:cs typeface="Arial" panose="020B0604020202020204" pitchFamily="34" charset="0"/>
            </a:endParaRPr>
          </a:p>
          <a:p>
            <a:pPr lvl="1">
              <a:buFont typeface="Courier New" panose="02070309020205020404" pitchFamily="49" charset="0"/>
              <a:buChar char="o"/>
            </a:pPr>
            <a:r>
              <a:rPr lang="en-US" sz="1800" dirty="0">
                <a:effectLst/>
                <a:latin typeface="Arial" panose="020B0604020202020204" pitchFamily="34" charset="0"/>
                <a:ea typeface="Calibri" panose="020F0502020204030204" pitchFamily="34" charset="0"/>
                <a:cs typeface="Arial" panose="020B0604020202020204" pitchFamily="34" charset="0"/>
              </a:rPr>
              <a:t>Qualitative data, also known as categorical data, these types of data are non-numerical and can be either nominal or ordinal (more on this in a moment).</a:t>
            </a:r>
          </a:p>
          <a:p>
            <a:pPr lvl="1">
              <a:buFont typeface="Courier New" panose="02070309020205020404" pitchFamily="49" charset="0"/>
              <a:buChar char="o"/>
            </a:pPr>
            <a:r>
              <a:rPr lang="en-US" sz="1800" kern="100" dirty="0">
                <a:effectLst/>
                <a:latin typeface="Arial" panose="020B0604020202020204" pitchFamily="34" charset="0"/>
                <a:ea typeface="Calibri" panose="020F0502020204030204" pitchFamily="34" charset="0"/>
                <a:cs typeface="Arial" panose="020B0604020202020204" pitchFamily="34" charset="0"/>
              </a:rPr>
              <a:t>Quantitative data, these types of data are numerical and can be either discrete or continuous</a:t>
            </a:r>
            <a:r>
              <a:rPr lang="en-US" sz="1800" kern="100" dirty="0">
                <a:latin typeface="Arial" panose="020B0604020202020204" pitchFamily="34" charset="0"/>
                <a:ea typeface="Calibri" panose="020F0502020204030204" pitchFamily="34" charset="0"/>
                <a:cs typeface="Arial" panose="020B0604020202020204" pitchFamily="34" charset="0"/>
              </a:rPr>
              <a:t> (more on this in a moment).</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09627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39675-F2D5-4F58-E818-F9A3CA77291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Nominal Data</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19A906B-3489-D618-5DEA-7D739A8C523A}"/>
              </a:ext>
            </a:extLst>
          </p:cNvPr>
          <p:cNvSpPr>
            <a:spLocks noGrp="1"/>
          </p:cNvSpPr>
          <p:nvPr>
            <p:ph idx="1"/>
          </p:nvPr>
        </p:nvSpPr>
        <p:spPr/>
        <p:txBody>
          <a:bodyPr/>
          <a:lstStyle/>
          <a:p>
            <a:r>
              <a:rPr lang="en-US" sz="1800" dirty="0">
                <a:effectLst/>
                <a:latin typeface="Arial" panose="020B0604020202020204" pitchFamily="34" charset="0"/>
                <a:ea typeface="Calibri" panose="020F0502020204030204" pitchFamily="34" charset="0"/>
                <a:cs typeface="Arial" panose="020B0604020202020204" pitchFamily="34" charset="0"/>
              </a:rPr>
              <a:t>Nominal data consist of simple labels</a:t>
            </a:r>
          </a:p>
          <a:p>
            <a:pPr lvl="1">
              <a:buFont typeface="Courier New" panose="02070309020205020404" pitchFamily="49" charset="0"/>
              <a:buChar char="o"/>
            </a:pPr>
            <a:r>
              <a:rPr lang="en-US" sz="1800" dirty="0">
                <a:effectLst/>
                <a:latin typeface="Arial" panose="020B0604020202020204" pitchFamily="34" charset="0"/>
                <a:ea typeface="Calibri" panose="020F0502020204030204" pitchFamily="34" charset="0"/>
                <a:cs typeface="Arial" panose="020B0604020202020204" pitchFamily="34" charset="0"/>
              </a:rPr>
              <a:t>male/female/non-binary</a:t>
            </a:r>
            <a:endParaRPr lang="en-US" sz="1800" dirty="0">
              <a:latin typeface="Arial" panose="020B0604020202020204" pitchFamily="34" charset="0"/>
              <a:ea typeface="Calibri" panose="020F0502020204030204" pitchFamily="34" charset="0"/>
              <a:cs typeface="Arial" panose="020B0604020202020204" pitchFamily="34" charset="0"/>
            </a:endParaRPr>
          </a:p>
          <a:p>
            <a:pPr lvl="1">
              <a:buFont typeface="Courier New" panose="02070309020205020404" pitchFamily="49" charset="0"/>
              <a:buChar char="o"/>
            </a:pPr>
            <a:r>
              <a:rPr lang="en-US" sz="1800" dirty="0">
                <a:effectLst/>
                <a:latin typeface="Arial" panose="020B0604020202020204" pitchFamily="34" charset="0"/>
                <a:ea typeface="Calibri" panose="020F0502020204030204" pitchFamily="34" charset="0"/>
                <a:cs typeface="Arial" panose="020B0604020202020204" pitchFamily="34" charset="0"/>
              </a:rPr>
              <a:t>employed/unemployed</a:t>
            </a:r>
          </a:p>
          <a:p>
            <a:pPr lvl="1">
              <a:buFont typeface="Courier New" panose="02070309020205020404" pitchFamily="49" charset="0"/>
              <a:buChar char="o"/>
            </a:pPr>
            <a:r>
              <a:rPr lang="en-US" sz="1800" dirty="0">
                <a:effectLst/>
                <a:latin typeface="Arial" panose="020B0604020202020204" pitchFamily="34" charset="0"/>
                <a:ea typeface="Calibri" panose="020F0502020204030204" pitchFamily="34" charset="0"/>
                <a:cs typeface="Arial" panose="020B0604020202020204" pitchFamily="34" charset="0"/>
              </a:rPr>
              <a:t>geographical area such as American/Afghan/Northern Indian/Oriental</a:t>
            </a:r>
            <a:endParaRPr lang="en-US" sz="1800" dirty="0">
              <a:latin typeface="Arial" panose="020B0604020202020204" pitchFamily="34" charset="0"/>
              <a:ea typeface="Calibri" panose="020F0502020204030204" pitchFamily="34" charset="0"/>
              <a:cs typeface="Arial" panose="020B0604020202020204" pitchFamily="34" charset="0"/>
            </a:endParaRPr>
          </a:p>
          <a:p>
            <a:r>
              <a:rPr lang="en-US" sz="1800" dirty="0">
                <a:effectLst/>
                <a:latin typeface="Arial" panose="020B0604020202020204" pitchFamily="34" charset="0"/>
                <a:ea typeface="Calibri" panose="020F0502020204030204" pitchFamily="34" charset="0"/>
                <a:cs typeface="Arial" panose="020B0604020202020204" pitchFamily="34" charset="0"/>
              </a:rPr>
              <a:t>They can take on numerical values (such as “0” indicating no and “1” indicating yes), but those numbers don’t have mathematical meaning.</a:t>
            </a:r>
            <a:endParaRPr lang="en-US" sz="1800" dirty="0">
              <a:latin typeface="Arial" panose="020B0604020202020204" pitchFamily="34" charset="0"/>
              <a:ea typeface="Calibri" panose="020F0502020204030204" pitchFamily="34" charset="0"/>
              <a:cs typeface="Arial" panose="020B0604020202020204" pitchFamily="34" charset="0"/>
            </a:endParaRPr>
          </a:p>
          <a:p>
            <a:pPr marL="0" indent="0">
              <a:buNone/>
            </a:pPr>
            <a:endParaRPr lang="en-US" sz="1800" i="1" kern="1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r>
              <a:rPr lang="en-US" sz="1800" i="1" kern="100" dirty="0">
                <a:effectLst/>
                <a:latin typeface="Arial" panose="020B0604020202020204" pitchFamily="34" charset="0"/>
                <a:ea typeface="Calibri" panose="020F0502020204030204" pitchFamily="34" charset="0"/>
                <a:cs typeface="Arial" panose="020B0604020202020204" pitchFamily="34" charset="0"/>
              </a:rPr>
              <a:t>Examples: Gender, nationality, university attended</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lvl="1"/>
            <a:endParaRPr lang="en-US" sz="1400" dirty="0">
              <a:effectLst/>
              <a:latin typeface="Aptos" panose="020B000402020202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4393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99BC0-C9B3-AAC2-224F-66C3309F3BD7}"/>
              </a:ext>
            </a:extLst>
          </p:cNvPr>
          <p:cNvSpPr>
            <a:spLocks noGrp="1"/>
          </p:cNvSpPr>
          <p:nvPr>
            <p:ph type="title"/>
          </p:nvPr>
        </p:nvSpPr>
        <p:spPr/>
        <p:txBody>
          <a:bodyPr/>
          <a:lstStyle/>
          <a:p>
            <a:r>
              <a:rPr lang="en-GB" dirty="0">
                <a:latin typeface="Arial" panose="020B0604020202020204" pitchFamily="34" charset="0"/>
                <a:cs typeface="Arial" panose="020B0604020202020204" pitchFamily="34" charset="0"/>
              </a:rPr>
              <a:t>Ordinal data</a:t>
            </a:r>
          </a:p>
        </p:txBody>
      </p:sp>
      <p:sp>
        <p:nvSpPr>
          <p:cNvPr id="3" name="Content Placeholder 2">
            <a:extLst>
              <a:ext uri="{FF2B5EF4-FFF2-40B4-BE49-F238E27FC236}">
                <a16:creationId xmlns:a16="http://schemas.microsoft.com/office/drawing/2014/main" id="{6B611B6B-E24A-14E1-0EAE-FC90BE9DA187}"/>
              </a:ext>
            </a:extLst>
          </p:cNvPr>
          <p:cNvSpPr>
            <a:spLocks noGrp="1"/>
          </p:cNvSpPr>
          <p:nvPr>
            <p:ph idx="1"/>
          </p:nvPr>
        </p:nvSpPr>
        <p:spPr/>
        <p:txBody>
          <a:bodyPr/>
          <a:lstStyle/>
          <a:p>
            <a:pPr>
              <a:lnSpc>
                <a:spcPct val="100000"/>
              </a:lnSpc>
              <a:spcBef>
                <a:spcPts val="0"/>
              </a:spcBef>
              <a:spcAft>
                <a:spcPts val="800"/>
              </a:spcAft>
            </a:pPr>
            <a:r>
              <a:rPr lang="en-US" sz="1800" dirty="0">
                <a:solidFill>
                  <a:srgbClr val="FF0000"/>
                </a:solidFill>
                <a:effectLst/>
                <a:latin typeface="Arial" panose="020B0604020202020204" pitchFamily="34" charset="0"/>
                <a:ea typeface="Calibri" panose="020F0502020204030204" pitchFamily="34" charset="0"/>
                <a:cs typeface="Arial" panose="020B0604020202020204" pitchFamily="34" charset="0"/>
              </a:rPr>
              <a:t>Ordinal data</a:t>
            </a:r>
            <a:r>
              <a:rPr lang="en-US" sz="1800" dirty="0">
                <a:effectLst/>
                <a:latin typeface="Arial" panose="020B0604020202020204" pitchFamily="34" charset="0"/>
                <a:ea typeface="Calibri" panose="020F0502020204030204" pitchFamily="34" charset="0"/>
                <a:cs typeface="Arial" panose="020B0604020202020204" pitchFamily="34" charset="0"/>
              </a:rPr>
              <a:t> have a natural or inherent ordering</a:t>
            </a:r>
          </a:p>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For example, the response to a question asking respondents to rate the service of the retailer from 1 to 5 where 1 is “poor” and 5 is “excellent” is an example where the categories are ordinal.</a:t>
            </a: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Data such as age or salary may also be ordinal if they have been </a:t>
            </a:r>
            <a:r>
              <a:rPr lang="en-US" sz="1800" kern="100" dirty="0" err="1">
                <a:effectLst/>
                <a:latin typeface="Arial" panose="020B0604020202020204" pitchFamily="34" charset="0"/>
                <a:ea typeface="Calibri" panose="020F0502020204030204" pitchFamily="34" charset="0"/>
                <a:cs typeface="Arial" panose="020B0604020202020204" pitchFamily="34" charset="0"/>
              </a:rPr>
              <a:t>categorised</a:t>
            </a:r>
            <a:r>
              <a:rPr lang="en-US" sz="1800" kern="100" dirty="0">
                <a:effectLst/>
                <a:latin typeface="Arial" panose="020B0604020202020204" pitchFamily="34" charset="0"/>
                <a:ea typeface="Calibri" panose="020F0502020204030204" pitchFamily="34" charset="0"/>
                <a:cs typeface="Arial" panose="020B0604020202020204" pitchFamily="34" charset="0"/>
              </a:rPr>
              <a:t> into groups for the purposes of data collection. (Under 16, 16-25, 26-40, 41-64, 65+)</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endParaRPr lang="en-US" sz="1800" dirty="0">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1800" i="1" kern="100" dirty="0">
                <a:effectLst/>
                <a:latin typeface="Arial" panose="020B0604020202020204" pitchFamily="34" charset="0"/>
                <a:ea typeface="Calibri" panose="020F0502020204030204" pitchFamily="34" charset="0"/>
                <a:cs typeface="Arial" panose="020B0604020202020204" pitchFamily="34" charset="0"/>
              </a:rPr>
              <a:t>Examples: Ratings out of 10, </a:t>
            </a:r>
            <a:r>
              <a:rPr lang="en-US" sz="1800" i="1" kern="100" dirty="0" err="1">
                <a:effectLst/>
                <a:latin typeface="Arial" panose="020B0604020202020204" pitchFamily="34" charset="0"/>
                <a:ea typeface="Calibri" panose="020F0502020204030204" pitchFamily="34" charset="0"/>
                <a:cs typeface="Arial" panose="020B0604020202020204" pitchFamily="34" charset="0"/>
              </a:rPr>
              <a:t>categorised</a:t>
            </a:r>
            <a:r>
              <a:rPr lang="en-US" sz="1800" i="1" kern="100" dirty="0">
                <a:effectLst/>
                <a:latin typeface="Arial" panose="020B0604020202020204" pitchFamily="34" charset="0"/>
                <a:ea typeface="Calibri" panose="020F0502020204030204" pitchFamily="34" charset="0"/>
                <a:cs typeface="Arial" panose="020B0604020202020204" pitchFamily="34" charset="0"/>
              </a:rPr>
              <a:t> ages, university grade</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76364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B090-3F58-61EC-6532-DB5676149346}"/>
              </a:ext>
            </a:extLst>
          </p:cNvPr>
          <p:cNvSpPr>
            <a:spLocks noGrp="1"/>
          </p:cNvSpPr>
          <p:nvPr>
            <p:ph type="title"/>
          </p:nvPr>
        </p:nvSpPr>
        <p:spPr>
          <a:xfrm>
            <a:off x="838200" y="75009"/>
            <a:ext cx="10515600" cy="1325563"/>
          </a:xfrm>
        </p:spPr>
        <p:txBody>
          <a:bodyPr/>
          <a:lstStyle/>
          <a:p>
            <a:r>
              <a:rPr lang="en-US" dirty="0">
                <a:latin typeface="Arial" panose="020B0604020202020204" pitchFamily="34" charset="0"/>
                <a:cs typeface="Arial" panose="020B0604020202020204" pitchFamily="34" charset="0"/>
              </a:rPr>
              <a:t>Discrete Data</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3C26A3E-3D7E-7100-2BB8-8929FDF5859B}"/>
              </a:ext>
            </a:extLst>
          </p:cNvPr>
          <p:cNvSpPr>
            <a:spLocks noGrp="1"/>
          </p:cNvSpPr>
          <p:nvPr>
            <p:ph idx="1"/>
          </p:nvPr>
        </p:nvSpPr>
        <p:spPr>
          <a:xfrm>
            <a:off x="838200" y="1392083"/>
            <a:ext cx="10515600" cy="4351338"/>
          </a:xfrm>
        </p:spPr>
        <p:txBody>
          <a:bodyPr/>
          <a:lstStyle/>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Discrete data usually arises from counting something and consists of whole numbers.</a:t>
            </a:r>
          </a:p>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The data can only take specific separate values such as 0, 1, 2 etc.</a:t>
            </a:r>
            <a:endParaRPr lang="en-US" sz="1800" dirty="0">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For example, the number of children under 18 in a family is discrete.</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endParaRPr lang="en-US" sz="1800" dirty="0">
              <a:latin typeface="Arial" panose="020B0604020202020204" pitchFamily="34" charset="0"/>
              <a:ea typeface="Calibri" panose="020F0502020204030204" pitchFamily="34" charset="0"/>
              <a:cs typeface="Arial" panose="020B0604020202020204" pitchFamily="34" charset="0"/>
            </a:endParaRPr>
          </a:p>
          <a:p>
            <a:pPr marL="0" indent="0">
              <a:lnSpc>
                <a:spcPct val="100000"/>
              </a:lnSpc>
              <a:spcBef>
                <a:spcPts val="0"/>
              </a:spcBef>
              <a:spcAft>
                <a:spcPts val="800"/>
              </a:spcAft>
              <a:buNone/>
            </a:pPr>
            <a:r>
              <a:rPr lang="en-US" sz="1800" i="1" kern="100" dirty="0">
                <a:effectLst/>
                <a:latin typeface="Arial" panose="020B0604020202020204" pitchFamily="34" charset="0"/>
                <a:ea typeface="Calibri" panose="020F0502020204030204" pitchFamily="34" charset="0"/>
                <a:cs typeface="Arial" panose="020B0604020202020204" pitchFamily="34" charset="0"/>
              </a:rPr>
              <a:t>Examples: Shoe size, number of exams taken, goals scored</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dirty="0"/>
          </a:p>
        </p:txBody>
      </p:sp>
      <p:graphicFrame>
        <p:nvGraphicFramePr>
          <p:cNvPr id="4" name="Table 3">
            <a:extLst>
              <a:ext uri="{FF2B5EF4-FFF2-40B4-BE49-F238E27FC236}">
                <a16:creationId xmlns:a16="http://schemas.microsoft.com/office/drawing/2014/main" id="{B018DDE1-913F-CBDD-1D86-E6AB612145BA}"/>
              </a:ext>
            </a:extLst>
          </p:cNvPr>
          <p:cNvGraphicFramePr>
            <a:graphicFrameLocks noGrp="1"/>
          </p:cNvGraphicFramePr>
          <p:nvPr>
            <p:extLst>
              <p:ext uri="{D42A27DB-BD31-4B8C-83A1-F6EECF244321}">
                <p14:modId xmlns:p14="http://schemas.microsoft.com/office/powerpoint/2010/main" val="3927697654"/>
              </p:ext>
            </p:extLst>
          </p:nvPr>
        </p:nvGraphicFramePr>
        <p:xfrm>
          <a:off x="622722" y="4545013"/>
          <a:ext cx="5866214" cy="1854200"/>
        </p:xfrm>
        <a:graphic>
          <a:graphicData uri="http://schemas.openxmlformats.org/drawingml/2006/table">
            <a:tbl>
              <a:tblPr firstRow="1" bandRow="1">
                <a:tableStyleId>{073A0DAA-6AF3-43AB-8588-CEC1D06C72B9}</a:tableStyleId>
              </a:tblPr>
              <a:tblGrid>
                <a:gridCol w="2933107">
                  <a:extLst>
                    <a:ext uri="{9D8B030D-6E8A-4147-A177-3AD203B41FA5}">
                      <a16:colId xmlns:a16="http://schemas.microsoft.com/office/drawing/2014/main" val="1473315956"/>
                    </a:ext>
                  </a:extLst>
                </a:gridCol>
                <a:gridCol w="2933107">
                  <a:extLst>
                    <a:ext uri="{9D8B030D-6E8A-4147-A177-3AD203B41FA5}">
                      <a16:colId xmlns:a16="http://schemas.microsoft.com/office/drawing/2014/main" val="3956638535"/>
                    </a:ext>
                  </a:extLst>
                </a:gridCol>
              </a:tblGrid>
              <a:tr h="370840">
                <a:tc>
                  <a:txBody>
                    <a:bodyPr/>
                    <a:lstStyle/>
                    <a:p>
                      <a:pPr algn="ctr"/>
                      <a:r>
                        <a:rPr lang="en-US" dirty="0">
                          <a:solidFill>
                            <a:schemeClr val="tx1"/>
                          </a:solidFill>
                          <a:latin typeface="Aptos" panose="020B0004020202020204" pitchFamily="34" charset="0"/>
                        </a:rPr>
                        <a:t>Number of cats</a:t>
                      </a:r>
                      <a:endParaRPr lang="en-GB" dirty="0">
                        <a:solidFill>
                          <a:schemeClr val="tx1"/>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latin typeface="Aptos" panose="020B0004020202020204" pitchFamily="34" charset="0"/>
                        </a:rPr>
                        <a:t>Number of students</a:t>
                      </a:r>
                      <a:endParaRPr lang="en-GB" dirty="0">
                        <a:solidFill>
                          <a:schemeClr val="tx1"/>
                        </a:solidFill>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2817967"/>
                  </a:ext>
                </a:extLst>
              </a:tr>
              <a:tr h="370840">
                <a:tc>
                  <a:txBody>
                    <a:bodyPr/>
                    <a:lstStyle/>
                    <a:p>
                      <a:pPr algn="ctr"/>
                      <a:r>
                        <a:rPr lang="en-US" dirty="0">
                          <a:latin typeface="Aptos" panose="020B0004020202020204" pitchFamily="34" charset="0"/>
                        </a:rPr>
                        <a:t>0</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Aptos" panose="020B0004020202020204" pitchFamily="34" charset="0"/>
                        </a:rPr>
                        <a:t>13</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844878"/>
                  </a:ext>
                </a:extLst>
              </a:tr>
              <a:tr h="370840">
                <a:tc>
                  <a:txBody>
                    <a:bodyPr/>
                    <a:lstStyle/>
                    <a:p>
                      <a:pPr algn="ctr"/>
                      <a:r>
                        <a:rPr lang="en-US" dirty="0">
                          <a:latin typeface="Aptos" panose="020B0004020202020204" pitchFamily="34" charset="0"/>
                        </a:rPr>
                        <a:t>1</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Aptos" panose="020B0004020202020204" pitchFamily="34" charset="0"/>
                        </a:rPr>
                        <a:t>5</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0922054"/>
                  </a:ext>
                </a:extLst>
              </a:tr>
              <a:tr h="370840">
                <a:tc>
                  <a:txBody>
                    <a:bodyPr/>
                    <a:lstStyle/>
                    <a:p>
                      <a:pPr algn="ctr"/>
                      <a:r>
                        <a:rPr lang="en-US" dirty="0">
                          <a:latin typeface="Aptos" panose="020B0004020202020204" pitchFamily="34" charset="0"/>
                        </a:rPr>
                        <a:t>2</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Aptos" panose="020B0004020202020204" pitchFamily="34" charset="0"/>
                        </a:rPr>
                        <a:t>7</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2825216"/>
                  </a:ext>
                </a:extLst>
              </a:tr>
              <a:tr h="370840">
                <a:tc>
                  <a:txBody>
                    <a:bodyPr/>
                    <a:lstStyle/>
                    <a:p>
                      <a:pPr algn="ctr"/>
                      <a:r>
                        <a:rPr lang="en-US" dirty="0">
                          <a:latin typeface="Aptos" panose="020B0004020202020204" pitchFamily="34" charset="0"/>
                        </a:rPr>
                        <a:t>5</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latin typeface="Aptos" panose="020B0004020202020204" pitchFamily="34" charset="0"/>
                        </a:rPr>
                        <a:t>1</a:t>
                      </a:r>
                      <a:endParaRPr lang="en-GB" dirty="0">
                        <a:latin typeface="Aptos" panose="020B00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692148"/>
                  </a:ext>
                </a:extLst>
              </a:tr>
            </a:tbl>
          </a:graphicData>
        </a:graphic>
      </p:graphicFrame>
      <p:graphicFrame>
        <p:nvGraphicFramePr>
          <p:cNvPr id="5" name="Chart 4">
            <a:extLst>
              <a:ext uri="{FF2B5EF4-FFF2-40B4-BE49-F238E27FC236}">
                <a16:creationId xmlns:a16="http://schemas.microsoft.com/office/drawing/2014/main" id="{F15BFF1D-549A-901B-C0AC-235EF97AF620}"/>
              </a:ext>
            </a:extLst>
          </p:cNvPr>
          <p:cNvGraphicFramePr>
            <a:graphicFrameLocks/>
          </p:cNvGraphicFramePr>
          <p:nvPr>
            <p:extLst>
              <p:ext uri="{D42A27DB-BD31-4B8C-83A1-F6EECF244321}">
                <p14:modId xmlns:p14="http://schemas.microsoft.com/office/powerpoint/2010/main" val="560903652"/>
              </p:ext>
            </p:extLst>
          </p:nvPr>
        </p:nvGraphicFramePr>
        <p:xfrm>
          <a:off x="6781800" y="3902142"/>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F3089F96-3B89-93F0-0126-B35B12746D44}"/>
              </a:ext>
            </a:extLst>
          </p:cNvPr>
          <p:cNvSpPr txBox="1"/>
          <p:nvPr/>
        </p:nvSpPr>
        <p:spPr>
          <a:xfrm>
            <a:off x="-227302" y="3902142"/>
            <a:ext cx="7394719" cy="400110"/>
          </a:xfrm>
          <a:prstGeom prst="rect">
            <a:avLst/>
          </a:prstGeom>
          <a:noFill/>
        </p:spPr>
        <p:txBody>
          <a:bodyPr wrap="square">
            <a:spAutoFit/>
          </a:bodyPr>
          <a:lstStyle/>
          <a:p>
            <a:pPr algn="ctr" rtl="0">
              <a:defRPr sz="1400" b="0" i="0" u="none" strike="noStrike" kern="1200" spc="0" baseline="0">
                <a:solidFill>
                  <a:prstClr val="black">
                    <a:lumMod val="65000"/>
                    <a:lumOff val="35000"/>
                  </a:prstClr>
                </a:solidFill>
                <a:latin typeface="Aptos" panose="020B0004020202020204" pitchFamily="34" charset="0"/>
                <a:ea typeface="+mn-ea"/>
                <a:cs typeface="+mn-cs"/>
              </a:defRPr>
            </a:pPr>
            <a:r>
              <a:rPr lang="en-US" sz="2000" dirty="0">
                <a:latin typeface="Aptos" panose="020B0004020202020204" pitchFamily="34" charset="0"/>
              </a:rPr>
              <a:t>How many cats do the students in my class have?</a:t>
            </a:r>
          </a:p>
        </p:txBody>
      </p:sp>
    </p:spTree>
    <p:extLst>
      <p:ext uri="{BB962C8B-B14F-4D97-AF65-F5344CB8AC3E}">
        <p14:creationId xmlns:p14="http://schemas.microsoft.com/office/powerpoint/2010/main" val="36361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7DF2-4FB8-D99E-F19D-00A21B2E728F}"/>
              </a:ext>
            </a:extLst>
          </p:cNvPr>
          <p:cNvSpPr>
            <a:spLocks noGrp="1"/>
          </p:cNvSpPr>
          <p:nvPr>
            <p:ph type="title"/>
          </p:nvPr>
        </p:nvSpPr>
        <p:spPr>
          <a:xfrm>
            <a:off x="838200" y="89700"/>
            <a:ext cx="10515600" cy="1325563"/>
          </a:xfrm>
        </p:spPr>
        <p:txBody>
          <a:bodyPr/>
          <a:lstStyle/>
          <a:p>
            <a:r>
              <a:rPr lang="en-GB" dirty="0">
                <a:latin typeface="Arial" panose="020B0604020202020204" pitchFamily="34" charset="0"/>
                <a:cs typeface="Arial" panose="020B0604020202020204" pitchFamily="34" charset="0"/>
              </a:rPr>
              <a:t>Continuous data</a:t>
            </a:r>
          </a:p>
        </p:txBody>
      </p:sp>
      <p:sp>
        <p:nvSpPr>
          <p:cNvPr id="3" name="Content Placeholder 2">
            <a:extLst>
              <a:ext uri="{FF2B5EF4-FFF2-40B4-BE49-F238E27FC236}">
                <a16:creationId xmlns:a16="http://schemas.microsoft.com/office/drawing/2014/main" id="{DEEDEB03-3BA0-3E17-8E41-2CF26DBA88FA}"/>
              </a:ext>
            </a:extLst>
          </p:cNvPr>
          <p:cNvSpPr>
            <a:spLocks noGrp="1"/>
          </p:cNvSpPr>
          <p:nvPr>
            <p:ph idx="1"/>
          </p:nvPr>
        </p:nvSpPr>
        <p:spPr>
          <a:xfrm>
            <a:off x="813329" y="1415263"/>
            <a:ext cx="10515600" cy="4351338"/>
          </a:xfrm>
        </p:spPr>
        <p:txBody>
          <a:bodyPr/>
          <a:lstStyle/>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Continuous data can only be described using intervals on the real number line.</a:t>
            </a:r>
          </a:p>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 They usually arise from measuring something such as time, weight, height, or length.</a:t>
            </a:r>
          </a:p>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Continuous data will always be rounded. The degree of accuracy used depends on the situation.</a:t>
            </a:r>
            <a:endParaRPr lang="en-US" sz="1800" dirty="0">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For example, someone’s height is a continuous variable. The respondents may report their height to the nearest whole number or to the nearest ½ whole number.</a:t>
            </a: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If continuous data are rounded, then they will look like discrete data. Thus, ask yourself if this is a measure that has been rounded. If it is then the data are continuous. </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US" sz="1800" dirty="0">
              <a:latin typeface="Arial" panose="020B0604020202020204" pitchFamily="34" charset="0"/>
              <a:ea typeface="Calibri" panose="020F0502020204030204" pitchFamily="34" charset="0"/>
              <a:cs typeface="Arial" panose="020B0604020202020204" pitchFamily="34" charset="0"/>
            </a:endParaRPr>
          </a:p>
          <a:p>
            <a:pPr marL="0" indent="0">
              <a:buNone/>
            </a:pPr>
            <a:r>
              <a:rPr lang="en-US" sz="1800" i="1" kern="100" dirty="0">
                <a:effectLst/>
                <a:latin typeface="Arial" panose="020B0604020202020204" pitchFamily="34" charset="0"/>
                <a:ea typeface="Calibri" panose="020F0502020204030204" pitchFamily="34" charset="0"/>
                <a:cs typeface="Arial" panose="020B0604020202020204" pitchFamily="34" charset="0"/>
              </a:rPr>
              <a:t>Examples: Height, weight, distance travelled</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dirty="0"/>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468B89F3-B6D0-682B-F34A-767340B6A7EE}"/>
                  </a:ext>
                </a:extLst>
              </p:cNvPr>
              <p:cNvGraphicFramePr/>
              <p:nvPr>
                <p:extLst>
                  <p:ext uri="{D42A27DB-BD31-4B8C-83A1-F6EECF244321}">
                    <p14:modId xmlns:p14="http://schemas.microsoft.com/office/powerpoint/2010/main" val="1748834844"/>
                  </p:ext>
                </p:extLst>
              </p:nvPr>
            </p:nvGraphicFramePr>
            <p:xfrm>
              <a:off x="6564217" y="4114800"/>
              <a:ext cx="4572000" cy="274320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468B89F3-B6D0-682B-F34A-767340B6A7EE}"/>
                  </a:ext>
                </a:extLst>
              </p:cNvPr>
              <p:cNvPicPr>
                <a:picLocks noGrp="1" noRot="1" noChangeAspect="1" noMove="1" noResize="1" noEditPoints="1" noAdjustHandles="1" noChangeArrowheads="1" noChangeShapeType="1"/>
              </p:cNvPicPr>
              <p:nvPr/>
            </p:nvPicPr>
            <p:blipFill>
              <a:blip r:embed="rId3"/>
              <a:stretch>
                <a:fillRect/>
              </a:stretch>
            </p:blipFill>
            <p:spPr>
              <a:xfrm>
                <a:off x="6564217" y="4114800"/>
                <a:ext cx="4572000" cy="2743200"/>
              </a:xfrm>
              <a:prstGeom prst="rect">
                <a:avLst/>
              </a:prstGeom>
            </p:spPr>
          </p:pic>
        </mc:Fallback>
      </mc:AlternateContent>
    </p:spTree>
    <p:extLst>
      <p:ext uri="{BB962C8B-B14F-4D97-AF65-F5344CB8AC3E}">
        <p14:creationId xmlns:p14="http://schemas.microsoft.com/office/powerpoint/2010/main" val="81751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AD77-0F7F-8E2D-6A8A-17A624E0CA3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Quiz</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A560E07-805F-C841-C6E1-9AC8A29952F0}"/>
              </a:ext>
            </a:extLst>
          </p:cNvPr>
          <p:cNvSpPr>
            <a:spLocks noGrp="1"/>
          </p:cNvSpPr>
          <p:nvPr>
            <p:ph idx="1"/>
          </p:nvPr>
        </p:nvSpPr>
        <p:spPr>
          <a:xfrm>
            <a:off x="838200" y="1795145"/>
            <a:ext cx="10515600" cy="4351338"/>
          </a:xfrm>
        </p:spPr>
        <p:txBody>
          <a:bodyPr/>
          <a:lstStyle/>
          <a:p>
            <a:pPr marL="0" indent="0">
              <a:buNone/>
            </a:pPr>
            <a:r>
              <a:rPr lang="en-GB" dirty="0">
                <a:latin typeface="Arial" panose="020B0604020202020204" pitchFamily="34" charset="0"/>
                <a:cs typeface="Arial" panose="020B0604020202020204" pitchFamily="34" charset="0"/>
                <a:hlinkClick r:id="rId2"/>
              </a:rPr>
              <a:t>https://play.kahoot.it/v2/?quizId=76569fcb-343b-4b5e-bbe4-a2a3bde01609</a:t>
            </a:r>
            <a:endParaRPr lang="en-GB"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735638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1716</Words>
  <Application>Microsoft Office PowerPoint</Application>
  <PresentationFormat>Widescreen</PresentationFormat>
  <Paragraphs>126</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Calibri</vt:lpstr>
      <vt:lpstr>Calibri Light</vt:lpstr>
      <vt:lpstr>Cambria Math</vt:lpstr>
      <vt:lpstr>Consolas</vt:lpstr>
      <vt:lpstr>Courier New</vt:lpstr>
      <vt:lpstr>Symbol</vt:lpstr>
      <vt:lpstr>Office Theme</vt:lpstr>
      <vt:lpstr>Introduction to Probability and Statistics 4CM521</vt:lpstr>
      <vt:lpstr>Learning outcomes</vt:lpstr>
      <vt:lpstr>Introduction</vt:lpstr>
      <vt:lpstr>Population definition</vt:lpstr>
      <vt:lpstr>Example 2.1</vt:lpstr>
      <vt:lpstr>Sample definition</vt:lpstr>
      <vt:lpstr>Example 2.2.</vt:lpstr>
      <vt:lpstr>Example 2.3.</vt:lpstr>
      <vt:lpstr>Parameters3 and Statistics4 definitions</vt:lpstr>
      <vt:lpstr>Example 2.4.</vt:lpstr>
      <vt:lpstr>Population and sample notation</vt:lpstr>
      <vt:lpstr>Taking a Sample</vt:lpstr>
      <vt:lpstr>Example 2.5.</vt:lpstr>
      <vt:lpstr>Types of sampling</vt:lpstr>
      <vt:lpstr>Example 2.6</vt:lpstr>
      <vt:lpstr>Types of Data</vt:lpstr>
      <vt:lpstr>Nominal Data</vt:lpstr>
      <vt:lpstr>Ordinal data</vt:lpstr>
      <vt:lpstr>Discrete Data</vt:lpstr>
      <vt:lpstr>Continuous data</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Notation and Definitions</dc:title>
  <dc:creator>Jack Sutton</dc:creator>
  <cp:lastModifiedBy>Jack Sutton</cp:lastModifiedBy>
  <cp:revision>2</cp:revision>
  <cp:lastPrinted>2024-09-17T14:39:23Z</cp:lastPrinted>
  <dcterms:created xsi:type="dcterms:W3CDTF">2024-02-01T11:17:27Z</dcterms:created>
  <dcterms:modified xsi:type="dcterms:W3CDTF">2024-10-01T10:05:59Z</dcterms:modified>
</cp:coreProperties>
</file>