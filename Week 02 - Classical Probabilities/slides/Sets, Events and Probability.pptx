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D8E41-8B03-4AB5-8A33-60C8A2B64E2F}" v="1" dt="2025-09-23T13:37:35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utton" userId="ff762cc7-8b85-4d5d-84fc-d80ed39daf4b" providerId="ADAL" clId="{6D6D8E41-8B03-4AB5-8A33-60C8A2B64E2F}"/>
    <pc:docChg chg="modSld">
      <pc:chgData name="Jack Sutton" userId="ff762cc7-8b85-4d5d-84fc-d80ed39daf4b" providerId="ADAL" clId="{6D6D8E41-8B03-4AB5-8A33-60C8A2B64E2F}" dt="2025-09-23T13:37:35.497" v="0" actId="114"/>
      <pc:docMkLst>
        <pc:docMk/>
      </pc:docMkLst>
      <pc:sldChg chg="modSp">
        <pc:chgData name="Jack Sutton" userId="ff762cc7-8b85-4d5d-84fc-d80ed39daf4b" providerId="ADAL" clId="{6D6D8E41-8B03-4AB5-8A33-60C8A2B64E2F}" dt="2025-09-23T13:37:35.497" v="0" actId="114"/>
        <pc:sldMkLst>
          <pc:docMk/>
          <pc:sldMk cId="226994208" sldId="262"/>
        </pc:sldMkLst>
        <pc:spChg chg="mod">
          <ac:chgData name="Jack Sutton" userId="ff762cc7-8b85-4d5d-84fc-d80ed39daf4b" providerId="ADAL" clId="{6D6D8E41-8B03-4AB5-8A33-60C8A2B64E2F}" dt="2025-09-23T13:37:35.497" v="0" actId="114"/>
          <ac:spMkLst>
            <pc:docMk/>
            <pc:sldMk cId="226994208" sldId="262"/>
            <ac:spMk id="3" creationId="{6625EBDB-6A66-4FB6-EAB3-E6FE32C07554}"/>
          </ac:spMkLst>
        </pc:spChg>
      </pc:sldChg>
    </pc:docChg>
  </pc:docChgLst>
  <pc:docChgLst>
    <pc:chgData name="Jack Sutton" userId="ff762cc7-8b85-4d5d-84fc-d80ed39daf4b" providerId="ADAL" clId="{8DF477BC-06BE-4376-9DB8-3C9BAAE9CCF2}"/>
    <pc:docChg chg="custSel modSld">
      <pc:chgData name="Jack Sutton" userId="ff762cc7-8b85-4d5d-84fc-d80ed39daf4b" providerId="ADAL" clId="{8DF477BC-06BE-4376-9DB8-3C9BAAE9CCF2}" dt="2024-10-28T12:52:27.009" v="127" actId="20577"/>
      <pc:docMkLst>
        <pc:docMk/>
      </pc:docMkLst>
      <pc:sldChg chg="modSp mod">
        <pc:chgData name="Jack Sutton" userId="ff762cc7-8b85-4d5d-84fc-d80ed39daf4b" providerId="ADAL" clId="{8DF477BC-06BE-4376-9DB8-3C9BAAE9CCF2}" dt="2024-10-28T11:58:52.112" v="6" actId="20577"/>
        <pc:sldMkLst>
          <pc:docMk/>
          <pc:sldMk cId="89073655" sldId="260"/>
        </pc:sldMkLst>
      </pc:sldChg>
      <pc:sldChg chg="modSp mod">
        <pc:chgData name="Jack Sutton" userId="ff762cc7-8b85-4d5d-84fc-d80ed39daf4b" providerId="ADAL" clId="{8DF477BC-06BE-4376-9DB8-3C9BAAE9CCF2}" dt="2024-10-28T11:59:06.638" v="8" actId="20577"/>
        <pc:sldMkLst>
          <pc:docMk/>
          <pc:sldMk cId="3467526079" sldId="261"/>
        </pc:sldMkLst>
      </pc:sldChg>
      <pc:sldChg chg="modSp mod">
        <pc:chgData name="Jack Sutton" userId="ff762cc7-8b85-4d5d-84fc-d80ed39daf4b" providerId="ADAL" clId="{8DF477BC-06BE-4376-9DB8-3C9BAAE9CCF2}" dt="2024-10-28T11:59:29.158" v="23" actId="20577"/>
        <pc:sldMkLst>
          <pc:docMk/>
          <pc:sldMk cId="226994208" sldId="262"/>
        </pc:sldMkLst>
      </pc:sldChg>
      <pc:sldChg chg="modSp mod">
        <pc:chgData name="Jack Sutton" userId="ff762cc7-8b85-4d5d-84fc-d80ed39daf4b" providerId="ADAL" clId="{8DF477BC-06BE-4376-9DB8-3C9BAAE9CCF2}" dt="2024-10-28T12:00:07.557" v="28" actId="14100"/>
        <pc:sldMkLst>
          <pc:docMk/>
          <pc:sldMk cId="4262620303" sldId="264"/>
        </pc:sldMkLst>
      </pc:sldChg>
      <pc:sldChg chg="modSp">
        <pc:chgData name="Jack Sutton" userId="ff762cc7-8b85-4d5d-84fc-d80ed39daf4b" providerId="ADAL" clId="{8DF477BC-06BE-4376-9DB8-3C9BAAE9CCF2}" dt="2024-10-28T12:00:22.674" v="29" actId="2711"/>
        <pc:sldMkLst>
          <pc:docMk/>
          <pc:sldMk cId="105196523" sldId="265"/>
        </pc:sldMkLst>
      </pc:sldChg>
      <pc:sldChg chg="modSp">
        <pc:chgData name="Jack Sutton" userId="ff762cc7-8b85-4d5d-84fc-d80ed39daf4b" providerId="ADAL" clId="{8DF477BC-06BE-4376-9DB8-3C9BAAE9CCF2}" dt="2024-10-28T12:00:28.245" v="30" actId="2711"/>
        <pc:sldMkLst>
          <pc:docMk/>
          <pc:sldMk cId="1288400319" sldId="266"/>
        </pc:sldMkLst>
      </pc:sldChg>
      <pc:sldChg chg="modSp mod">
        <pc:chgData name="Jack Sutton" userId="ff762cc7-8b85-4d5d-84fc-d80ed39daf4b" providerId="ADAL" clId="{8DF477BC-06BE-4376-9DB8-3C9BAAE9CCF2}" dt="2024-10-28T12:08:22.594" v="108" actId="20577"/>
        <pc:sldMkLst>
          <pc:docMk/>
          <pc:sldMk cId="3504522814" sldId="268"/>
        </pc:sldMkLst>
      </pc:sldChg>
      <pc:sldChg chg="modSp">
        <pc:chgData name="Jack Sutton" userId="ff762cc7-8b85-4d5d-84fc-d80ed39daf4b" providerId="ADAL" clId="{8DF477BC-06BE-4376-9DB8-3C9BAAE9CCF2}" dt="2024-10-28T12:00:46.423" v="32" actId="2711"/>
        <pc:sldMkLst>
          <pc:docMk/>
          <pc:sldMk cId="2509456309" sldId="269"/>
        </pc:sldMkLst>
      </pc:sldChg>
      <pc:sldChg chg="modSp mod">
        <pc:chgData name="Jack Sutton" userId="ff762cc7-8b85-4d5d-84fc-d80ed39daf4b" providerId="ADAL" clId="{8DF477BC-06BE-4376-9DB8-3C9BAAE9CCF2}" dt="2024-10-28T12:01:05.268" v="50" actId="20577"/>
        <pc:sldMkLst>
          <pc:docMk/>
          <pc:sldMk cId="1666903659" sldId="270"/>
        </pc:sldMkLst>
      </pc:sldChg>
      <pc:sldChg chg="modSp">
        <pc:chgData name="Jack Sutton" userId="ff762cc7-8b85-4d5d-84fc-d80ed39daf4b" providerId="ADAL" clId="{8DF477BC-06BE-4376-9DB8-3C9BAAE9CCF2}" dt="2024-10-28T12:01:30.138" v="65" actId="2711"/>
        <pc:sldMkLst>
          <pc:docMk/>
          <pc:sldMk cId="1866984740" sldId="271"/>
        </pc:sldMkLst>
      </pc:sldChg>
      <pc:sldChg chg="modSp mod">
        <pc:chgData name="Jack Sutton" userId="ff762cc7-8b85-4d5d-84fc-d80ed39daf4b" providerId="ADAL" clId="{8DF477BC-06BE-4376-9DB8-3C9BAAE9CCF2}" dt="2024-10-28T12:01:24.509" v="64" actId="2711"/>
        <pc:sldMkLst>
          <pc:docMk/>
          <pc:sldMk cId="2637590612" sldId="272"/>
        </pc:sldMkLst>
      </pc:sldChg>
      <pc:sldChg chg="modSp">
        <pc:chgData name="Jack Sutton" userId="ff762cc7-8b85-4d5d-84fc-d80ed39daf4b" providerId="ADAL" clId="{8DF477BC-06BE-4376-9DB8-3C9BAAE9CCF2}" dt="2024-10-28T12:01:39.941" v="66" actId="2711"/>
        <pc:sldMkLst>
          <pc:docMk/>
          <pc:sldMk cId="2211724825" sldId="273"/>
        </pc:sldMkLst>
      </pc:sldChg>
      <pc:sldChg chg="modSp mod">
        <pc:chgData name="Jack Sutton" userId="ff762cc7-8b85-4d5d-84fc-d80ed39daf4b" providerId="ADAL" clId="{8DF477BC-06BE-4376-9DB8-3C9BAAE9CCF2}" dt="2024-10-28T12:01:48.211" v="67" actId="2711"/>
        <pc:sldMkLst>
          <pc:docMk/>
          <pc:sldMk cId="1759349909" sldId="275"/>
        </pc:sldMkLst>
      </pc:sldChg>
      <pc:sldChg chg="modSp mod">
        <pc:chgData name="Jack Sutton" userId="ff762cc7-8b85-4d5d-84fc-d80ed39daf4b" providerId="ADAL" clId="{8DF477BC-06BE-4376-9DB8-3C9BAAE9CCF2}" dt="2024-10-28T12:51:59.217" v="113" actId="2711"/>
        <pc:sldMkLst>
          <pc:docMk/>
          <pc:sldMk cId="3953144871" sldId="276"/>
        </pc:sldMkLst>
      </pc:sldChg>
      <pc:sldChg chg="modSp">
        <pc:chgData name="Jack Sutton" userId="ff762cc7-8b85-4d5d-84fc-d80ed39daf4b" providerId="ADAL" clId="{8DF477BC-06BE-4376-9DB8-3C9BAAE9CCF2}" dt="2024-10-28T12:52:27.009" v="127" actId="20577"/>
        <pc:sldMkLst>
          <pc:docMk/>
          <pc:sldMk cId="2652472634" sldId="277"/>
        </pc:sldMkLst>
      </pc:sldChg>
      <pc:sldChg chg="modSp">
        <pc:chgData name="Jack Sutton" userId="ff762cc7-8b85-4d5d-84fc-d80ed39daf4b" providerId="ADAL" clId="{8DF477BC-06BE-4376-9DB8-3C9BAAE9CCF2}" dt="2024-10-28T12:02:03.751" v="69" actId="2711"/>
        <pc:sldMkLst>
          <pc:docMk/>
          <pc:sldMk cId="2777934192" sldId="278"/>
        </pc:sldMkLst>
      </pc:sldChg>
      <pc:sldChg chg="modSp">
        <pc:chgData name="Jack Sutton" userId="ff762cc7-8b85-4d5d-84fc-d80ed39daf4b" providerId="ADAL" clId="{8DF477BC-06BE-4376-9DB8-3C9BAAE9CCF2}" dt="2024-10-28T12:02:09.116" v="70" actId="2711"/>
        <pc:sldMkLst>
          <pc:docMk/>
          <pc:sldMk cId="4223413214" sldId="279"/>
        </pc:sldMkLst>
      </pc:sldChg>
      <pc:sldChg chg="modSp">
        <pc:chgData name="Jack Sutton" userId="ff762cc7-8b85-4d5d-84fc-d80ed39daf4b" providerId="ADAL" clId="{8DF477BC-06BE-4376-9DB8-3C9BAAE9CCF2}" dt="2024-10-28T12:02:14.181" v="71" actId="2711"/>
        <pc:sldMkLst>
          <pc:docMk/>
          <pc:sldMk cId="1504428753" sldId="280"/>
        </pc:sldMkLst>
      </pc:sldChg>
      <pc:sldChg chg="modSp mod">
        <pc:chgData name="Jack Sutton" userId="ff762cc7-8b85-4d5d-84fc-d80ed39daf4b" providerId="ADAL" clId="{8DF477BC-06BE-4376-9DB8-3C9BAAE9CCF2}" dt="2024-10-28T12:02:24.751" v="72" actId="2711"/>
        <pc:sldMkLst>
          <pc:docMk/>
          <pc:sldMk cId="3423163992" sldId="282"/>
        </pc:sldMkLst>
      </pc:sldChg>
      <pc:sldChg chg="modSp">
        <pc:chgData name="Jack Sutton" userId="ff762cc7-8b85-4d5d-84fc-d80ed39daf4b" providerId="ADAL" clId="{8DF477BC-06BE-4376-9DB8-3C9BAAE9CCF2}" dt="2024-10-28T12:02:31.626" v="73" actId="2711"/>
        <pc:sldMkLst>
          <pc:docMk/>
          <pc:sldMk cId="3741453560" sldId="283"/>
        </pc:sldMkLst>
      </pc:sldChg>
      <pc:sldChg chg="modSp mod">
        <pc:chgData name="Jack Sutton" userId="ff762cc7-8b85-4d5d-84fc-d80ed39daf4b" providerId="ADAL" clId="{8DF477BC-06BE-4376-9DB8-3C9BAAE9CCF2}" dt="2024-10-28T12:02:36.775" v="74" actId="2711"/>
        <pc:sldMkLst>
          <pc:docMk/>
          <pc:sldMk cId="2733402201" sldId="284"/>
        </pc:sldMkLst>
      </pc:sldChg>
      <pc:sldChg chg="modSp mod">
        <pc:chgData name="Jack Sutton" userId="ff762cc7-8b85-4d5d-84fc-d80ed39daf4b" providerId="ADAL" clId="{8DF477BC-06BE-4376-9DB8-3C9BAAE9CCF2}" dt="2024-10-28T12:03:06.568" v="90" actId="27636"/>
        <pc:sldMkLst>
          <pc:docMk/>
          <pc:sldMk cId="1542294034" sldId="285"/>
        </pc:sldMkLst>
      </pc:sldChg>
      <pc:sldChg chg="modSp">
        <pc:chgData name="Jack Sutton" userId="ff762cc7-8b85-4d5d-84fc-d80ed39daf4b" providerId="ADAL" clId="{8DF477BC-06BE-4376-9DB8-3C9BAAE9CCF2}" dt="2024-10-28T12:03:14.686" v="91" actId="2711"/>
        <pc:sldMkLst>
          <pc:docMk/>
          <pc:sldMk cId="3013099425" sldId="286"/>
        </pc:sldMkLst>
      </pc:sldChg>
      <pc:sldChg chg="modSp mod">
        <pc:chgData name="Jack Sutton" userId="ff762cc7-8b85-4d5d-84fc-d80ed39daf4b" providerId="ADAL" clId="{8DF477BC-06BE-4376-9DB8-3C9BAAE9CCF2}" dt="2024-10-28T12:03:20.172" v="92" actId="2711"/>
        <pc:sldMkLst>
          <pc:docMk/>
          <pc:sldMk cId="2535298585" sldId="287"/>
        </pc:sldMkLst>
      </pc:sldChg>
      <pc:sldChg chg="modSp mod">
        <pc:chgData name="Jack Sutton" userId="ff762cc7-8b85-4d5d-84fc-d80ed39daf4b" providerId="ADAL" clId="{8DF477BC-06BE-4376-9DB8-3C9BAAE9CCF2}" dt="2024-10-28T12:03:25.795" v="93" actId="2711"/>
        <pc:sldMkLst>
          <pc:docMk/>
          <pc:sldMk cId="455991231" sldId="288"/>
        </pc:sldMkLst>
      </pc:sldChg>
      <pc:sldChg chg="modSp mod">
        <pc:chgData name="Jack Sutton" userId="ff762cc7-8b85-4d5d-84fc-d80ed39daf4b" providerId="ADAL" clId="{8DF477BC-06BE-4376-9DB8-3C9BAAE9CCF2}" dt="2024-10-28T12:03:35.238" v="94" actId="2711"/>
        <pc:sldMkLst>
          <pc:docMk/>
          <pc:sldMk cId="2840031877" sldId="289"/>
        </pc:sldMkLst>
      </pc:sldChg>
      <pc:sldChg chg="modSp mod">
        <pc:chgData name="Jack Sutton" userId="ff762cc7-8b85-4d5d-84fc-d80ed39daf4b" providerId="ADAL" clId="{8DF477BC-06BE-4376-9DB8-3C9BAAE9CCF2}" dt="2024-10-28T12:05:49.196" v="106" actId="1076"/>
        <pc:sldMkLst>
          <pc:docMk/>
          <pc:sldMk cId="272164812" sldId="290"/>
        </pc:sldMkLst>
      </pc:sldChg>
      <pc:sldChg chg="modSp mod">
        <pc:chgData name="Jack Sutton" userId="ff762cc7-8b85-4d5d-84fc-d80ed39daf4b" providerId="ADAL" clId="{8DF477BC-06BE-4376-9DB8-3C9BAAE9CCF2}" dt="2024-10-28T12:03:54.711" v="99" actId="2711"/>
        <pc:sldMkLst>
          <pc:docMk/>
          <pc:sldMk cId="3462693737" sldId="291"/>
        </pc:sldMkLst>
      </pc:sldChg>
      <pc:sldChg chg="modSp mod">
        <pc:chgData name="Jack Sutton" userId="ff762cc7-8b85-4d5d-84fc-d80ed39daf4b" providerId="ADAL" clId="{8DF477BC-06BE-4376-9DB8-3C9BAAE9CCF2}" dt="2024-10-28T12:09:09.820" v="111" actId="14100"/>
        <pc:sldMkLst>
          <pc:docMk/>
          <pc:sldMk cId="420524691" sldId="292"/>
        </pc:sldMkLst>
      </pc:sldChg>
      <pc:sldChg chg="modSp">
        <pc:chgData name="Jack Sutton" userId="ff762cc7-8b85-4d5d-84fc-d80ed39daf4b" providerId="ADAL" clId="{8DF477BC-06BE-4376-9DB8-3C9BAAE9CCF2}" dt="2024-10-28T12:04:13.380" v="101" actId="2711"/>
        <pc:sldMkLst>
          <pc:docMk/>
          <pc:sldMk cId="3754987630" sldId="294"/>
        </pc:sldMkLst>
      </pc:sldChg>
      <pc:sldChg chg="modSp mod">
        <pc:chgData name="Jack Sutton" userId="ff762cc7-8b85-4d5d-84fc-d80ed39daf4b" providerId="ADAL" clId="{8DF477BC-06BE-4376-9DB8-3C9BAAE9CCF2}" dt="2024-10-28T12:04:20.359" v="102" actId="2711"/>
        <pc:sldMkLst>
          <pc:docMk/>
          <pc:sldMk cId="3563096179" sldId="295"/>
        </pc:sldMkLst>
      </pc:sldChg>
      <pc:sldChg chg="modSp mod">
        <pc:chgData name="Jack Sutton" userId="ff762cc7-8b85-4d5d-84fc-d80ed39daf4b" providerId="ADAL" clId="{8DF477BC-06BE-4376-9DB8-3C9BAAE9CCF2}" dt="2024-10-28T12:09:22.485" v="112" actId="14100"/>
        <pc:sldMkLst>
          <pc:docMk/>
          <pc:sldMk cId="1876404004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D58F-EE8A-9CEE-C67F-9114C1C74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65F93-22B8-CB26-DD7F-F6BA0AF7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44C2-CBD7-AFDF-8D7B-681DD71B0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8E5C-2933-DD3E-9E0B-E1D2C992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14B6F-0238-5210-8ECD-C49492FA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97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CCEA-1208-6C11-7CCD-D60BB929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F9233-7C14-9F3F-FD19-72D9F6D5D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3D41-06EC-FB86-F7AB-DB027C5F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07DCE-CAD3-6E00-A7D1-0D74A6A3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4A7E2-BABE-9847-5E62-EBCA2C6C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20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2E41-A0AA-AB02-5D1D-0EDF9C50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97A4E-84D5-1B2E-00BC-2FFE5F683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FD0A6-E765-0306-08F8-FB8C5506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7EA59-6F85-8124-E9EB-4E65BE58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3C869-C1B7-39E3-7D8C-47B0E2DB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23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12EA-934A-5C4A-62B2-276C8BBF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3065-0448-A61B-FD65-1122A89FF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B5407-8680-D8B5-4F51-F6448B1A8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C800A-4537-B6CF-1DCC-B4F3AE44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CCC6E-EE69-A470-9B19-E0E289D1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D863B-2210-43A7-64D7-D997F2C0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66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3237-257A-1C3B-3424-CB2B2924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269AF-9DA7-1EDF-71B3-EB54DC57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486F9-E888-ED08-88A0-9BC3A30AC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6A763-ABA2-42EB-8D1F-1113B37C4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A5962-47F2-13C3-9DF8-E056A25A6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DABE3-1081-43D6-D1A7-7F2A092E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D37D3-66BA-A0F9-0CCA-FEE14112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01357-55D4-CD0A-B416-4D13F049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48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8CC5-CE8D-10CB-9CFD-B7F4A0E2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FB4FC-5ADB-3BB5-A980-58C0E0BE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04704-7304-7D71-8EAE-FF4EE04E1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14630-B353-9716-5F8F-6DE70ABA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96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10492-756F-6082-6797-93443ABE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3C8B9-BD37-78B1-1389-1EAC6F2F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062E9-5E52-8D84-CB97-F2333CF1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33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F113-2EFC-32EB-72EC-97585EC3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3D098-02D2-EC67-27E0-53E31DC72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45E39-B3E5-313F-B007-64D696382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0D13-13B4-5EAC-3F7D-4EA64CFF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537AC-F362-7795-E228-FC20FA5D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9BC60-F9F0-2310-F52A-1EA8DDA1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37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B6B5-790D-D820-B9F4-0AA5DE32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F20C2-9A4A-7B4F-DA11-CA2563BD2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77350-5ACA-E83F-E63A-74AA9D3E3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9C2F1-A30A-EE21-641F-BA7AA5EB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63A03-C238-EDF2-850F-59F4649C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BF224-FBD1-833A-9025-EE8645D9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08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BA5E-BC30-C10D-D6D0-4774A2C4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3B0EB-FF12-7B7A-6C29-7DD37C642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4D45D-9159-9CE0-3777-C50AC545C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60ED5-ED9D-4C14-BBE2-6E33F5659A4C}" type="datetimeFigureOut">
              <a:rPr lang="en-GB" smtClean="0"/>
              <a:pPr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F9660-A731-9BD2-BD2F-EBE5ED46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1333C-5AFD-AF7C-6475-9A401C3F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FD3F37-88A7-4445-B21A-78D527958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43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7DE7D-CBA0-55F5-82AF-AD91893B0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D4CFA-83A0-6694-D7F4-7D30B589E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CD4EC-FB90-C2C5-6094-C81A91CC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0281-CE64-4926-AC2D-B44AF055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FF1AD-9A3D-1FE7-26B0-8B41ABDA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76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92431-58F2-D289-7541-8F8684D1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782F7-93C9-EDF7-B0AF-E1DC5D9E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74814-6D88-B7B4-189D-1756AE36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60ED5-ED9D-4C14-BBE2-6E33F5659A4C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F1F5-8CEA-7854-6B73-80545F0B1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3BBAC-8936-12DC-6042-546F639F9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D3F37-88A7-4445-B21A-78D5279586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23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B62E-28F7-3D9E-102D-438C6B3B2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Probability and Statistics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4CM521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24075-36B1-402D-21DD-5D8F20F5F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Sets, Events and Probability</a:t>
            </a:r>
          </a:p>
        </p:txBody>
      </p:sp>
    </p:spTree>
    <p:extLst>
      <p:ext uri="{BB962C8B-B14F-4D97-AF65-F5344CB8AC3E}">
        <p14:creationId xmlns:p14="http://schemas.microsoft.com/office/powerpoint/2010/main" val="82844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8CA4-DDBD-C264-C95A-89F86324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3AF6-52C1-963D-C18D-E1CCBC856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Definitions and notation</a:t>
            </a:r>
          </a:p>
          <a:p>
            <a:pPr>
              <a:lnSpc>
                <a:spcPct val="100000"/>
              </a:lnSpc>
            </a:pPr>
            <a:r>
              <a:rPr lang="en-GB" dirty="0"/>
              <a:t>Conditional Probability</a:t>
            </a:r>
          </a:p>
          <a:p>
            <a:pPr>
              <a:lnSpc>
                <a:spcPct val="100000"/>
              </a:lnSpc>
            </a:pPr>
            <a:r>
              <a:rPr lang="en-GB" dirty="0"/>
              <a:t>Multiplication Law</a:t>
            </a:r>
          </a:p>
          <a:p>
            <a:pPr>
              <a:lnSpc>
                <a:spcPct val="100000"/>
              </a:lnSpc>
            </a:pPr>
            <a:r>
              <a:rPr lang="en-GB" dirty="0"/>
              <a:t>Law of Total Probabilities</a:t>
            </a:r>
          </a:p>
          <a:p>
            <a:pPr>
              <a:lnSpc>
                <a:spcPct val="100000"/>
              </a:lnSpc>
            </a:pPr>
            <a:r>
              <a:rPr lang="en-GB" dirty="0"/>
              <a:t>Bayes’ Theorem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806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5110-1EAD-9772-C2BD-91DD617B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31BC-83B2-491D-7CAD-700E6970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Is there anything you can say for certainty?</a:t>
            </a:r>
          </a:p>
          <a:p>
            <a:pPr>
              <a:lnSpc>
                <a:spcPct val="100000"/>
              </a:lnSpc>
            </a:pPr>
            <a:r>
              <a:rPr lang="en-GB" dirty="0"/>
              <a:t>Are you able to say for certain how long this lecture is?</a:t>
            </a:r>
          </a:p>
          <a:p>
            <a:pPr>
              <a:lnSpc>
                <a:spcPct val="100000"/>
              </a:lnSpc>
            </a:pPr>
            <a:r>
              <a:rPr lang="en-GB" dirty="0"/>
              <a:t>What will be the weather tomorrow?</a:t>
            </a:r>
          </a:p>
          <a:p>
            <a:pPr>
              <a:lnSpc>
                <a:spcPct val="100000"/>
              </a:lnSpc>
            </a:pPr>
            <a:r>
              <a:rPr lang="en-GB" dirty="0"/>
              <a:t>The list is endless…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14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3C99-5948-4BE9-D354-65668C19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Chance of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6724-6F92-C29F-16EE-D22C29AC6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Statisticians use the word experiment to describe any process that generates a set of data</a:t>
            </a:r>
          </a:p>
          <a:p>
            <a:pPr>
              <a:lnSpc>
                <a:spcPct val="100000"/>
              </a:lnSpc>
            </a:pPr>
            <a:r>
              <a:rPr lang="en-GB" dirty="0"/>
              <a:t>Recording of information (whether numerical or categorical) are referred to as observations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61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B5D6-5808-7501-B020-519CBBFB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10972-DD59-B42C-EE4B-32E9ABE833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The set of all possible outcomes of a statistical experiment is called the sample space.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For example,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kern="100" dirty="0">
                    <a:ea typeface="Calibri" panose="020F0502020204030204" pitchFamily="34" charset="0"/>
                  </a:rPr>
                  <a:t>I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f we denote it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} 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for tossing the coin 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={1,2,3,4,5,6} 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for numbers that appear on top face of the experiment of tossing a die.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10972-DD59-B42C-EE4B-32E9ABE83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73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B90D-53D2-921B-F244-8D317414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DA0A7-7DDB-D875-E794-B9B8DF5624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Three items are selected at random from a manufacturing process. Each item is inspected and classified as defective (D) or non-defective (N).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𝛺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𝐷𝐷𝐷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𝐷𝐷𝑁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𝐷𝑁𝐷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…,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𝑁𝑁𝑁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=8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6DA0A7-7DDB-D875-E794-B9B8DF5624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52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5159-59AA-29E8-AECC-265EECAA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 (continued)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5EBDB-6A66-4FB6-EAB3-E6FE32C07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Sample space with a large or infinite number of sample points are best described by a</a:t>
                </a:r>
                <a:r>
                  <a:rPr lang="en-GB" kern="100" dirty="0">
                    <a:ea typeface="Calibri" panose="020F0502020204030204" pitchFamily="34" charset="0"/>
                  </a:rPr>
                  <a:t> 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statement or rule. For example,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𝛺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|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is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city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with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population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over</m:t>
                          </m:r>
                          <m: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1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million</m:t>
                          </m:r>
                        </m:e>
                      </m:d>
                    </m:oMath>
                  </m:oMathPara>
                </a14:m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𝛺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| </m:t>
                          </m:r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≤4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5EBDB-6A66-4FB6-EAB3-E6FE32C07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9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AF7A-D032-0C51-2C83-D05C54EE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 of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42AC96-1A65-1719-B3CD-013CD3A0C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To every point in the sample space, we assign the probability such that the sum of</a:t>
                </a:r>
                <a:r>
                  <a:rPr lang="en-GB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all probabilities is 1.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42AC96-1A65-1719-B3CD-013CD3A0C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07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CCA8-B0E1-4502-BE02-30B41AFE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EDBD-7F0C-FE03-034B-B474D0989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5769"/>
            <a:ext cx="10515600" cy="346119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kern="100" dirty="0">
                <a:ea typeface="Calibri" panose="020F0502020204030204" pitchFamily="34" charset="0"/>
              </a:rPr>
              <a:t>1/6 + 1/6 + 1/6 + 1/6 + 1/6 + ? = 1</a:t>
            </a:r>
          </a:p>
          <a:p>
            <a:pPr marL="0" indent="0">
              <a:lnSpc>
                <a:spcPct val="100000"/>
              </a:lnSpc>
              <a:buNone/>
            </a:pPr>
            <a:endParaRPr lang="en-US" kern="100" dirty="0"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? = 1/6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7055D67-BB17-76FB-C321-441ECA0E9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0766548"/>
                  </p:ext>
                </p:extLst>
              </p:nvPr>
            </p:nvGraphicFramePr>
            <p:xfrm>
              <a:off x="314960" y="1647877"/>
              <a:ext cx="11130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6060">
                      <a:extLst>
                        <a:ext uri="{9D8B030D-6E8A-4147-A177-3AD203B41FA5}">
                          <a16:colId xmlns:a16="http://schemas.microsoft.com/office/drawing/2014/main" val="1083889705"/>
                        </a:ext>
                      </a:extLst>
                    </a:gridCol>
                    <a:gridCol w="1274020">
                      <a:extLst>
                        <a:ext uri="{9D8B030D-6E8A-4147-A177-3AD203B41FA5}">
                          <a16:colId xmlns:a16="http://schemas.microsoft.com/office/drawing/2014/main" val="2546439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730387667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250989064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266828742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411310481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4808498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759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1/6</m:t>
                                </m:r>
                              </m:oMath>
                            </m:oMathPara>
                          </a14:m>
                          <a:endParaRPr lang="en-GB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68151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7055D67-BB17-76FB-C321-441ECA0E9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0766548"/>
                  </p:ext>
                </p:extLst>
              </p:nvPr>
            </p:nvGraphicFramePr>
            <p:xfrm>
              <a:off x="314960" y="1647877"/>
              <a:ext cx="11130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6060">
                      <a:extLst>
                        <a:ext uri="{9D8B030D-6E8A-4147-A177-3AD203B41FA5}">
                          <a16:colId xmlns:a16="http://schemas.microsoft.com/office/drawing/2014/main" val="1083889705"/>
                        </a:ext>
                      </a:extLst>
                    </a:gridCol>
                    <a:gridCol w="1274020">
                      <a:extLst>
                        <a:ext uri="{9D8B030D-6E8A-4147-A177-3AD203B41FA5}">
                          <a16:colId xmlns:a16="http://schemas.microsoft.com/office/drawing/2014/main" val="2546439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730387667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250989064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266828742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4113104810"/>
                        </a:ext>
                      </a:extLst>
                    </a:gridCol>
                    <a:gridCol w="1590040">
                      <a:extLst>
                        <a:ext uri="{9D8B030D-6E8A-4147-A177-3AD203B41FA5}">
                          <a16:colId xmlns:a16="http://schemas.microsoft.com/office/drawing/2014/main" val="34808498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9" t="-1639" r="-48434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0239" t="-1639" r="-625359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83" t="-1639" r="-40076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83" t="-1639" r="-30076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83" t="-1639" r="-20076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83" t="-1639" r="-10076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383" t="-1639" r="-766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759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Probability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239" t="-101639" r="-625359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83" t="-101639" r="-40076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383" t="-101639" r="-30076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383" t="-101639" r="-20076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383" t="-101639" r="-10076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dirty="0">
                              <a:solidFill>
                                <a:schemeClr val="tx1"/>
                              </a:solidFill>
                            </a:rPr>
                            <a:t>?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68151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262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A092-BA1D-741B-8145-9AA24993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35E37-1965-3BD1-39A3-A2F7EF7A26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: An event is a subset of a sample space.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For example,</a:t>
                </a: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 </m:t>
                        </m:r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a subset of sample space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| </m:t>
                        </m:r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≤4</m:t>
                        </m:r>
                      </m:e>
                    </m:d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A35E37-1965-3BD1-39A3-A2F7EF7A26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9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429C-8212-F336-1F57-BAD90E72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5.1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A5928-81CB-69A7-D287-E4BACB86C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In Example 5.1 we may be interested in event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when the number is of defectives ≥2.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a typeface="Calibri" panose="020F0502020204030204" pitchFamily="34" charset="0"/>
                  </a:rPr>
                  <a:t>Recall that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𝐷𝐷𝐷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𝐷𝐷𝑁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𝐷𝑁𝐷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…,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𝑁𝑁𝑁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=8</m:t>
                    </m:r>
                  </m:oMath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a typeface="Calibri" panose="020F0502020204030204" pitchFamily="34" charset="0"/>
                  </a:rPr>
                  <a:t>Thus, the subset is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𝐷𝐷𝐷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𝐷𝐷𝑁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𝐷𝑁𝐷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𝑁𝐷𝐷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⊂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𝛺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A5928-81CB-69A7-D287-E4BACB86C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40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48E7-31CF-9E50-2EB6-4253DBFB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1D08A-47F0-AB5F-8C17-135E7ABD15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25200" cy="435133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𝔻𝔽</m:t>
                    </m:r>
                  </m:oMath>
                </a14:m>
                <a:r>
                  <a:rPr lang="en-US" dirty="0"/>
                  <a:t>: The complement of an event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with respect to sample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dirty="0"/>
                  <a:t> is the subset of</a:t>
                </a:r>
                <a:r>
                  <a:rPr lang="en-GB" dirty="0"/>
                  <a:t> </a:t>
                </a:r>
                <a:r>
                  <a:rPr lang="en-US" dirty="0"/>
                  <a:t>all elements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dirty="0"/>
                  <a:t> that are not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For example,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be the event that the red card is selected from the ordinary deck of</a:t>
                </a:r>
                <a:r>
                  <a:rPr lang="en-GB" dirty="0"/>
                  <a:t> </a:t>
                </a:r>
                <a:r>
                  <a:rPr lang="en-US" dirty="0"/>
                  <a:t>52 playing cards 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n-US" dirty="0"/>
                  <a:t> is the event that the card selected is not red but black.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51D08A-47F0-AB5F-8C17-135E7ABD15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25200" cy="4351338"/>
              </a:xfrm>
              <a:blipFill>
                <a:blip r:embed="rId2"/>
                <a:stretch>
                  <a:fillRect l="-493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Play Card - Free Download on Freepik">
            <a:extLst>
              <a:ext uri="{FF2B5EF4-FFF2-40B4-BE49-F238E27FC236}">
                <a16:creationId xmlns:a16="http://schemas.microsoft.com/office/drawing/2014/main" id="{59AF90C1-0C36-DDC5-AB9F-C183BEE5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408" y="3683517"/>
            <a:ext cx="4983557" cy="299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08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0F4B-556C-8EAB-0044-585AE4BD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5E4F-BEDF-8A13-B7E2-63FAA6CBB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Set theory notation offers a convenient way of explaining certain operations with the</a:t>
            </a:r>
            <a:r>
              <a:rPr lang="en-GB" kern="100" dirty="0">
                <a:ea typeface="Calibri" panose="020F0502020204030204" pitchFamily="34" charset="0"/>
              </a:rPr>
              <a:t> </a:t>
            </a:r>
            <a:r>
              <a:rPr lang="en-US" kern="100" dirty="0">
                <a:effectLst/>
                <a:ea typeface="Calibri" panose="020F0502020204030204" pitchFamily="34" charset="0"/>
              </a:rPr>
              <a:t>events and some of the laws of probability theory.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522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035C-2F4A-45F6-457F-1688059C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CB20B-7505-27CC-BF68-79548EC1A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denotes the union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(either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occurs, 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occurs or both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occur).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CB20B-7505-27CC-BF68-79548EC1A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780E02-8595-329C-08C6-2C79DE340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916" y="2932944"/>
            <a:ext cx="7200000" cy="34702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9456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D31D-F22F-D4AD-C9F5-FB4AF4FC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F6E89-FBD6-58FB-13AE-03D130BE72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∪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denotes the complement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(neither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occurs). 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5F6E89-FBD6-58FB-13AE-03D130BE72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ADAE3E9-051D-679B-8E64-E23FE7C63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165" y="2554794"/>
            <a:ext cx="7200000" cy="34808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6903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71A6-0280-450F-BDBA-7D6260D4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2C884-46AB-D8D3-2A8F-7EBD81C00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denotes the intersection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(both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occur). 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02C884-46AB-D8D3-2A8F-7EBD81C00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A57A339-8F79-97CC-B4E4-AC0501600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829" y="2811134"/>
            <a:ext cx="7200000" cy="35007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6984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C0B7-0532-1AE5-9131-A4A14BA9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Intersection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2240C-4B39-24E9-D1A3-56F6C0D9DA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The complement of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is denoted 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∩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2240C-4B39-24E9-D1A3-56F6C0D9DA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3C702A9-B931-4088-D64C-B2468BE0A2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259" y="2465001"/>
            <a:ext cx="7200000" cy="35007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759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6BB6-B738-E91C-35F4-74F3C334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Mutually Exclusive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255A0-DBDD-233D-CACA-F45C8FBB8C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The intersection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is the empty set, i.e. the two circles do not overlap.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ea typeface="Times New Roman" panose="02020603050405020304" pitchFamily="18" charset="0"/>
                  </a:rPr>
                  <a:t>The two events cannot possibly occur together and are referred to as being </a:t>
                </a:r>
                <a:r>
                  <a:rPr lang="en-US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mutually exclusive</a:t>
                </a:r>
                <a:r>
                  <a:rPr lang="en-US" dirty="0"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ea typeface="Times New Roman" panose="02020603050405020304" pitchFamily="18" charset="0"/>
                  </a:rPr>
                  <a:t>This is denoted as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255A0-DBDD-233D-CACA-F45C8FBB8C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009AAFF-880A-FA6B-4B48-36BDA7817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780" y="3348297"/>
            <a:ext cx="5654440" cy="2764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1724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7078-795B-CE29-9499-BDE9803D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Probability of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D7F3A-6905-557B-E9F4-ADED08544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probability of event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is the sum of probabilities of all sample points in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kern="1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 define the probability of an event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for short, in the following way:</a:t>
                </a:r>
              </a:p>
              <a:p>
                <a:pPr marL="0" indent="0">
                  <a:buNone/>
                </a:pP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elements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sample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space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favour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elements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sample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>
                              <a:effectLst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space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kern="1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denotes the number of elements in the sample space.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BD7F3A-6905-557B-E9F4-ADED08544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23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24C5-9397-3E25-B509-056E918E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2F5D0-F6A3-F3AE-7B3F-E3B333AC2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100" dirty="0">
                <a:effectLst/>
                <a:ea typeface="Times New Roman" panose="02020603050405020304" pitchFamily="18" charset="0"/>
              </a:rPr>
              <a:t>Consider the example of a well shuffled pack of cards. What is the probability that if we cut the pack, the card we obtain is a red king?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9349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AE4D-5C29-FA4C-A2EE-418B7EDC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5.2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9EE41-F84D-5EB8-2D4A-F4D66D1BD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Solution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First of all, we need to identify the sample space.</a:t>
                </a:r>
              </a:p>
              <a:p>
                <a:pPr lvl="1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 There are 52 elements in the sample</a:t>
                </a:r>
                <a:r>
                  <a:rPr lang="en-US" dirty="0"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space corresponding to 52 cards in the pack.</a:t>
                </a:r>
                <a:endParaRPr lang="en-GB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How many of these elements </a:t>
                </a:r>
                <a:r>
                  <a:rPr lang="en-US" dirty="0" err="1"/>
                  <a:t>favour</a:t>
                </a:r>
                <a:r>
                  <a:rPr lang="en-US" dirty="0"/>
                  <a:t> getting a red king?</a:t>
                </a:r>
              </a:p>
              <a:p>
                <a:pPr lvl="1"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en-US" dirty="0"/>
                  <a:t>Two – the King of Diamonds and the King of Hearts</a:t>
                </a:r>
                <a:endParaRPr lang="en-US" dirty="0"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Therefore, the probability of obtaining a red king is: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𝑅𝑒𝑑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𝐾𝑖𝑛𝑔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=0.0385</m:t>
                      </m:r>
                    </m:oMath>
                  </m:oMathPara>
                </a14:m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9EE41-F84D-5EB8-2D4A-F4D66D1BD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144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A21E-5EA0-F971-63DD-16B71FDE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Elementary properties of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6C570-DADA-E480-6944-ED3F1CA5F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In what follows let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denote any event, then:</a:t>
                </a:r>
              </a:p>
              <a:p>
                <a:pPr marL="400050" lvl="0" indent="-400050">
                  <a:lnSpc>
                    <a:spcPct val="11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, i.e. the probability of event lies in the range [0,1].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400050" lvl="0" indent="-400050">
                  <a:lnSpc>
                    <a:spcPct val="110000"/>
                  </a:lnSpc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represents the total sample space for a particular situation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 This is to say that one of the elements of the sample space must occur- of this we are certain. An implication of this property in conjunction with property iii. below is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=1.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400050" lvl="0" indent="-400050">
                  <a:lnSpc>
                    <a:spcPct val="110000"/>
                  </a:lnSpc>
                  <a:spcAft>
                    <a:spcPts val="800"/>
                  </a:spcAft>
                  <a:buFont typeface="+mj-lt"/>
                  <a:buAutoNum type="romanLcPeriod"/>
                </a:pPr>
                <a:r>
                  <a:rPr lang="en-US" kern="100" dirty="0">
                    <a:ea typeface="Times New Roman" panose="02020603050405020304" pitchFamily="18" charset="0"/>
                  </a:rPr>
                  <a:t>I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f two events,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mutually exclusive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 This is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addition law for mutually exclusive events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6C570-DADA-E480-6944-ED3F1CA5F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472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8E1D-0E8C-5ADE-C1E4-D84269F4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Addition Law for non-mutually exclusive events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E9DF8-ED8B-907B-6EBC-53F0704A9C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18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𝕋ℍ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: If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are two events then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9E9DF8-ED8B-907B-6EBC-53F0704A9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934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2C5E-07E6-0909-2D29-97AAF3D3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6475B5-B0F7-8BFF-5E74-637095607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From the diagram in Figure 5.6 it is clear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∪(</m:t>
                    </m:r>
                    <m:acc>
                      <m:accPr>
                        <m:chr m:val="̅"/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that two events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are mutually exclusive.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Therefore, using property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iii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 from above, 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∪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en-GB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∩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kern="100" dirty="0">
                    <a:effectLst/>
                    <a:ea typeface="Calibri" panose="020F0502020204030204" pitchFamily="34" charset="0"/>
                  </a:rPr>
                  <a:t> (*)</a:t>
                </a: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Property iii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 states that: if two events,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are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mutually exclusive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 This is the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addition law for mutually exclusive events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GB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6475B5-B0F7-8BFF-5E74-637095607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5CC505D-62D0-3424-860E-0FFA62F4A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043" y="4527626"/>
            <a:ext cx="4041913" cy="196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341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2481-D228-DAF9-5FAD-728C08BD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16887-3C6B-7CFD-0894-923EE81FB6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From the diagram it is also clear that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)∪(</m:t>
                    </m:r>
                    <m:acc>
                      <m:accPr>
                        <m:chr m:val="̅"/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again the two events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are mutually exclusive. Therefore, again using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property iii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., 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∩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∪</m:t>
                          </m:r>
                          <m:d>
                            <m:d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∩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hence 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Property iii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 states that: if two events,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are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mutually exclusive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 This is the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addition law for mutually exclusive events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endParaRPr lang="en-GB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116887-3C6B-7CFD-0894-923EE81FB6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428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06CB-526A-366B-8189-9DE39253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40FCF-2922-F5F4-009D-4FC5B7493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u="sng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Substituting this results in </a:t>
                </a:r>
                <a:r>
                  <a:rPr lang="en-US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(*)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above we obtain: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∪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as required.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Property iii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 states that: if two events,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mutually exclusive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 This is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addition law for mutually exclusive events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∪</m:t>
                        </m:r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en-GB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GB" sz="1800" i="1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∩</m:t>
                            </m:r>
                            <m:r>
                              <a:rPr lang="en-US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GB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800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(*)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40FCF-2922-F5F4-009D-4FC5B7493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C2B062E-A56F-348D-7F91-F29B37A5C7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998" y="4527626"/>
            <a:ext cx="4041913" cy="196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21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F527-4138-8910-D699-F149786F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A8561-BBAB-D09B-54DD-D5AAB4D9A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There are many situations that we can think of in which the occurrence of one event influences the occurrence of subsequent events.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: The probability of an event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occurring when it is known that some event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has occurred is called a conditional probability and the following notation denotes the probability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conditional upon the prior occurrence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, or ‘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given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’ for short,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sz="18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A8561-BBAB-D09B-54DD-D5AAB4D9A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r="-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16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C93D-E8D3-AFC2-C5D6-A32FA762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Probability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CEE40-0C02-7D65-D9ED-BB53725F76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events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whi</m:t>
                          </m:r>
                          <m:r>
                            <m:rPr>
                              <m:nor/>
                            </m:rPr>
                            <a:rPr lang="en-GB" sz="1800" b="0" i="0" smtClean="0">
                              <a:effectLst/>
                              <a:ea typeface="Calibri" panose="020F0502020204030204" pitchFamily="34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favour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occurance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both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and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events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which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favour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800" dirty="0">
                    <a:effectLst/>
                    <a:ea typeface="Times New Roman" panose="02020603050405020304" pitchFamily="18" charset="0"/>
                  </a:rPr>
                  <a:t>i.e. the sample space has been reduced due to the prior occurrence of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800" dirty="0">
                    <a:effectLst/>
                    <a:ea typeface="Times New Roman" panose="02020603050405020304" pitchFamily="18" charset="0"/>
                  </a:rPr>
                  <a:t>. But,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)/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)/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1800" dirty="0">
                    <a:effectLst/>
                    <a:ea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1800" dirty="0">
                    <a:effectLst/>
                    <a:ea typeface="Times New Roman" panose="02020603050405020304" pitchFamily="18" charset="0"/>
                  </a:rPr>
                  <a:t> denotes the number of elements in the sample space. Similarly,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sz="18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18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6CEE40-0C02-7D65-D9ED-BB53725F7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453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60D0-CDEE-4FF6-CE7D-A93A0490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Multiplication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E3BD2-16A7-EC3B-EB71-623BB4D53B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Multiplication Law for non-independent events is stated formally as:</a:t>
                </a:r>
              </a:p>
              <a:p>
                <a:pPr>
                  <a:lnSpc>
                    <a:spcPct val="100000"/>
                  </a:lnSpc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effectLst/>
                    <a:ea typeface="Times New Roman" panose="02020603050405020304" pitchFamily="18" charset="0"/>
                  </a:rPr>
                  <a:t>providing that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E3BD2-16A7-EC3B-EB71-623BB4D53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3402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9A59-818D-7B5C-793C-69599272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Multiplication Law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800011-9866-418D-2851-5594CF55C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336" y="1825625"/>
                <a:ext cx="11365992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900" kern="100" dirty="0">
                    <a:effectLst/>
                    <a:ea typeface="Times New Roman" panose="02020603050405020304" pitchFamily="18" charset="0"/>
                  </a:rPr>
                  <a:t>The Multiplication Law for independent events is just a special case of the above, but before we state it explicitly, we require a definition of independence.</a:t>
                </a:r>
                <a:endParaRPr lang="en-GB" sz="19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𝔻𝔽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: Two events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 are said to be independent if the occurrence, or non-occurrence, of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 in no way influences the occurrence, or non-occurrence,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; and </a:t>
                </a:r>
                <a:r>
                  <a:rPr lang="en-GB" sz="1900" i="1" kern="100" dirty="0">
                    <a:effectLst/>
                    <a:ea typeface="Calibri" panose="020F0502020204030204" pitchFamily="34" charset="0"/>
                  </a:rPr>
                  <a:t>vice versa</a:t>
                </a:r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Formally, this means that if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9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900" kern="100" dirty="0">
                    <a:effectLst/>
                    <a:ea typeface="Calibri" panose="020F0502020204030204" pitchFamily="34" charset="0"/>
                  </a:rPr>
                  <a:t> are independent then: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9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sz="19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9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9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9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9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900" kern="100" dirty="0">
                    <a:effectLst/>
                    <a:ea typeface="Times New Roman" panose="02020603050405020304" pitchFamily="18" charset="0"/>
                  </a:rPr>
                  <a:t>and</a:t>
                </a:r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900" kern="100" dirty="0">
                    <a:effectLst/>
                    <a:ea typeface="Times New Roman" panose="02020603050405020304" pitchFamily="18" charset="0"/>
                  </a:rPr>
                  <a:t>Thus, for independent events, the Multiplication Law given above reduces to:</a:t>
                </a: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sz="19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9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9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800011-9866-418D-2851-5594CF55C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336" y="1825625"/>
                <a:ext cx="11365992" cy="4667250"/>
              </a:xfrm>
              <a:blipFill>
                <a:blip r:embed="rId2"/>
                <a:stretch>
                  <a:fillRect l="-429" t="-1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294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B34D-D691-C23F-2A5C-86010B60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Law of total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3B1D9-677A-1BFC-5F9B-62C084C72E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: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are mutually exclusive events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∩</m:t>
                    </m:r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=∅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ea typeface="Calibri" panose="020F0502020204030204" pitchFamily="34" charset="0"/>
                      </a:rPr>
                      <m:t>for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). Then for any event B its probability is defined as follows: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which is called the Law of Total Probabilities.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3B1D9-677A-1BFC-5F9B-62C084C72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" r="-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099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0DDA-9557-0197-2892-C383F61A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7F0F7-3E65-FE90-D4D2-2FCF2161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687" y="1524000"/>
                <a:ext cx="7853753" cy="46529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800" u="sng" kern="100" dirty="0">
                    <a:effectLst/>
                    <a:ea typeface="Calibri" panose="020F0502020204030204" pitchFamily="34" charset="0"/>
                  </a:rPr>
                  <a:t>Derivation</a:t>
                </a:r>
                <a:endParaRPr lang="en-US" sz="1800" u="sng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800" dirty="0">
                    <a:effectLst/>
                    <a:ea typeface="Calibri" panose="020F0502020204030204" pitchFamily="34" charset="0"/>
                  </a:rPr>
                  <a:t>Suppose we have three mutually exclusive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Calibri" panose="020F0502020204030204" pitchFamily="34" charset="0"/>
                  </a:rPr>
                  <a:t> (see diagram). </a:t>
                </a:r>
                <a:r>
                  <a:rPr lang="en-US" sz="1800" dirty="0"/>
                  <a:t>Then we see that: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)∪(</m:t>
                      </m:r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)∪(</m:t>
                      </m:r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As these three contributing sections are mutually exclusive, it follows that: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[(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)∪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)∪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GB" sz="18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en-GB" sz="18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∩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sz="100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57F0F7-3E65-FE90-D4D2-2FCF2161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687" y="1524000"/>
                <a:ext cx="7853753" cy="4652963"/>
              </a:xfrm>
              <a:blipFill>
                <a:blip r:embed="rId2"/>
                <a:stretch>
                  <a:fillRect l="-6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7CE98CE-CDEC-7C3C-70E5-80CAC6045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781" y="2506412"/>
            <a:ext cx="3449882" cy="1845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5298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0107-A42E-E6FB-8160-7A0E3922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2950-198C-242E-CDD9-C2E42132C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62216" cy="466725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Now using the Multiplication Law and the Law of Total Probabilities we have: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1800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But,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GB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and similar relations hold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US" sz="1800" u="sng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2950-198C-242E-CDD9-C2E42132C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62216" cy="4667250"/>
              </a:xfrm>
              <a:blipFill>
                <a:blip r:embed="rId2"/>
                <a:stretch>
                  <a:fillRect l="-777" t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1EBA10-DAE8-A1F5-3284-9C9771CBB9EF}"/>
                  </a:ext>
                </a:extLst>
              </p:cNvPr>
              <p:cNvSpPr txBox="1"/>
              <p:nvPr/>
            </p:nvSpPr>
            <p:spPr>
              <a:xfrm>
                <a:off x="8336762" y="2408449"/>
                <a:ext cx="3623094" cy="444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Reminder</a:t>
                </a: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Multiplication Law:</a:t>
                </a:r>
                <a:r>
                  <a:rPr lang="en-US" u="sng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i="1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 of Total Probabilities</a:t>
                </a:r>
                <a:r>
                  <a:rPr lang="en-GB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1EBA10-DAE8-A1F5-3284-9C9771CBB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762" y="2408449"/>
                <a:ext cx="3623094" cy="4449551"/>
              </a:xfrm>
              <a:prstGeom prst="rect">
                <a:avLst/>
              </a:prstGeom>
              <a:blipFill>
                <a:blip r:embed="rId3"/>
                <a:stretch>
                  <a:fillRect l="-1515" t="-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A0096B-E5D1-5087-9AB0-CB7C8F92B770}"/>
              </a:ext>
            </a:extLst>
          </p:cNvPr>
          <p:cNvCxnSpPr>
            <a:cxnSpLocks/>
          </p:cNvCxnSpPr>
          <p:nvPr/>
        </p:nvCxnSpPr>
        <p:spPr>
          <a:xfrm flipH="1" flipV="1">
            <a:off x="7196328" y="2871216"/>
            <a:ext cx="1214862" cy="2806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AACEE-EEB6-48A9-177B-5C0D6128B9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206" y="286589"/>
            <a:ext cx="3296205" cy="1762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5991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E59A-CC5F-8623-EE52-8851DD42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82DE63-3184-A071-CABD-D011AEEEC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06184" cy="435133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Therefore, the Bayes’ Theorem states that: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82DE63-3184-A071-CABD-D011AEEEC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06184" cy="4351338"/>
              </a:xfrm>
              <a:blipFill>
                <a:blip r:embed="rId2"/>
                <a:stretch>
                  <a:fillRect l="-806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DA1620-C9A2-3024-BB16-3B10C65079BD}"/>
                  </a:ext>
                </a:extLst>
              </p:cNvPr>
              <p:cNvSpPr txBox="1"/>
              <p:nvPr/>
            </p:nvSpPr>
            <p:spPr>
              <a:xfrm>
                <a:off x="8336762" y="2408449"/>
                <a:ext cx="3623094" cy="444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Reminder</a:t>
                </a: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Multiplication Law:</a:t>
                </a:r>
                <a:r>
                  <a:rPr lang="en-US" u="sng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i="1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 of Total Probabilities</a:t>
                </a:r>
                <a:r>
                  <a:rPr lang="en-GB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DA1620-C9A2-3024-BB16-3B10C6507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762" y="2408449"/>
                <a:ext cx="3623094" cy="4449551"/>
              </a:xfrm>
              <a:prstGeom prst="rect">
                <a:avLst/>
              </a:prstGeom>
              <a:blipFill>
                <a:blip r:embed="rId3"/>
                <a:stretch>
                  <a:fillRect l="-1515" t="-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167512-0C49-2A40-5A57-2BACB2293E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206" y="286589"/>
            <a:ext cx="3296205" cy="1762980"/>
          </a:xfrm>
          <a:prstGeom prst="rect">
            <a:avLst/>
          </a:prstGeom>
          <a:noFill/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6692B0-1B37-6776-BF52-92D838A90C82}"/>
              </a:ext>
            </a:extLst>
          </p:cNvPr>
          <p:cNvCxnSpPr>
            <a:cxnSpLocks/>
          </p:cNvCxnSpPr>
          <p:nvPr/>
        </p:nvCxnSpPr>
        <p:spPr>
          <a:xfrm flipH="1" flipV="1">
            <a:off x="6217920" y="4041648"/>
            <a:ext cx="2386584" cy="19110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031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281B-4B5A-77CF-008C-737C12C9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5.3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099E-C7C6-E180-F5AD-5282BA54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9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kern="100" dirty="0">
                <a:effectLst/>
                <a:ea typeface="Times New Roman" panose="02020603050405020304" pitchFamily="18" charset="0"/>
              </a:rPr>
              <a:t>A bag contains 10 beads; 5 white, 3 red and 2 green. Two beads are drawn, without replacement, from the bag. Find the probability that: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romanLcPeriod"/>
            </a:pPr>
            <a:r>
              <a:rPr lang="en-US" sz="1800" kern="100" dirty="0">
                <a:effectLst/>
                <a:ea typeface="Times New Roman" panose="02020603050405020304" pitchFamily="18" charset="0"/>
              </a:rPr>
              <a:t>2 whites,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0000"/>
              </a:lnSpc>
              <a:buFont typeface="+mj-lt"/>
              <a:buAutoNum type="romanLcPeriod"/>
            </a:pPr>
            <a:r>
              <a:rPr lang="en-US" sz="1800" kern="100" dirty="0">
                <a:effectLst/>
                <a:ea typeface="Times New Roman" panose="02020603050405020304" pitchFamily="18" charset="0"/>
              </a:rPr>
              <a:t>2 of the same </a:t>
            </a:r>
            <a:r>
              <a:rPr lang="en-US" sz="1800" kern="100" dirty="0" err="1">
                <a:effectLst/>
                <a:ea typeface="Times New Roman" panose="02020603050405020304" pitchFamily="18" charset="0"/>
              </a:rPr>
              <a:t>colour</a:t>
            </a:r>
            <a:r>
              <a:rPr lang="en-US" sz="1800" kern="100" dirty="0">
                <a:effectLst/>
                <a:ea typeface="Times New Roman" panose="02020603050405020304" pitchFamily="18" charset="0"/>
              </a:rPr>
              <a:t>,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US" sz="1800" kern="100" dirty="0">
                <a:effectLst/>
                <a:ea typeface="Times New Roman" panose="02020603050405020304" pitchFamily="18" charset="0"/>
              </a:rPr>
              <a:t>2 different </a:t>
            </a:r>
            <a:r>
              <a:rPr lang="en-US" sz="1800" kern="100" dirty="0" err="1">
                <a:effectLst/>
                <a:ea typeface="Times New Roman" panose="02020603050405020304" pitchFamily="18" charset="0"/>
              </a:rPr>
              <a:t>colours</a:t>
            </a:r>
            <a:r>
              <a:rPr lang="en-US" sz="1800" kern="100" dirty="0">
                <a:effectLst/>
                <a:ea typeface="Times New Roman" panose="02020603050405020304" pitchFamily="18" charset="0"/>
              </a:rPr>
              <a:t> are drawn.</a:t>
            </a:r>
            <a:endParaRPr lang="en-GB" sz="1800" kern="100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44B0FA-8A8D-22E0-6E79-F88B8142D79B}"/>
              </a:ext>
            </a:extLst>
          </p:cNvPr>
          <p:cNvGrpSpPr/>
          <p:nvPr/>
        </p:nvGrpSpPr>
        <p:grpSpPr>
          <a:xfrm>
            <a:off x="7706023" y="1540993"/>
            <a:ext cx="3794081" cy="4522967"/>
            <a:chOff x="6785314" y="2548455"/>
            <a:chExt cx="2613127" cy="308106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580431-B14C-03A6-753C-CDBBED721DED}"/>
                </a:ext>
              </a:extLst>
            </p:cNvPr>
            <p:cNvSpPr/>
            <p:nvPr/>
          </p:nvSpPr>
          <p:spPr>
            <a:xfrm>
              <a:off x="6785314" y="2548455"/>
              <a:ext cx="2613127" cy="3081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EE70862-4A65-2E41-C0A4-F3A561B4D72F}"/>
                </a:ext>
              </a:extLst>
            </p:cNvPr>
            <p:cNvSpPr/>
            <p:nvPr/>
          </p:nvSpPr>
          <p:spPr>
            <a:xfrm>
              <a:off x="7403990" y="294397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79E334-4755-C2AA-6B30-1F5CE72FD8CB}"/>
                </a:ext>
              </a:extLst>
            </p:cNvPr>
            <p:cNvSpPr/>
            <p:nvPr/>
          </p:nvSpPr>
          <p:spPr>
            <a:xfrm>
              <a:off x="7808182" y="2800846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7E17967-4B05-9D36-E45E-ED15BDFCE706}"/>
                </a:ext>
              </a:extLst>
            </p:cNvPr>
            <p:cNvSpPr/>
            <p:nvPr/>
          </p:nvSpPr>
          <p:spPr>
            <a:xfrm>
              <a:off x="7149649" y="342944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173612-0260-B265-A7A6-62930BF30479}"/>
                </a:ext>
              </a:extLst>
            </p:cNvPr>
            <p:cNvSpPr/>
            <p:nvPr/>
          </p:nvSpPr>
          <p:spPr>
            <a:xfrm>
              <a:off x="7604197" y="3339485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FEE1BBD-1013-5F01-D694-58F57C5F6CB7}"/>
                </a:ext>
              </a:extLst>
            </p:cNvPr>
            <p:cNvSpPr/>
            <p:nvPr/>
          </p:nvSpPr>
          <p:spPr>
            <a:xfrm>
              <a:off x="7058108" y="3832559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DAA4C01-4F16-EC5A-2E7A-5FCC4AE61162}"/>
                </a:ext>
              </a:extLst>
            </p:cNvPr>
            <p:cNvSpPr/>
            <p:nvPr/>
          </p:nvSpPr>
          <p:spPr>
            <a:xfrm>
              <a:off x="8235198" y="4566728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FE0C2D0-8DF0-45AD-415D-A647329E4A0C}"/>
                </a:ext>
              </a:extLst>
            </p:cNvPr>
            <p:cNvSpPr/>
            <p:nvPr/>
          </p:nvSpPr>
          <p:spPr>
            <a:xfrm>
              <a:off x="8111854" y="4955002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C0A20B-B531-CCC7-D564-75DBF80D6BC7}"/>
                </a:ext>
              </a:extLst>
            </p:cNvPr>
            <p:cNvSpPr/>
            <p:nvPr/>
          </p:nvSpPr>
          <p:spPr>
            <a:xfrm>
              <a:off x="7808182" y="4566729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6F54B91-44F7-D072-A76E-19B4C3A1CF0A}"/>
                </a:ext>
              </a:extLst>
            </p:cNvPr>
            <p:cNvSpPr/>
            <p:nvPr/>
          </p:nvSpPr>
          <p:spPr>
            <a:xfrm>
              <a:off x="8060022" y="3953106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C46C6F8-810C-E0EB-5147-5E4266D8B57D}"/>
                </a:ext>
              </a:extLst>
            </p:cNvPr>
            <p:cNvSpPr/>
            <p:nvPr/>
          </p:nvSpPr>
          <p:spPr>
            <a:xfrm>
              <a:off x="8354220" y="3471357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2164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9C4E-108D-70AB-679B-E5E8C4F8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</a:t>
            </a:r>
            <a:r>
              <a:rPr lang="en-US" dirty="0" err="1"/>
              <a:t>i</a:t>
            </a:r>
            <a:r>
              <a:rPr lang="en-US" dirty="0"/>
              <a:t>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01446C-8E51-BB22-66C0-AFE00952B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52488" cy="435133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whites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first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bead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white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 smtClean="0">
                              <a:solidFill>
                                <a:srgbClr val="7030A0"/>
                              </a:solidFill>
                              <a:effectLst/>
                              <a:ea typeface="Times New Roman" panose="02020603050405020304" pitchFamily="18" charset="0"/>
                            </a:rPr>
                            <m:t>and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second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is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effectLst/>
                              <a:ea typeface="Times New Roman" panose="02020603050405020304" pitchFamily="18" charset="0"/>
                            </a:rPr>
                            <m:t>white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first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bead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white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)×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second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bead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white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first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bead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kern="100">
                          <a:effectLst/>
                          <a:ea typeface="Times New Roman" panose="02020603050405020304" pitchFamily="18" charset="0"/>
                        </a:rPr>
                        <m:t>white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800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first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bead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white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GB" sz="1800" i="1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/>
                          <m:t>second</m:t>
                        </m:r>
                        <m:r>
                          <m:rPr>
                            <m:nor/>
                          </m:rPr>
                          <a:rPr lang="en-US" sz="1800"/>
                          <m:t> </m:t>
                        </m:r>
                        <m:r>
                          <m:rPr>
                            <m:nor/>
                          </m:rPr>
                          <a:rPr lang="en-US" sz="1800"/>
                          <m:t>is</m:t>
                        </m:r>
                        <m:r>
                          <m:rPr>
                            <m:nor/>
                          </m:rPr>
                          <a:rPr lang="en-US" sz="1800"/>
                          <m:t> </m:t>
                        </m:r>
                        <m:r>
                          <m:rPr>
                            <m:nor/>
                          </m:rPr>
                          <a:rPr lang="en-US" sz="1800"/>
                          <m:t>white</m:t>
                        </m:r>
                        <m:r>
                          <m:rPr>
                            <m:nor/>
                          </m:rPr>
                          <a:rPr lang="en-US" sz="1800"/>
                          <m:t>|</m:t>
                        </m:r>
                        <m:r>
                          <m:rPr>
                            <m:nor/>
                          </m:rPr>
                          <a:rPr lang="en-US" sz="1800"/>
                          <m:t>first</m:t>
                        </m:r>
                        <m:r>
                          <m:rPr>
                            <m:nor/>
                          </m:rPr>
                          <a:rPr lang="en-US" sz="1800"/>
                          <m:t> </m:t>
                        </m:r>
                        <m:r>
                          <m:rPr>
                            <m:nor/>
                          </m:rPr>
                          <a:rPr lang="en-US" sz="1800"/>
                          <m:t>is</m:t>
                        </m:r>
                        <m:r>
                          <m:rPr>
                            <m:nor/>
                          </m:rPr>
                          <a:rPr lang="en-US" sz="1800"/>
                          <m:t> </m:t>
                        </m:r>
                        <m:r>
                          <m:rPr>
                            <m:nor/>
                          </m:rPr>
                          <a:rPr lang="en-US" sz="1800"/>
                          <m:t>white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nor/>
                      </m:rPr>
                      <a:rPr lang="en-US" sz="1800"/>
                      <m:t>.</m:t>
                    </m:r>
                  </m:oMath>
                </a14:m>
                <a:endParaRPr lang="en-GB" sz="18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2 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whit</m:t>
                        </m:r>
                        <m:r>
                          <m:rPr>
                            <m:nor/>
                          </m:rPr>
                          <a:rPr lang="en-US" sz="1800" smtClean="0">
                            <a:effectLst/>
                            <a:ea typeface="Times New Roman" panose="02020603050405020304" pitchFamily="18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=5/10 ×4/9=20/90=2/9</m:t>
                    </m:r>
                  </m:oMath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01446C-8E51-BB22-66C0-AFE00952B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52488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81B0AD7-0014-F7DB-1555-847010071B51}"/>
              </a:ext>
            </a:extLst>
          </p:cNvPr>
          <p:cNvGrpSpPr/>
          <p:nvPr/>
        </p:nvGrpSpPr>
        <p:grpSpPr>
          <a:xfrm>
            <a:off x="6965512" y="2739146"/>
            <a:ext cx="1163652" cy="1379708"/>
            <a:chOff x="6785314" y="2548455"/>
            <a:chExt cx="2613127" cy="308106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C673ACC-F62A-32C6-C35B-2F49B93B9590}"/>
                </a:ext>
              </a:extLst>
            </p:cNvPr>
            <p:cNvSpPr/>
            <p:nvPr/>
          </p:nvSpPr>
          <p:spPr>
            <a:xfrm>
              <a:off x="6785314" y="2548455"/>
              <a:ext cx="2613127" cy="3081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39F0ED-5A31-6FD7-7F66-F045C2A883BD}"/>
                </a:ext>
              </a:extLst>
            </p:cNvPr>
            <p:cNvSpPr/>
            <p:nvPr/>
          </p:nvSpPr>
          <p:spPr>
            <a:xfrm>
              <a:off x="7403990" y="294397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C36034-B1AC-B302-C0E0-2D4C5A650D30}"/>
                </a:ext>
              </a:extLst>
            </p:cNvPr>
            <p:cNvSpPr/>
            <p:nvPr/>
          </p:nvSpPr>
          <p:spPr>
            <a:xfrm>
              <a:off x="7808182" y="2800846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8672968-B30E-FCDA-B0A7-FE176A4E7060}"/>
                </a:ext>
              </a:extLst>
            </p:cNvPr>
            <p:cNvSpPr/>
            <p:nvPr/>
          </p:nvSpPr>
          <p:spPr>
            <a:xfrm>
              <a:off x="7149649" y="342944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ABA1DEF-FE9C-3279-0EEA-937B6AD1DF9A}"/>
                </a:ext>
              </a:extLst>
            </p:cNvPr>
            <p:cNvSpPr/>
            <p:nvPr/>
          </p:nvSpPr>
          <p:spPr>
            <a:xfrm>
              <a:off x="7604197" y="3339485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D5EEBB3-C06D-09DD-52F0-68164E794A60}"/>
                </a:ext>
              </a:extLst>
            </p:cNvPr>
            <p:cNvSpPr/>
            <p:nvPr/>
          </p:nvSpPr>
          <p:spPr>
            <a:xfrm>
              <a:off x="7058108" y="3832559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27F2726-8837-E2E5-FB1E-BC59A9EE8CBA}"/>
                </a:ext>
              </a:extLst>
            </p:cNvPr>
            <p:cNvSpPr/>
            <p:nvPr/>
          </p:nvSpPr>
          <p:spPr>
            <a:xfrm>
              <a:off x="8235198" y="4566728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C49968-B317-0E2C-986E-2BAEB800FDA1}"/>
                </a:ext>
              </a:extLst>
            </p:cNvPr>
            <p:cNvSpPr/>
            <p:nvPr/>
          </p:nvSpPr>
          <p:spPr>
            <a:xfrm>
              <a:off x="8111854" y="4955002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E14125E-56D1-5B7D-B920-AE53BC7F135F}"/>
                </a:ext>
              </a:extLst>
            </p:cNvPr>
            <p:cNvSpPr/>
            <p:nvPr/>
          </p:nvSpPr>
          <p:spPr>
            <a:xfrm>
              <a:off x="7808182" y="4566729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F8C45EC-6EC1-7077-649F-E359578E5208}"/>
                </a:ext>
              </a:extLst>
            </p:cNvPr>
            <p:cNvSpPr/>
            <p:nvPr/>
          </p:nvSpPr>
          <p:spPr>
            <a:xfrm>
              <a:off x="8060022" y="3953106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D9B0762-0787-3045-5DA5-9A2B270ABA0B}"/>
                </a:ext>
              </a:extLst>
            </p:cNvPr>
            <p:cNvSpPr/>
            <p:nvPr/>
          </p:nvSpPr>
          <p:spPr>
            <a:xfrm>
              <a:off x="8354220" y="3471357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71B7840-A151-30A4-FD4B-C6E09BD16B72}"/>
              </a:ext>
            </a:extLst>
          </p:cNvPr>
          <p:cNvGrpSpPr/>
          <p:nvPr/>
        </p:nvGrpSpPr>
        <p:grpSpPr>
          <a:xfrm>
            <a:off x="6951326" y="4736918"/>
            <a:ext cx="1163652" cy="1379708"/>
            <a:chOff x="6785314" y="2548455"/>
            <a:chExt cx="2613127" cy="30810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22680AF-207D-9F3C-F450-C726D45BBD1F}"/>
                </a:ext>
              </a:extLst>
            </p:cNvPr>
            <p:cNvSpPr/>
            <p:nvPr/>
          </p:nvSpPr>
          <p:spPr>
            <a:xfrm>
              <a:off x="6785314" y="2548455"/>
              <a:ext cx="2613127" cy="30810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6AAC015-FC48-F6AB-2A66-5738EE6D57E9}"/>
                </a:ext>
              </a:extLst>
            </p:cNvPr>
            <p:cNvSpPr/>
            <p:nvPr/>
          </p:nvSpPr>
          <p:spPr>
            <a:xfrm>
              <a:off x="7403990" y="294397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F6CADB5-1C01-A931-D2E5-51A4775CA554}"/>
                </a:ext>
              </a:extLst>
            </p:cNvPr>
            <p:cNvSpPr/>
            <p:nvPr/>
          </p:nvSpPr>
          <p:spPr>
            <a:xfrm>
              <a:off x="7149649" y="3429440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BD05DC-E5E0-BB69-1995-75B4EDEE5E76}"/>
                </a:ext>
              </a:extLst>
            </p:cNvPr>
            <p:cNvSpPr/>
            <p:nvPr/>
          </p:nvSpPr>
          <p:spPr>
            <a:xfrm>
              <a:off x="7604197" y="3339485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5ACF06-ED2D-8CC5-9CC2-D5B44AE53C16}"/>
                </a:ext>
              </a:extLst>
            </p:cNvPr>
            <p:cNvSpPr/>
            <p:nvPr/>
          </p:nvSpPr>
          <p:spPr>
            <a:xfrm>
              <a:off x="7058108" y="3832559"/>
              <a:ext cx="294198" cy="28624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7C7DC0-D467-54F3-EEF8-7DC676A5D599}"/>
                </a:ext>
              </a:extLst>
            </p:cNvPr>
            <p:cNvSpPr/>
            <p:nvPr/>
          </p:nvSpPr>
          <p:spPr>
            <a:xfrm>
              <a:off x="8235198" y="4566728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9DBBC2-163B-CF7A-107F-E19C9ED69330}"/>
                </a:ext>
              </a:extLst>
            </p:cNvPr>
            <p:cNvSpPr/>
            <p:nvPr/>
          </p:nvSpPr>
          <p:spPr>
            <a:xfrm>
              <a:off x="8111854" y="4955002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0094610-4CA1-6386-9E7F-076B46291B11}"/>
                </a:ext>
              </a:extLst>
            </p:cNvPr>
            <p:cNvSpPr/>
            <p:nvPr/>
          </p:nvSpPr>
          <p:spPr>
            <a:xfrm>
              <a:off x="7808182" y="4566729"/>
              <a:ext cx="294198" cy="28624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CEA70B-31BC-9D9D-D2AC-D6D504AB3FE2}"/>
                </a:ext>
              </a:extLst>
            </p:cNvPr>
            <p:cNvSpPr/>
            <p:nvPr/>
          </p:nvSpPr>
          <p:spPr>
            <a:xfrm>
              <a:off x="8060022" y="3953106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A0D06B-BE80-4472-70DC-732391B4312A}"/>
                </a:ext>
              </a:extLst>
            </p:cNvPr>
            <p:cNvSpPr/>
            <p:nvPr/>
          </p:nvSpPr>
          <p:spPr>
            <a:xfrm>
              <a:off x="8354220" y="3471357"/>
              <a:ext cx="294198" cy="28624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9AB9A3-40F8-CEC4-2D6C-6BA5CA107BD1}"/>
                  </a:ext>
                </a:extLst>
              </p:cNvPr>
              <p:cNvSpPr txBox="1"/>
              <p:nvPr/>
            </p:nvSpPr>
            <p:spPr>
              <a:xfrm>
                <a:off x="8497019" y="511727"/>
                <a:ext cx="3623094" cy="5834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FF0000"/>
                    </a:solidFill>
                  </a:rPr>
                  <a:t>Reminder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u="sng" dirty="0">
                    <a:solidFill>
                      <a:srgbClr val="7030A0"/>
                    </a:solidFill>
                  </a:rPr>
                  <a:t>Multiplication Law:</a:t>
                </a:r>
                <a:r>
                  <a:rPr lang="en-US" u="sng" dirty="0">
                    <a:solidFill>
                      <a:srgbClr val="7030A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i="1" dirty="0">
                  <a:solidFill>
                    <a:srgbClr val="7030A0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or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C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u="sng" dirty="0">
                    <a:solidFill>
                      <a:srgbClr val="00B0F0"/>
                    </a:solidFill>
                  </a:rPr>
                  <a:t>Law of Total Probabilities</a:t>
                </a:r>
                <a:r>
                  <a:rPr lang="en-GB" u="sng" dirty="0">
                    <a:solidFill>
                      <a:srgbClr val="00B0F0"/>
                    </a:solidFill>
                  </a:rPr>
                  <a:t>:</a:t>
                </a:r>
              </a:p>
              <a:p>
                <a:endParaRPr lang="en-GB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00B0F0"/>
                  </a:solidFill>
                </a:endParaRPr>
              </a:p>
              <a:p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sz="1800" u="sng" kern="1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Additional Law for mutually exclusive events:</a:t>
                </a:r>
              </a:p>
              <a:p>
                <a:endParaRPr lang="en-US" sz="1800" u="sng" kern="100" dirty="0">
                  <a:solidFill>
                    <a:srgbClr val="00B05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9AB9A3-40F8-CEC4-2D6C-6BA5CA107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019" y="511727"/>
                <a:ext cx="3623094" cy="5834546"/>
              </a:xfrm>
              <a:prstGeom prst="rect">
                <a:avLst/>
              </a:prstGeom>
              <a:blipFill>
                <a:blip r:embed="rId3"/>
                <a:stretch>
                  <a:fillRect l="-1515" t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693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E58E-966F-9EC2-43C3-74112254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ii.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B13F76-8654-4088-EA87-762868C688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46264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possibilities in this case are, in an obvious notation,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𝑊𝑊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𝑅𝑅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𝐺𝐺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(2 </m:t>
                    </m:r>
                    <m:r>
                      <m:rPr>
                        <m:nor/>
                      </m:rPr>
                      <a:rPr lang="en-US">
                        <a:effectLst/>
                        <a:ea typeface="Calibri" panose="020F0502020204030204" pitchFamily="34" charset="0"/>
                      </a:rPr>
                      <m:t>the</m:t>
                    </m:r>
                    <m:r>
                      <m:rPr>
                        <m:nor/>
                      </m:rPr>
                      <a:rPr lang="en-US">
                        <a:effectLst/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effectLst/>
                        <a:ea typeface="Calibri" panose="020F0502020204030204" pitchFamily="34" charset="0"/>
                      </a:rPr>
                      <m:t>same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𝑊𝑊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B050"/>
                        </a:solidFill>
                        <a:effectLst/>
                        <a:ea typeface="Calibri" panose="020F0502020204030204" pitchFamily="34" charset="0"/>
                      </a:rPr>
                      <m:t>or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B050"/>
                        </a:solidFill>
                        <a:effectLst/>
                        <a:ea typeface="Calibri" panose="020F0502020204030204" pitchFamily="34" charset="0"/>
                      </a:rPr>
                      <m:t>or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𝐺𝐺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𝑊𝑊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𝑅𝑅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𝐺𝐺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 The latter is a consequence of the </a:t>
                </a:r>
                <a:r>
                  <a:rPr lang="en-US" dirty="0">
                    <a:solidFill>
                      <a:srgbClr val="00B050"/>
                    </a:solidFill>
                    <a:effectLst/>
                    <a:ea typeface="Calibri" panose="020F0502020204030204" pitchFamily="34" charset="0"/>
                  </a:rPr>
                  <a:t>Addition Law for mutually exclusive events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. Proceeding as in </a:t>
                </a:r>
                <a:r>
                  <a:rPr lang="en-US" dirty="0" err="1">
                    <a:effectLst/>
                    <a:ea typeface="Calibri" panose="020F0502020204030204" pitchFamily="34" charset="0"/>
                  </a:rPr>
                  <a:t>i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.,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𝑊𝑊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=(5/10)×(4/9)</m:t>
                      </m:r>
                    </m:oMath>
                  </m:oMathPara>
                </a14:m>
                <a:endParaRPr lang="en-US" kern="100" dirty="0">
                  <a:solidFill>
                    <a:srgbClr val="7030A0"/>
                  </a:solidFill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𝑅𝑅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=(3/10)×(2/9)</m:t>
                      </m:r>
                    </m:oMath>
                  </m:oMathPara>
                </a14:m>
                <a:endParaRPr lang="en-GB" kern="100" dirty="0">
                  <a:solidFill>
                    <a:srgbClr val="7030A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𝐺𝐺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=(2/10)×(1/9)</m:t>
                      </m:r>
                    </m:oMath>
                  </m:oMathPara>
                </a14:m>
                <a:endParaRPr lang="en-GB" kern="100" dirty="0">
                  <a:solidFill>
                    <a:srgbClr val="7030A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Therefore,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same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=(5/10)×(4/9)</m:t>
                      </m:r>
                      <m:r>
                        <a:rPr lang="en-US" i="1" kern="10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(3/10)×(2/9)</m:t>
                      </m:r>
                      <m:r>
                        <a:rPr lang="en-US" i="1" kern="10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(2/10)×(1/9)</m:t>
                      </m:r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14/45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B13F76-8654-4088-EA87-762868C68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46264" cy="4351338"/>
              </a:xfrm>
              <a:blipFill>
                <a:blip r:embed="rId2"/>
                <a:stretch>
                  <a:fillRect l="-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FA5CE-2A68-5DE4-1010-2E6CB75950AA}"/>
                  </a:ext>
                </a:extLst>
              </p:cNvPr>
              <p:cNvSpPr txBox="1"/>
              <p:nvPr/>
            </p:nvSpPr>
            <p:spPr>
              <a:xfrm>
                <a:off x="8357616" y="511727"/>
                <a:ext cx="3762497" cy="5834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Reminder</a:t>
                </a: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Multiplication Law:</a:t>
                </a:r>
                <a:r>
                  <a:rPr lang="en-US" u="sng" dirty="0">
                    <a:solidFill>
                      <a:srgbClr val="7030A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i="1" dirty="0">
                  <a:solidFill>
                    <a:srgbClr val="7030A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 of Total Probabilities</a:t>
                </a:r>
                <a:r>
                  <a:rPr lang="en-GB" u="sng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GB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800" u="sng" kern="100" dirty="0">
                    <a:solidFill>
                      <a:srgbClr val="00B05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Additional Law for mutually exclusive events:</a:t>
                </a:r>
              </a:p>
              <a:p>
                <a:endParaRPr lang="en-US" sz="1800" u="sng" kern="100" dirty="0">
                  <a:solidFill>
                    <a:srgbClr val="00B05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800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FFA5CE-2A68-5DE4-1010-2E6CB759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616" y="511727"/>
                <a:ext cx="3762497" cy="5834546"/>
              </a:xfrm>
              <a:prstGeom prst="rect">
                <a:avLst/>
              </a:prstGeom>
              <a:blipFill>
                <a:blip r:embed="rId3"/>
                <a:stretch>
                  <a:fillRect l="-1297" t="-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24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3B05-C4DE-E1B6-D5E6-D3533B9C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iii.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5DC41-E78C-A630-18DB-1C792653FA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The simplest approach in this case is to </a:t>
                </a:r>
                <a:r>
                  <a:rPr lang="en-US" sz="1800" kern="100" dirty="0" err="1">
                    <a:effectLst/>
                    <a:ea typeface="Calibri" panose="020F0502020204030204" pitchFamily="34" charset="0"/>
                  </a:rPr>
                  <a:t>realise</a:t>
                </a: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that the event ‘Draw two different </a:t>
                </a:r>
                <a:r>
                  <a:rPr lang="en-US" sz="1800" kern="100" dirty="0" err="1">
                    <a:effectLst/>
                    <a:ea typeface="Calibri" panose="020F0502020204030204" pitchFamily="34" charset="0"/>
                  </a:rPr>
                  <a:t>colours</a:t>
                </a: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’ is the complement of the event ‘Draw two beads of the same </a:t>
                </a:r>
                <a:r>
                  <a:rPr lang="en-US" sz="1800" kern="100" dirty="0" err="1">
                    <a:effectLst/>
                    <a:ea typeface="Calibri" panose="020F0502020204030204" pitchFamily="34" charset="0"/>
                  </a:rPr>
                  <a:t>colour</a:t>
                </a: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’. These two events describe a complete sample space. Therefore, applying property ii. (</a:t>
                </a:r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GB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) from the above,</a:t>
                </a: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different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same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sz="1800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Thus,</a:t>
                </a: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different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ea typeface="Calibri" panose="020F0502020204030204" pitchFamily="34" charset="0"/>
                            </a:rPr>
                            <m:t>same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=1−(14/45)=31/45</m:t>
                      </m:r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B5DC41-E78C-A630-18DB-1C792653FA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560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424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E082-6803-88C0-A7AC-1F7A3459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5.4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07CCC-8107-5729-2576-F0109D4CE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Three factories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produce steel beams.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From the past records it is found that 5% of the output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is substandard, 3%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, and 2%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The beams are stockpiled in a warehouse; 40% come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, 50% come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and 10% come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A beam is chosen at random and is found to be substandard.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What is the probability that it came from factory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?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07CCC-8107-5729-2576-F0109D4CE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987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E95E-ED3B-6C72-AD44-A93A6652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00" dirty="0">
                <a:effectLst/>
                <a:ea typeface="Calibri" panose="020F0502020204030204" pitchFamily="34" charset="0"/>
              </a:rPr>
              <a:t>Solution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64709-9DC8-39AE-3D2E-114057067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This is an example requiring the use of Bayes’ Theorem.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Using the notation of the derivation of the Theorem, let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represent the event ‘beam is substandard’. </a:t>
                </a:r>
              </a:p>
              <a:p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Also,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represent the event ‘beam comes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’,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represent the event ‘beam comes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’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represent the event ‘beam comes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’.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64709-9DC8-39AE-3D2E-114057067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096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0812-3952-0375-BD66-3D006A9C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97AFB-140C-201C-B550-74C63C0CD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We require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which, according to </a:t>
                </a:r>
                <a:r>
                  <a:rPr lang="en-US" sz="1800" kern="1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Bayes’ Theorem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, is given by: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GB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r>
                                    <a:rPr lang="en-US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sz="1800" i="1" kern="1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GB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sz="1800" i="1" kern="1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1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i="1" kern="1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sz="1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0.4×0.05</m:t>
                          </m:r>
                        </m:num>
                        <m:den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0.4×0.05+0.5×0.03+0.1×0.02</m:t>
                          </m:r>
                        </m:den>
                      </m:f>
                      <m:r>
                        <a:rPr lang="en-US" sz="1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0.02</m:t>
                          </m:r>
                        </m:num>
                        <m:den>
                          <m:r>
                            <a:rPr lang="en-US" sz="1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0.02+0.015+0.002</m:t>
                          </m:r>
                        </m:den>
                      </m:f>
                      <m:r>
                        <a:rPr lang="en-US" sz="1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=0.54</m:t>
                      </m:r>
                    </m:oMath>
                  </m:oMathPara>
                </a14:m>
                <a:endParaRPr lang="en-GB" sz="1800" kern="100" dirty="0"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A97AFB-140C-201C-B550-74C63C0CD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17464" cy="4351338"/>
              </a:xfrm>
              <a:blipFill>
                <a:blip r:embed="rId2"/>
                <a:stretch>
                  <a:fillRect l="-977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A74A78-9C02-D95D-1F43-785860A5AD08}"/>
                  </a:ext>
                </a:extLst>
              </p:cNvPr>
              <p:cNvSpPr txBox="1"/>
              <p:nvPr/>
            </p:nvSpPr>
            <p:spPr>
              <a:xfrm>
                <a:off x="7772400" y="0"/>
                <a:ext cx="4419600" cy="7252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Reminder</a:t>
                </a: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Multiplication Law:</a:t>
                </a:r>
                <a:r>
                  <a:rPr lang="en-US" u="sng" dirty="0">
                    <a:solidFill>
                      <a:srgbClr val="7030A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i="1" dirty="0">
                  <a:solidFill>
                    <a:srgbClr val="7030A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</a:p>
              <a:p>
                <a:pPr marL="0" indent="0">
                  <a:buNone/>
                </a:pPr>
                <a:endParaRPr lang="en-GB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∩</m:t>
                          </m:r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7030A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 kern="100">
                              <a:solidFill>
                                <a:srgbClr val="7030A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Law of Total Probabilities</a:t>
                </a:r>
                <a:r>
                  <a:rPr lang="en-GB" u="sng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GB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i="1" kern="10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solidFill>
                                        <a:srgbClr val="00B0F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u="sng" kern="100" dirty="0">
                    <a:solidFill>
                      <a:srgbClr val="00B05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Additional Law for mutually exclusive events:</a:t>
                </a:r>
              </a:p>
              <a:p>
                <a:endParaRPr lang="en-US" u="sng" kern="100" dirty="0">
                  <a:solidFill>
                    <a:srgbClr val="00B05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i="1" kern="10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Bayes’ Theorem:</a:t>
                </a:r>
              </a:p>
              <a:p>
                <a:endParaRPr lang="en-GB" u="sng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A74A78-9C02-D95D-1F43-785860A5A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0"/>
                <a:ext cx="4419600" cy="7252242"/>
              </a:xfrm>
              <a:prstGeom prst="rect">
                <a:avLst/>
              </a:prstGeom>
              <a:blipFill>
                <a:blip r:embed="rId3"/>
                <a:stretch>
                  <a:fillRect l="-1103" t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40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2404</Words>
  <Application>Microsoft Office PowerPoint</Application>
  <PresentationFormat>Widescreen</PresentationFormat>
  <Paragraphs>302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Cambria Math</vt:lpstr>
      <vt:lpstr>Courier New</vt:lpstr>
      <vt:lpstr>Times New Roman</vt:lpstr>
      <vt:lpstr>Office Theme</vt:lpstr>
      <vt:lpstr>Introduction to Probability and Statistics 4CM521</vt:lpstr>
      <vt:lpstr>Objectives</vt:lpstr>
      <vt:lpstr>Uncertainty in statistics</vt:lpstr>
      <vt:lpstr>Chance of outcomes</vt:lpstr>
      <vt:lpstr>Sample space</vt:lpstr>
      <vt:lpstr>Example 5.1</vt:lpstr>
      <vt:lpstr>Sample space (continued)</vt:lpstr>
      <vt:lpstr>Sum of probabilities</vt:lpstr>
      <vt:lpstr>Dice Example</vt:lpstr>
      <vt:lpstr>Subsets</vt:lpstr>
      <vt:lpstr>Example 5.1 (continued)</vt:lpstr>
      <vt:lpstr>Complement</vt:lpstr>
      <vt:lpstr>Set theory</vt:lpstr>
      <vt:lpstr>Union</vt:lpstr>
      <vt:lpstr>Union (continued)</vt:lpstr>
      <vt:lpstr>Intersection</vt:lpstr>
      <vt:lpstr>Intersection (continued)</vt:lpstr>
      <vt:lpstr>Mutually Exclusive Events</vt:lpstr>
      <vt:lpstr>Probability of events</vt:lpstr>
      <vt:lpstr>Example 5.2</vt:lpstr>
      <vt:lpstr>Example 5.2 (continued)</vt:lpstr>
      <vt:lpstr>Elementary properties of probabilities</vt:lpstr>
      <vt:lpstr>The Addition Law for non-mutually exclusive events</vt:lpstr>
      <vt:lpstr>Proof</vt:lpstr>
      <vt:lpstr>Proof (continued)</vt:lpstr>
      <vt:lpstr>Proof (continued)</vt:lpstr>
      <vt:lpstr>Conditional Probability</vt:lpstr>
      <vt:lpstr>Conditional Probability (continued)</vt:lpstr>
      <vt:lpstr>Multiplication Law</vt:lpstr>
      <vt:lpstr>Multiplication Law (continued)</vt:lpstr>
      <vt:lpstr>Law of total probabilities</vt:lpstr>
      <vt:lpstr>Bayes’ Theorem</vt:lpstr>
      <vt:lpstr>Derivation (continued)</vt:lpstr>
      <vt:lpstr>Derivation (continued)</vt:lpstr>
      <vt:lpstr>Example 5.3</vt:lpstr>
      <vt:lpstr>Solution to i.</vt:lpstr>
      <vt:lpstr>Solution to ii.</vt:lpstr>
      <vt:lpstr>Solution to iii.</vt:lpstr>
      <vt:lpstr>Example 5.4</vt:lpstr>
      <vt:lpstr>Solution</vt:lpstr>
      <vt:lpstr>Solution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Sutton</dc:creator>
  <cp:lastModifiedBy>Jack Sutton</cp:lastModifiedBy>
  <cp:revision>1</cp:revision>
  <dcterms:created xsi:type="dcterms:W3CDTF">2024-10-28T11:19:33Z</dcterms:created>
  <dcterms:modified xsi:type="dcterms:W3CDTF">2025-09-23T13:37:47Z</dcterms:modified>
</cp:coreProperties>
</file>